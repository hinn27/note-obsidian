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6"/>
  </p:notesMasterIdLst>
  <p:handoutMasterIdLst>
    <p:handoutMasterId r:id="rId17"/>
  </p:handoutMasterIdLst>
  <p:sldIdLst>
    <p:sldId id="259" r:id="rId2"/>
    <p:sldId id="481" r:id="rId3"/>
    <p:sldId id="516" r:id="rId4"/>
    <p:sldId id="515" r:id="rId5"/>
    <p:sldId id="518" r:id="rId6"/>
    <p:sldId id="484" r:id="rId7"/>
    <p:sldId id="508" r:id="rId8"/>
    <p:sldId id="483" r:id="rId9"/>
    <p:sldId id="521" r:id="rId10"/>
    <p:sldId id="520" r:id="rId11"/>
    <p:sldId id="511" r:id="rId12"/>
    <p:sldId id="514" r:id="rId13"/>
    <p:sldId id="522" r:id="rId14"/>
    <p:sldId id="4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81"/>
            <p14:sldId id="516"/>
            <p14:sldId id="515"/>
            <p14:sldId id="518"/>
            <p14:sldId id="484"/>
            <p14:sldId id="508"/>
            <p14:sldId id="483"/>
            <p14:sldId id="521"/>
            <p14:sldId id="520"/>
            <p14:sldId id="511"/>
            <p14:sldId id="514"/>
            <p14:sldId id="522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0" autoAdjust="0"/>
    <p:restoredTop sz="64382" autoAdjust="0"/>
  </p:normalViewPr>
  <p:slideViewPr>
    <p:cSldViewPr snapToGrid="0">
      <p:cViewPr varScale="1">
        <p:scale>
          <a:sx n="70" d="100"/>
          <a:sy n="70" d="100"/>
        </p:scale>
        <p:origin x="2166" y="7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32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-node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index.ts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"start": "node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/index.js"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60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63455" y="1700981"/>
            <a:ext cx="7662292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TỔNG QUAN VỀ TYPESCRIPT VÀ CÀI ĐẶT MÔI TRƯỜNG PHÁT TRIỂN</a:t>
            </a: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700980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5A4D0-67C4-1239-50E8-2B7BA0C3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3" y="905069"/>
            <a:ext cx="11849877" cy="5353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 err="1"/>
              <a:t>JavaScript</a:t>
            </a:r>
            <a:r>
              <a:rPr lang="vi-VN" dirty="0"/>
              <a:t>:</a:t>
            </a:r>
            <a:endParaRPr lang="en-US" dirty="0"/>
          </a:p>
          <a:p>
            <a:r>
              <a:rPr lang="vi-VN" dirty="0"/>
              <a:t>Chạy được mọi trình duyệt</a:t>
            </a:r>
            <a:r>
              <a:rPr lang="en-US" dirty="0"/>
              <a:t>, d</a:t>
            </a:r>
            <a:r>
              <a:rPr lang="vi-VN" dirty="0"/>
              <a:t>ễ học, dễ viết</a:t>
            </a:r>
            <a:r>
              <a:rPr lang="en-US" dirty="0"/>
              <a:t>, p</a:t>
            </a:r>
            <a:r>
              <a:rPr lang="vi-VN" dirty="0"/>
              <a:t>hát triển cực nhanh</a:t>
            </a:r>
            <a:r>
              <a:rPr lang="en-US" dirty="0"/>
              <a:t>.</a:t>
            </a:r>
            <a:endParaRPr lang="vi-VN" dirty="0"/>
          </a:p>
          <a:p>
            <a:r>
              <a:rPr lang="vi-VN" dirty="0"/>
              <a:t>Ban đầu, </a:t>
            </a:r>
            <a:r>
              <a:rPr lang="vi-VN" dirty="0" err="1"/>
              <a:t>JavaScript</a:t>
            </a:r>
            <a:r>
              <a:rPr lang="vi-VN" dirty="0"/>
              <a:t> chỉ được tạo ra để xử lý vài dòng </a:t>
            </a:r>
            <a:r>
              <a:rPr lang="vi-VN" dirty="0" err="1"/>
              <a:t>logic</a:t>
            </a:r>
            <a:r>
              <a:rPr lang="vi-VN" dirty="0"/>
              <a:t> đơn giản trên trình duyệt.</a:t>
            </a:r>
            <a:endParaRPr lang="en-US" dirty="0"/>
          </a:p>
          <a:p>
            <a:pPr marL="0" indent="0">
              <a:buNone/>
            </a:pPr>
            <a:r>
              <a:rPr lang="vi-VN" b="1" dirty="0"/>
              <a:t>Nhưng theo thời gian, </a:t>
            </a:r>
            <a:r>
              <a:rPr lang="vi-VN" b="1" dirty="0" err="1"/>
              <a:t>JavaScript</a:t>
            </a:r>
            <a:r>
              <a:rPr lang="vi-VN" b="1" dirty="0"/>
              <a:t> đã:</a:t>
            </a:r>
          </a:p>
          <a:p>
            <a:r>
              <a:rPr lang="vi-VN" dirty="0"/>
              <a:t>Chạy trên </a:t>
            </a:r>
            <a:r>
              <a:rPr lang="vi-VN" b="1" dirty="0" err="1">
                <a:solidFill>
                  <a:srgbClr val="FF0000"/>
                </a:solidFill>
              </a:rPr>
              <a:t>frontend</a:t>
            </a:r>
            <a:r>
              <a:rPr lang="en-US" b="1" dirty="0">
                <a:solidFill>
                  <a:srgbClr val="FF0000"/>
                </a:solidFill>
              </a:rPr>
              <a:t> (React, Vue, AngularJS)</a:t>
            </a:r>
            <a:endParaRPr lang="vi-VN" dirty="0">
              <a:solidFill>
                <a:srgbClr val="FF0000"/>
              </a:solidFill>
            </a:endParaRPr>
          </a:p>
          <a:p>
            <a:r>
              <a:rPr lang="vi-VN" dirty="0"/>
              <a:t>Chạy trên </a:t>
            </a:r>
            <a:r>
              <a:rPr lang="vi-VN" b="1" dirty="0" err="1">
                <a:solidFill>
                  <a:srgbClr val="FF0000"/>
                </a:solidFill>
              </a:rPr>
              <a:t>backend</a:t>
            </a:r>
            <a:r>
              <a:rPr lang="vi-VN" b="1" dirty="0">
                <a:solidFill>
                  <a:srgbClr val="FF0000"/>
                </a:solidFill>
              </a:rPr>
              <a:t> (Node.js)</a:t>
            </a:r>
            <a:endParaRPr lang="vi-VN" dirty="0">
              <a:solidFill>
                <a:srgbClr val="FF0000"/>
              </a:solidFill>
            </a:endParaRPr>
          </a:p>
          <a:p>
            <a:r>
              <a:rPr lang="vi-VN" dirty="0"/>
              <a:t>Tham gia vào </a:t>
            </a:r>
            <a:r>
              <a:rPr lang="vi-VN" b="1" dirty="0" err="1">
                <a:solidFill>
                  <a:srgbClr val="FF0000"/>
                </a:solidFill>
              </a:rPr>
              <a:t>mobile</a:t>
            </a:r>
            <a:r>
              <a:rPr lang="vi-VN" b="1" dirty="0">
                <a:solidFill>
                  <a:srgbClr val="FF0000"/>
                </a:solidFill>
              </a:rPr>
              <a:t>, </a:t>
            </a:r>
            <a:r>
              <a:rPr lang="vi-VN" b="1" dirty="0" err="1">
                <a:solidFill>
                  <a:srgbClr val="FF0000"/>
                </a:solidFill>
              </a:rPr>
              <a:t>desktop</a:t>
            </a:r>
            <a:r>
              <a:rPr lang="vi-VN" b="1" dirty="0">
                <a:solidFill>
                  <a:srgbClr val="FF0000"/>
                </a:solidFill>
              </a:rPr>
              <a:t>, </a:t>
            </a:r>
            <a:r>
              <a:rPr lang="vi-VN" b="1" dirty="0" err="1">
                <a:solidFill>
                  <a:srgbClr val="FF0000"/>
                </a:solidFill>
              </a:rPr>
              <a:t>server</a:t>
            </a:r>
            <a:r>
              <a:rPr lang="vi-VN" b="1" dirty="0">
                <a:solidFill>
                  <a:srgbClr val="FF0000"/>
                </a:solidFill>
              </a:rPr>
              <a:t>, </a:t>
            </a:r>
            <a:r>
              <a:rPr lang="vi-VN" b="1" dirty="0" err="1">
                <a:solidFill>
                  <a:srgbClr val="FF0000"/>
                </a:solidFill>
              </a:rPr>
              <a:t>IoT</a:t>
            </a:r>
            <a:endParaRPr lang="vi-V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👉 </a:t>
            </a:r>
            <a:r>
              <a:rPr lang="vi-VN" dirty="0"/>
              <a:t>Một ngôn ngữ sinh ra cho </a:t>
            </a:r>
            <a:r>
              <a:rPr lang="vi-VN" dirty="0" err="1"/>
              <a:t>script</a:t>
            </a:r>
            <a:r>
              <a:rPr lang="vi-VN" dirty="0"/>
              <a:t> nhỏ, nay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vi-VN" dirty="0"/>
              <a:t>hàng trăm ngàn dòng </a:t>
            </a:r>
            <a:r>
              <a:rPr lang="vi-VN" dirty="0" err="1"/>
              <a:t>code</a:t>
            </a:r>
            <a:r>
              <a:rPr lang="vi-VN" dirty="0"/>
              <a:t>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F37D5-8608-2E88-3F72-9FAA81D24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77220-D834-D8FD-8D3E-FBD7F85AE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9F9D97-46B7-B5BD-338A-3181786C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86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338E-B51B-608F-5EAA-28D90CA4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B9C115-B8F6-9306-65E1-DA586F3CC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3" y="905069"/>
            <a:ext cx="11849877" cy="5353841"/>
          </a:xfrm>
        </p:spPr>
        <p:txBody>
          <a:bodyPr>
            <a:normAutofit/>
          </a:bodyPr>
          <a:lstStyle/>
          <a:p>
            <a:r>
              <a:rPr lang="en-US" dirty="0"/>
              <a:t>JavaScript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ngôn</a:t>
            </a:r>
            <a:r>
              <a:rPr lang="en-US" b="1" dirty="0"/>
              <a:t> </a:t>
            </a:r>
            <a:r>
              <a:rPr lang="en-US" b="1" dirty="0" err="1"/>
              <a:t>ngữ</a:t>
            </a:r>
            <a:r>
              <a:rPr lang="en-US" b="1" dirty="0"/>
              <a:t> dynamic, </a:t>
            </a:r>
            <a:r>
              <a:rPr lang="en-US" b="1" dirty="0" err="1">
                <a:solidFill>
                  <a:srgbClr val="FF0000"/>
                </a:solidFill>
              </a:rPr>
              <a:t>không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kiểm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kiểu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dữ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liệu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khi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biên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dịch</a:t>
            </a:r>
            <a:r>
              <a:rPr lang="en-US" dirty="0"/>
              <a:t>.</a:t>
            </a:r>
          </a:p>
          <a:p>
            <a:r>
              <a:rPr lang="vi-VN" dirty="0"/>
              <a:t>Không có lỗi khi viết </a:t>
            </a:r>
            <a:r>
              <a:rPr lang="vi-VN" dirty="0" err="1"/>
              <a:t>code</a:t>
            </a:r>
            <a:endParaRPr lang="vi-VN" dirty="0"/>
          </a:p>
          <a:p>
            <a:r>
              <a:rPr lang="vi-VN" dirty="0"/>
              <a:t>Không có lỗi khi </a:t>
            </a:r>
            <a:r>
              <a:rPr lang="vi-VN" dirty="0" err="1"/>
              <a:t>build</a:t>
            </a:r>
            <a:endParaRPr lang="vi-VN" dirty="0"/>
          </a:p>
          <a:p>
            <a:r>
              <a:rPr lang="vi-VN" dirty="0"/>
              <a:t>Chỉ phát hiện lỗi khi chạy thật</a:t>
            </a:r>
            <a:endParaRPr lang="en-US" dirty="0"/>
          </a:p>
          <a:p>
            <a:r>
              <a:rPr lang="vi-VN" dirty="0" err="1"/>
              <a:t>JavaScript</a:t>
            </a:r>
            <a:r>
              <a:rPr lang="vi-VN" dirty="0"/>
              <a:t> </a:t>
            </a:r>
            <a:r>
              <a:rPr lang="vi-VN" b="1" dirty="0">
                <a:solidFill>
                  <a:srgbClr val="FF0000"/>
                </a:solidFill>
              </a:rPr>
              <a:t>không phù hợp với </a:t>
            </a:r>
            <a:r>
              <a:rPr lang="en-US" b="1" dirty="0" err="1">
                <a:solidFill>
                  <a:srgbClr val="FF0000"/>
                </a:solidFill>
              </a:rPr>
              <a:t>dự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án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vi-VN" b="1" dirty="0">
                <a:solidFill>
                  <a:srgbClr val="FF0000"/>
                </a:solidFill>
              </a:rPr>
              <a:t>lớn</a:t>
            </a:r>
          </a:p>
          <a:p>
            <a:pPr marL="457200" lvl="1" indent="0">
              <a:buNone/>
            </a:pPr>
            <a:r>
              <a:rPr lang="vi-VN" sz="2800" dirty="0"/>
              <a:t>Trong dự án lớn: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2800" dirty="0"/>
              <a:t>Nhiều người cùng viết </a:t>
            </a:r>
            <a:r>
              <a:rPr lang="vi-VN" sz="2800" dirty="0" err="1"/>
              <a:t>code</a:t>
            </a:r>
            <a:endParaRPr lang="vi-V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2800" dirty="0"/>
              <a:t>Nhiều </a:t>
            </a:r>
            <a:r>
              <a:rPr lang="vi-VN" sz="2800" dirty="0" err="1"/>
              <a:t>module</a:t>
            </a:r>
            <a:r>
              <a:rPr lang="vi-VN" sz="2800" dirty="0"/>
              <a:t> liên kết với nhau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2800" dirty="0"/>
              <a:t>Dữ liệu truyền qua nhiều tầng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👉 </a:t>
            </a:r>
            <a:r>
              <a:rPr lang="en-US" sz="2800" dirty="0" err="1"/>
              <a:t>Việc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nghĩa</a:t>
            </a:r>
            <a:r>
              <a:rPr lang="en-US" sz="2800" dirty="0"/>
              <a:t> 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làm</a:t>
            </a:r>
            <a:r>
              <a:rPr lang="en-US" sz="2800" dirty="0"/>
              <a:t> </a:t>
            </a:r>
            <a:r>
              <a:rPr lang="en-US" sz="2800" dirty="0" err="1"/>
              <a:t>mất</a:t>
            </a:r>
            <a:r>
              <a:rPr lang="en-US" sz="2800" dirty="0"/>
              <a:t> </a:t>
            </a:r>
            <a:r>
              <a:rPr lang="en-US" sz="2800" dirty="0" err="1"/>
              <a:t>kiểm</a:t>
            </a:r>
            <a:r>
              <a:rPr lang="en-US" sz="2800" dirty="0"/>
              <a:t> </a:t>
            </a:r>
            <a:r>
              <a:rPr lang="en-US" sz="2800" dirty="0" err="1"/>
              <a:t>soát</a:t>
            </a:r>
            <a:r>
              <a:rPr lang="en-US" sz="2800" dirty="0"/>
              <a:t>.</a:t>
            </a:r>
            <a:endParaRPr lang="vi-VN" sz="2800" dirty="0"/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3C907-F2C5-FD0F-7653-CB32DAC2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305E1-F847-5EE8-C01C-5320BB0DA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BF6914-3342-3CF3-4A24-0590DC6A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8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5EEAD-24C7-D444-C645-CCA64CABD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03582-674B-7E53-2D7C-93F37E7C9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37" y="1024758"/>
            <a:ext cx="11989835" cy="523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👉 </a:t>
            </a:r>
            <a:r>
              <a:rPr lang="en-US" b="1" dirty="0">
                <a:solidFill>
                  <a:srgbClr val="FF0000"/>
                </a:solidFill>
              </a:rPr>
              <a:t>TypeScript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đời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quyết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</a:t>
            </a:r>
          </a:p>
          <a:p>
            <a:r>
              <a:rPr lang="en-US" b="1" dirty="0">
                <a:solidFill>
                  <a:srgbClr val="FF0000"/>
                </a:solidFill>
              </a:rPr>
              <a:t>TypeScript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thế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JavaScript</a:t>
            </a:r>
          </a:p>
          <a:p>
            <a:r>
              <a:rPr lang="en-US" b="1" dirty="0">
                <a:solidFill>
                  <a:srgbClr val="FF0000"/>
                </a:solidFill>
              </a:rPr>
              <a:t>TypeScript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“JavaScript + Type (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)”, </a:t>
            </a:r>
            <a:r>
              <a:rPr lang="en-US" sz="2800" dirty="0" err="1"/>
              <a:t>nói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: “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ngôn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b="1" dirty="0" err="1"/>
              <a:t>mở</a:t>
            </a:r>
            <a:r>
              <a:rPr lang="en-US" sz="2800" b="1" dirty="0"/>
              <a:t> </a:t>
            </a:r>
            <a:r>
              <a:rPr lang="en-US" sz="2800" b="1" dirty="0" err="1"/>
              <a:t>rộng</a:t>
            </a:r>
            <a:r>
              <a:rPr lang="en-US" sz="2800" b="1" dirty="0"/>
              <a:t> </a:t>
            </a:r>
            <a:r>
              <a:rPr lang="en-US" sz="2800" b="1" dirty="0" err="1"/>
              <a:t>của</a:t>
            </a:r>
            <a:r>
              <a:rPr lang="en-US" sz="2800" b="1" dirty="0"/>
              <a:t> JavaScript</a:t>
            </a:r>
            <a:r>
              <a:rPr lang="en-US" sz="2800" dirty="0"/>
              <a:t> “.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Do </a:t>
            </a:r>
            <a:r>
              <a:rPr lang="en-US" sz="2800" b="1" dirty="0"/>
              <a:t>Microsoft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hành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err="1"/>
              <a:t>Bổ</a:t>
            </a:r>
            <a:r>
              <a:rPr lang="en-US" sz="2800" dirty="0"/>
              <a:t> sung </a:t>
            </a:r>
            <a:r>
              <a:rPr lang="en-US" sz="2800" b="1" dirty="0" err="1"/>
              <a:t>hệ</a:t>
            </a:r>
            <a:r>
              <a:rPr lang="en-US" sz="2800" b="1" dirty="0"/>
              <a:t> </a:t>
            </a:r>
            <a:r>
              <a:rPr lang="en-US" sz="2800" b="1" dirty="0" err="1"/>
              <a:t>thống</a:t>
            </a:r>
            <a:r>
              <a:rPr lang="en-US" sz="2800" b="1" dirty="0"/>
              <a:t> </a:t>
            </a:r>
            <a:r>
              <a:rPr lang="en-US" sz="2800" b="1" dirty="0" err="1"/>
              <a:t>kiểu</a:t>
            </a:r>
            <a:r>
              <a:rPr lang="en-US" sz="2800" b="1" dirty="0"/>
              <a:t> </a:t>
            </a:r>
            <a:r>
              <a:rPr lang="en-US" sz="2800" b="1" dirty="0" err="1"/>
              <a:t>mạnh</a:t>
            </a:r>
            <a:r>
              <a:rPr lang="en-US" sz="2800" b="1" dirty="0"/>
              <a:t>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lỗi</a:t>
            </a:r>
            <a:r>
              <a:rPr lang="en-US" sz="2800" dirty="0"/>
              <a:t> </a:t>
            </a:r>
            <a:r>
              <a:rPr lang="en-US" sz="2800" b="1" dirty="0" err="1"/>
              <a:t>ngay</a:t>
            </a:r>
            <a:r>
              <a:rPr lang="en-US" sz="2800" b="1" dirty="0"/>
              <a:t> </a:t>
            </a:r>
            <a:r>
              <a:rPr lang="en-US" sz="2800" b="1" dirty="0" err="1"/>
              <a:t>khi</a:t>
            </a:r>
            <a:r>
              <a:rPr lang="en-US" sz="2800" b="1" dirty="0"/>
              <a:t> </a:t>
            </a:r>
            <a:r>
              <a:rPr lang="en-US" sz="2800" b="1" dirty="0" err="1"/>
              <a:t>viết</a:t>
            </a:r>
            <a:r>
              <a:rPr lang="en-US" sz="2800" b="1" dirty="0"/>
              <a:t> code.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err="1"/>
              <a:t>Giúp</a:t>
            </a:r>
            <a:r>
              <a:rPr lang="en-US" sz="2800" dirty="0"/>
              <a:t> IDE </a:t>
            </a:r>
            <a:r>
              <a:rPr lang="en-US" sz="2800" b="1" dirty="0" err="1"/>
              <a:t>gợi</a:t>
            </a:r>
            <a:r>
              <a:rPr lang="en-US" sz="2800" b="1" dirty="0"/>
              <a:t> ý </a:t>
            </a:r>
            <a:r>
              <a:rPr lang="en-US" sz="2800" b="1" dirty="0" err="1"/>
              <a:t>thông</a:t>
            </a:r>
            <a:r>
              <a:rPr lang="en-US" sz="2800" b="1" dirty="0"/>
              <a:t> </a:t>
            </a:r>
            <a:r>
              <a:rPr lang="en-US" sz="2800" b="1" dirty="0" err="1"/>
              <a:t>minh</a:t>
            </a:r>
            <a:r>
              <a:rPr lang="en-US" sz="2800" b="1" dirty="0"/>
              <a:t>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err="1"/>
              <a:t>Giúp</a:t>
            </a:r>
            <a:r>
              <a:rPr lang="en-US" sz="2800" dirty="0"/>
              <a:t> code </a:t>
            </a:r>
            <a:r>
              <a:rPr lang="en-US" sz="2800" b="1" dirty="0" err="1"/>
              <a:t>dễ</a:t>
            </a:r>
            <a:r>
              <a:rPr lang="en-US" sz="2800" b="1" dirty="0"/>
              <a:t> </a:t>
            </a:r>
            <a:r>
              <a:rPr lang="en-US" sz="2800" b="1" dirty="0" err="1"/>
              <a:t>đọc</a:t>
            </a:r>
            <a:r>
              <a:rPr lang="en-US" sz="2800" b="1" dirty="0"/>
              <a:t> – </a:t>
            </a:r>
            <a:r>
              <a:rPr lang="en-US" sz="2800" b="1" dirty="0" err="1"/>
              <a:t>dễ</a:t>
            </a:r>
            <a:r>
              <a:rPr lang="en-US" sz="2800" b="1" dirty="0"/>
              <a:t> </a:t>
            </a:r>
            <a:r>
              <a:rPr lang="en-US" sz="2800" b="1" dirty="0" err="1"/>
              <a:t>bảo</a:t>
            </a:r>
            <a:r>
              <a:rPr lang="en-US" sz="2800" b="1" dirty="0"/>
              <a:t> </a:t>
            </a:r>
            <a:r>
              <a:rPr lang="en-US" sz="2800" b="1" dirty="0" err="1"/>
              <a:t>trì</a:t>
            </a:r>
            <a:r>
              <a:rPr lang="en-US" sz="2800" b="1" dirty="0"/>
              <a:t>.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6BF8D-9AE5-03B5-D038-AEFAD3816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07EF3-2A7C-DC01-B616-847BC1024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3EE55B-FC4F-64A3-E8EB-45AF588D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TYPESCRIPT LÀ GÌ?</a:t>
            </a:r>
          </a:p>
        </p:txBody>
      </p:sp>
    </p:spTree>
    <p:extLst>
      <p:ext uri="{BB962C8B-B14F-4D97-AF65-F5344CB8AC3E}">
        <p14:creationId xmlns:p14="http://schemas.microsoft.com/office/powerpoint/2010/main" val="231874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47921-1D61-FD78-891E-53A37019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5F6264-7FAB-91D8-BEAE-2CA046424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90" y="1024758"/>
            <a:ext cx="11971175" cy="5234152"/>
          </a:xfrm>
        </p:spPr>
        <p:txBody>
          <a:bodyPr>
            <a:norm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b="1" dirty="0"/>
              <a:t>JavaScript</a:t>
            </a:r>
            <a:r>
              <a:rPr lang="en-US" dirty="0"/>
              <a:t> vs </a:t>
            </a:r>
            <a:r>
              <a:rPr lang="en-US" b="1" dirty="0"/>
              <a:t>TypeScript</a:t>
            </a:r>
          </a:p>
          <a:p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57C6C-CD62-092E-A603-2737ECA3A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C5393-37D3-BFFA-8300-C1302B29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065717-9BFB-08D4-EAE6-82A37E35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LÀ GÌ?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89E4B-E3ED-5020-5586-B1FCD05FF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585324"/>
              </p:ext>
            </p:extLst>
          </p:nvPr>
        </p:nvGraphicFramePr>
        <p:xfrm>
          <a:off x="149290" y="1764694"/>
          <a:ext cx="118934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6710">
                  <a:extLst>
                    <a:ext uri="{9D8B030D-6E8A-4147-A177-3AD203B41FA5}">
                      <a16:colId xmlns:a16="http://schemas.microsoft.com/office/drawing/2014/main" val="3459826160"/>
                    </a:ext>
                  </a:extLst>
                </a:gridCol>
                <a:gridCol w="5946710">
                  <a:extLst>
                    <a:ext uri="{9D8B030D-6E8A-4147-A177-3AD203B41FA5}">
                      <a16:colId xmlns:a16="http://schemas.microsoft.com/office/drawing/2014/main" val="2273704023"/>
                    </a:ext>
                  </a:extLst>
                </a:gridCol>
              </a:tblGrid>
              <a:tr h="42800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17839"/>
                  </a:ext>
                </a:extLst>
              </a:tr>
              <a:tr h="7505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add(a, b) {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return a + b;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console.log(add(1, 2)); // </a:t>
                      </a:r>
                      <a:r>
                        <a:rPr lang="en-US" sz="2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lỗi</a:t>
                      </a:r>
                      <a:endParaRPr lang="en-US" sz="2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add(a: number, b: number): number {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return a + b;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console.log(add(1, 2));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// ❌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ngay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viết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6052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2E918AA-8AF9-E4D8-7839-998456489CF1}"/>
              </a:ext>
            </a:extLst>
          </p:cNvPr>
          <p:cNvSpPr txBox="1"/>
          <p:nvPr/>
        </p:nvSpPr>
        <p:spPr>
          <a:xfrm>
            <a:off x="149290" y="4397978"/>
            <a:ext cx="1189341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vi-V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một ngôn ngữ lập trình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được thiết kế để làm cho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toàn, rõ ràng và dễ quản lý hơn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đặc biệt trong các dự án lớn.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4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A895CD-725F-8160-9853-7A73DCDE8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59" y="886408"/>
            <a:ext cx="11952513" cy="53725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Cài </a:t>
            </a:r>
            <a:r>
              <a:rPr lang="en-US" b="1" dirty="0" err="1">
                <a:solidFill>
                  <a:srgbClr val="FF0000"/>
                </a:solidFill>
              </a:rPr>
              <a:t>đặt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môi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trường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1" dirty="0"/>
              <a:t>NodeJS &amp;&amp; </a:t>
            </a:r>
            <a:r>
              <a:rPr lang="en-US" sz="2800" b="1" dirty="0" err="1"/>
              <a:t>npm</a:t>
            </a:r>
            <a:r>
              <a:rPr lang="en-US" sz="2800" b="1" dirty="0"/>
              <a:t> </a:t>
            </a:r>
            <a:r>
              <a:rPr lang="en-US" sz="2800" dirty="0"/>
              <a:t>(Newest version):</a:t>
            </a:r>
          </a:p>
          <a:p>
            <a:pPr marL="457200" lvl="1" indent="0">
              <a:buNone/>
            </a:pPr>
            <a:r>
              <a:rPr lang="en-US" sz="2800" dirty="0"/>
              <a:t>👉 </a:t>
            </a:r>
            <a:r>
              <a:rPr lang="en-US" sz="2800" dirty="0">
                <a:hlinkClick r:id="rId2"/>
              </a:rPr>
              <a:t>https://nodejs.org/en</a:t>
            </a:r>
            <a:r>
              <a:rPr lang="en-US" sz="2800" dirty="0"/>
              <a:t> : Download file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chạy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1" dirty="0"/>
              <a:t>Check Version</a:t>
            </a:r>
            <a:r>
              <a:rPr lang="en-US" sz="2800" dirty="0"/>
              <a:t>: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293202" indent="-293202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3202" indent="-293202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3202" indent="-293202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Editor: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Visual Studio Code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04C2EC-C6D9-04AB-68FA-8CD3D629D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2ACB6-1BEA-BAB2-E92B-7EF7E3A62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5C65F5-AC9A-89D8-F583-18FCFC77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CÀI ĐẶT MÔI TRƯỜNG VÀ CODE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D80D5-E064-DA7E-1593-B9D8DDF3DD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45" y="2694564"/>
            <a:ext cx="5975475" cy="215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9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75DF-6A65-713B-8B27-7D113E1C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FAA258-CE9F-B3B2-3D52-28E1C700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20" y="1024758"/>
            <a:ext cx="11915192" cy="5234152"/>
          </a:xfrm>
        </p:spPr>
        <p:txBody>
          <a:bodyPr/>
          <a:lstStyle/>
          <a:p>
            <a:r>
              <a:rPr lang="vi-VN" b="1" dirty="0"/>
              <a:t>Bước 1:  Tạo</a:t>
            </a:r>
            <a:r>
              <a:rPr lang="en-US" b="1" dirty="0"/>
              <a:t> </a:t>
            </a:r>
            <a:r>
              <a:rPr lang="vi-VN" b="1" dirty="0"/>
              <a:t>thư mục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thư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bằng</a:t>
            </a:r>
            <a:r>
              <a:rPr lang="en-US" b="1" dirty="0"/>
              <a:t> VS Code</a:t>
            </a:r>
          </a:p>
          <a:p>
            <a:r>
              <a:rPr lang="vi-VN" b="1" dirty="0"/>
              <a:t>Bước </a:t>
            </a:r>
            <a:r>
              <a:rPr lang="en-US" b="1" dirty="0"/>
              <a:t>2</a:t>
            </a:r>
            <a:r>
              <a:rPr lang="vi-VN" b="1" dirty="0"/>
              <a:t>:  </a:t>
            </a:r>
            <a:r>
              <a:rPr lang="en-US" b="1" dirty="0"/>
              <a:t>Cài </a:t>
            </a:r>
            <a:r>
              <a:rPr lang="en-US" b="1" dirty="0" err="1"/>
              <a:t>đặt</a:t>
            </a:r>
            <a:r>
              <a:rPr lang="en-US" b="1" dirty="0"/>
              <a:t> TypeScript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endParaRPr lang="en-US" b="1" dirty="0"/>
          </a:p>
          <a:p>
            <a:r>
              <a:rPr lang="vi-VN" b="1" dirty="0"/>
              <a:t>Bước </a:t>
            </a:r>
            <a:r>
              <a:rPr lang="en-US" b="1" dirty="0"/>
              <a:t>3</a:t>
            </a:r>
            <a:r>
              <a:rPr lang="vi-VN" b="1" dirty="0"/>
              <a:t>:  Tạo </a:t>
            </a:r>
            <a:r>
              <a:rPr lang="en-US" b="1" dirty="0"/>
              <a:t>file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biên</a:t>
            </a:r>
            <a:r>
              <a:rPr lang="en-US" b="1" dirty="0"/>
              <a:t> </a:t>
            </a:r>
            <a:r>
              <a:rPr lang="en-US" b="1" dirty="0" err="1"/>
              <a:t>dịch</a:t>
            </a:r>
            <a:r>
              <a:rPr lang="en-US" b="1" dirty="0"/>
              <a:t> file </a:t>
            </a:r>
            <a:r>
              <a:rPr lang="en-US" b="1" dirty="0" err="1"/>
              <a:t>index.ts</a:t>
            </a:r>
            <a:endParaRPr lang="en-US" b="1" dirty="0"/>
          </a:p>
          <a:p>
            <a:r>
              <a:rPr lang="vi-VN" b="1" dirty="0"/>
              <a:t>Bước </a:t>
            </a:r>
            <a:r>
              <a:rPr lang="en-US" b="1" dirty="0"/>
              <a:t>4</a:t>
            </a:r>
            <a:r>
              <a:rPr lang="vi-VN" b="1" dirty="0"/>
              <a:t>: </a:t>
            </a:r>
            <a:r>
              <a:rPr lang="en-US" b="1" dirty="0"/>
              <a:t> </a:t>
            </a:r>
            <a:r>
              <a:rPr lang="en-US" b="1" dirty="0" err="1"/>
              <a:t>Chạy</a:t>
            </a:r>
            <a:r>
              <a:rPr lang="en-US" b="1" dirty="0"/>
              <a:t> file index.js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A7B10-D873-A598-EA23-B0CDBBB49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94C6B-113E-8D15-E856-8DE443AB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2FC193-FE10-4A83-BD2D-C71E9D6F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BƯỚC KHỞI TẠO DỰ ÁN TYPESCRIPT</a:t>
            </a:r>
          </a:p>
        </p:txBody>
      </p:sp>
    </p:spTree>
    <p:extLst>
      <p:ext uri="{BB962C8B-B14F-4D97-AF65-F5344CB8AC3E}">
        <p14:creationId xmlns:p14="http://schemas.microsoft.com/office/powerpoint/2010/main" val="283561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4DBFA0-0A8A-7346-9299-997D91EED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" y="1024758"/>
            <a:ext cx="12036490" cy="52341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vi-VN" b="1" dirty="0"/>
              <a:t>Bước 1:  Tạo một thư mục có tên là </a:t>
            </a:r>
            <a:r>
              <a:rPr lang="en-US" b="1" dirty="0"/>
              <a:t>“</a:t>
            </a:r>
            <a:r>
              <a:rPr lang="vi-VN" b="1" dirty="0" err="1"/>
              <a:t>HelloWor</a:t>
            </a:r>
            <a:r>
              <a:rPr lang="en-US" b="1" dirty="0"/>
              <a:t>l</a:t>
            </a:r>
            <a:r>
              <a:rPr lang="vi-VN" b="1" dirty="0"/>
              <a:t>d</a:t>
            </a:r>
            <a:r>
              <a:rPr lang="en-US" b="1" dirty="0"/>
              <a:t>”.</a:t>
            </a:r>
          </a:p>
          <a:p>
            <a:pPr>
              <a:lnSpc>
                <a:spcPct val="100000"/>
              </a:lnSpc>
            </a:pPr>
            <a:r>
              <a:rPr lang="vi-VN" b="1" dirty="0"/>
              <a:t>Bước </a:t>
            </a:r>
            <a:r>
              <a:rPr lang="en-US" b="1" dirty="0"/>
              <a:t>2</a:t>
            </a:r>
            <a:r>
              <a:rPr lang="vi-VN" b="1" dirty="0"/>
              <a:t>:  </a:t>
            </a:r>
            <a:r>
              <a:rPr lang="en-US" b="1" dirty="0"/>
              <a:t>Cài </a:t>
            </a:r>
            <a:r>
              <a:rPr lang="en-US" b="1" dirty="0" err="1"/>
              <a:t>đặt</a:t>
            </a:r>
            <a:r>
              <a:rPr lang="en-US" b="1" dirty="0"/>
              <a:t> TypeScript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endParaRPr lang="en-US" b="1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2.1 Cài </a:t>
            </a:r>
            <a:r>
              <a:rPr lang="en-US" sz="2800" b="1" dirty="0" err="1">
                <a:solidFill>
                  <a:srgbClr val="FF0000"/>
                </a:solidFill>
              </a:rPr>
              <a:t>đặt</a:t>
            </a:r>
            <a:r>
              <a:rPr lang="en-US" sz="2800" b="1" dirty="0">
                <a:solidFill>
                  <a:srgbClr val="FF0000"/>
                </a:solidFill>
              </a:rPr>
              <a:t> TypeScript </a:t>
            </a:r>
            <a:r>
              <a:rPr lang="en-US" sz="2800" b="1" dirty="0" err="1">
                <a:solidFill>
                  <a:srgbClr val="FF0000"/>
                </a:solidFill>
              </a:rPr>
              <a:t>bằng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npm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  <a:r>
              <a:rPr lang="en-US" sz="2800" dirty="0"/>
              <a:t>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 err="1"/>
              <a:t>Cách</a:t>
            </a:r>
            <a:r>
              <a:rPr lang="en-US" sz="2800" b="1" dirty="0"/>
              <a:t> 1: </a:t>
            </a:r>
            <a:r>
              <a:rPr lang="vi-VN" sz="2800" b="1" dirty="0" err="1"/>
              <a:t>npm</a:t>
            </a:r>
            <a:r>
              <a:rPr lang="vi-VN" sz="2800" b="1" dirty="0"/>
              <a:t> </a:t>
            </a:r>
            <a:r>
              <a:rPr lang="vi-VN" sz="2800" b="1" dirty="0" err="1"/>
              <a:t>install</a:t>
            </a:r>
            <a:r>
              <a:rPr lang="vi-VN" sz="2800" b="1" dirty="0"/>
              <a:t> --</a:t>
            </a:r>
            <a:r>
              <a:rPr lang="vi-VN" sz="2800" b="1" dirty="0" err="1"/>
              <a:t>save-dev</a:t>
            </a:r>
            <a:r>
              <a:rPr lang="vi-VN" sz="2800" b="1" dirty="0"/>
              <a:t> </a:t>
            </a:r>
            <a:r>
              <a:rPr lang="vi-VN" sz="2800" b="1" dirty="0" err="1"/>
              <a:t>typescript</a:t>
            </a:r>
            <a:r>
              <a:rPr lang="en-US" sz="2800" b="1" dirty="0"/>
              <a:t> </a:t>
            </a:r>
            <a:r>
              <a:rPr lang="en-US" sz="2800" dirty="0"/>
              <a:t>👉</a:t>
            </a:r>
            <a:r>
              <a:rPr lang="en-US" sz="2800" b="1" dirty="0" err="1">
                <a:solidFill>
                  <a:srgbClr val="FF0000"/>
                </a:solidFill>
              </a:rPr>
              <a:t>Nên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dùng</a:t>
            </a:r>
            <a:endParaRPr lang="en-US" sz="2800" b="1" dirty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 err="1"/>
              <a:t>Cách</a:t>
            </a:r>
            <a:r>
              <a:rPr lang="en-US" sz="2800" b="1" dirty="0"/>
              <a:t> 2: </a:t>
            </a:r>
            <a:r>
              <a:rPr lang="vi-VN" sz="2800" b="1" dirty="0" err="1"/>
              <a:t>npm</a:t>
            </a:r>
            <a:r>
              <a:rPr lang="vi-VN" sz="2800" b="1" dirty="0"/>
              <a:t> </a:t>
            </a:r>
            <a:r>
              <a:rPr lang="vi-VN" sz="2800" b="1" dirty="0" err="1"/>
              <a:t>install</a:t>
            </a:r>
            <a:r>
              <a:rPr lang="vi-VN" sz="2800" b="1" dirty="0"/>
              <a:t> -g </a:t>
            </a:r>
            <a:r>
              <a:rPr lang="vi-VN" sz="2800" b="1" dirty="0" err="1"/>
              <a:t>typescript</a:t>
            </a:r>
            <a:r>
              <a:rPr lang="en-US" sz="2800" b="1" dirty="0"/>
              <a:t>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Check version: </a:t>
            </a:r>
            <a:r>
              <a:rPr lang="vi-VN" sz="2800" b="1" dirty="0" err="1"/>
              <a:t>npx</a:t>
            </a:r>
            <a:r>
              <a:rPr lang="vi-VN" sz="2800" b="1" dirty="0"/>
              <a:t> </a:t>
            </a:r>
            <a:r>
              <a:rPr lang="vi-VN" sz="2800" b="1" dirty="0" err="1"/>
              <a:t>tsc</a:t>
            </a:r>
            <a:r>
              <a:rPr lang="vi-VN" sz="2800" b="1" dirty="0"/>
              <a:t> -v</a:t>
            </a:r>
            <a:endParaRPr lang="en-US" sz="2800" b="1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2.2 </a:t>
            </a:r>
            <a:r>
              <a:rPr lang="en-US" sz="2800" b="1" dirty="0" err="1">
                <a:solidFill>
                  <a:srgbClr val="FF0000"/>
                </a:solidFill>
              </a:rPr>
              <a:t>Cấu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dự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án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0000"/>
                </a:solidFill>
              </a:rPr>
              <a:t>2.2.1 </a:t>
            </a:r>
            <a:r>
              <a:rPr lang="en-US" sz="2800" b="1" dirty="0" err="1">
                <a:solidFill>
                  <a:srgbClr val="FF0000"/>
                </a:solidFill>
              </a:rPr>
              <a:t>Tạo</a:t>
            </a:r>
            <a:r>
              <a:rPr lang="en-US" sz="2800" b="1" dirty="0">
                <a:solidFill>
                  <a:srgbClr val="FF0000"/>
                </a:solidFill>
              </a:rPr>
              <a:t> file </a:t>
            </a:r>
            <a:r>
              <a:rPr lang="en-US" sz="2800" b="1" dirty="0" err="1">
                <a:solidFill>
                  <a:srgbClr val="FF0000"/>
                </a:solidFill>
              </a:rPr>
              <a:t>tsconfig.json</a:t>
            </a:r>
            <a:r>
              <a:rPr lang="en-US" sz="2800" b="1" dirty="0"/>
              <a:t>: Trong Terminal </a:t>
            </a:r>
            <a:r>
              <a:rPr lang="en-US" sz="2800" b="1" dirty="0" err="1"/>
              <a:t>gõ</a:t>
            </a:r>
            <a:r>
              <a:rPr lang="en-US" sz="2800" b="1" dirty="0"/>
              <a:t> </a:t>
            </a:r>
            <a:r>
              <a:rPr lang="en-US" sz="2800" b="1" dirty="0" err="1"/>
              <a:t>lệnh</a:t>
            </a:r>
            <a:r>
              <a:rPr lang="en-US" sz="2800" b="1" dirty="0"/>
              <a:t> </a:t>
            </a:r>
            <a:r>
              <a:rPr lang="en-US" sz="2800" b="1" dirty="0" err="1"/>
              <a:t>tsc</a:t>
            </a:r>
            <a:r>
              <a:rPr lang="en-US" sz="2800" b="1" dirty="0"/>
              <a:t> --</a:t>
            </a:r>
            <a:r>
              <a:rPr lang="en-US" sz="2800" b="1" dirty="0" err="1"/>
              <a:t>init</a:t>
            </a:r>
            <a:endParaRPr lang="en-US" sz="2800" b="1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0000"/>
                </a:solidFill>
              </a:rPr>
              <a:t>2.2.2 </a:t>
            </a:r>
            <a:r>
              <a:rPr lang="en-US" sz="2800" b="1" dirty="0" err="1">
                <a:solidFill>
                  <a:srgbClr val="FF0000"/>
                </a:solidFill>
              </a:rPr>
              <a:t>Cấu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hình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dự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án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trong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tsconfig.json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US" sz="2800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2C55E5-071D-7531-F7E6-3176B44E0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676CF-DF08-B358-B938-C1C810DB1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7A8A49-6E69-9738-F26C-286B474A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CÀI ĐẶT TYPESCRIPT</a:t>
            </a:r>
          </a:p>
        </p:txBody>
      </p:sp>
    </p:spTree>
    <p:extLst>
      <p:ext uri="{BB962C8B-B14F-4D97-AF65-F5344CB8AC3E}">
        <p14:creationId xmlns:p14="http://schemas.microsoft.com/office/powerpoint/2010/main" val="369778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73B02-D05A-DDA5-FD96-53A6B1CC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E16EE4-58FC-38D4-F6C0-4A97BAC79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" y="799498"/>
            <a:ext cx="12036490" cy="54594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</a:rPr>
              <a:t>2.2.2 </a:t>
            </a:r>
            <a:r>
              <a:rPr lang="en-US" b="1" dirty="0" err="1">
                <a:solidFill>
                  <a:srgbClr val="FF0000"/>
                </a:solidFill>
              </a:rPr>
              <a:t>Cấu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án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trong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tsconfig.json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Trong </a:t>
            </a:r>
            <a:r>
              <a:rPr lang="en-US" b="1" dirty="0" err="1">
                <a:solidFill>
                  <a:srgbClr val="FF0000"/>
                </a:solidFill>
              </a:rPr>
              <a:t>tsconfig.json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nội</a:t>
            </a:r>
            <a:r>
              <a:rPr lang="en-US" b="1" dirty="0"/>
              <a:t> dung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: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  "</a:t>
            </a:r>
            <a:r>
              <a:rPr lang="en-US" dirty="0" err="1"/>
              <a:t>compilerOptions</a:t>
            </a:r>
            <a:r>
              <a:rPr lang="en-US" dirty="0"/>
              <a:t>": {</a:t>
            </a:r>
          </a:p>
          <a:p>
            <a:pPr marL="457200" lvl="1" indent="0">
              <a:buNone/>
            </a:pPr>
            <a:r>
              <a:rPr lang="en-US" dirty="0"/>
              <a:t>    "target": "ES2017",   // Quy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b="1" dirty="0" err="1"/>
              <a:t>phiên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JavaScript </a:t>
            </a:r>
            <a:r>
              <a:rPr lang="en-US" b="1" dirty="0" err="1"/>
              <a:t>đầu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dirty="0" err="1"/>
              <a:t>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    "module": "</a:t>
            </a:r>
            <a:r>
              <a:rPr lang="en-US" dirty="0" err="1"/>
              <a:t>commonjs</a:t>
            </a:r>
            <a:r>
              <a:rPr lang="en-US" dirty="0"/>
              <a:t>", //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module </a:t>
            </a:r>
            <a:r>
              <a:rPr lang="en-US" b="1" dirty="0" err="1"/>
              <a:t>CommonJS</a:t>
            </a:r>
            <a:r>
              <a:rPr lang="en-US" dirty="0"/>
              <a:t> (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Node.js).</a:t>
            </a:r>
          </a:p>
          <a:p>
            <a:pPr marL="457200" lvl="1" indent="0">
              <a:buNone/>
            </a:pPr>
            <a:r>
              <a:rPr lang="en-US" dirty="0"/>
              <a:t>    "</a:t>
            </a:r>
            <a:r>
              <a:rPr lang="en-US" dirty="0" err="1"/>
              <a:t>outDir</a:t>
            </a:r>
            <a:r>
              <a:rPr lang="en-US" dirty="0"/>
              <a:t>": "</a:t>
            </a:r>
            <a:r>
              <a:rPr lang="en-US" dirty="0" err="1"/>
              <a:t>dist</a:t>
            </a:r>
            <a:r>
              <a:rPr lang="en-US" dirty="0"/>
              <a:t>", // </a:t>
            </a:r>
            <a:r>
              <a:rPr lang="vi-VN" dirty="0"/>
              <a:t>Chỉ định </a:t>
            </a:r>
            <a:r>
              <a:rPr lang="vi-VN" b="1" dirty="0"/>
              <a:t>thư mục chứa </a:t>
            </a:r>
            <a:r>
              <a:rPr lang="vi-VN" b="1" dirty="0" err="1"/>
              <a:t>file</a:t>
            </a:r>
            <a:r>
              <a:rPr lang="vi-VN" b="1" dirty="0"/>
              <a:t> </a:t>
            </a:r>
            <a:r>
              <a:rPr lang="vi-VN" b="1" dirty="0" err="1"/>
              <a:t>JavaScript</a:t>
            </a:r>
            <a:r>
              <a:rPr lang="vi-VN" b="1" dirty="0"/>
              <a:t> sau khi biên dịch</a:t>
            </a:r>
            <a:r>
              <a:rPr lang="vi-VN" dirty="0"/>
              <a:t>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    "strict": true //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b="1" dirty="0" err="1"/>
              <a:t>toàn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nghiêm</a:t>
            </a:r>
            <a:r>
              <a:rPr lang="en-US" b="1" dirty="0"/>
              <a:t> </a:t>
            </a:r>
            <a:r>
              <a:rPr lang="en-US" b="1" dirty="0" err="1"/>
              <a:t>ngặt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TypeScript.</a:t>
            </a:r>
          </a:p>
          <a:p>
            <a:pPr marL="457200" lvl="1" indent="0">
              <a:buNone/>
            </a:pPr>
            <a:r>
              <a:rPr lang="en-US" dirty="0"/>
              <a:t>    "</a:t>
            </a:r>
            <a:r>
              <a:rPr lang="en-US" dirty="0" err="1"/>
              <a:t>sourceMap</a:t>
            </a:r>
            <a:r>
              <a:rPr lang="en-US" dirty="0"/>
              <a:t>": true // </a:t>
            </a:r>
            <a:r>
              <a:rPr lang="en-US" dirty="0" err="1"/>
              <a:t>Tạo</a:t>
            </a:r>
            <a:r>
              <a:rPr lang="en-US" dirty="0"/>
              <a:t> Source map</a:t>
            </a:r>
          </a:p>
          <a:p>
            <a:pPr marL="457200" lvl="1" indent="0">
              <a:buNone/>
            </a:pPr>
            <a:r>
              <a:rPr lang="en-US" dirty="0"/>
              <a:t>  },</a:t>
            </a:r>
          </a:p>
          <a:p>
            <a:pPr marL="457200" lvl="1" indent="0">
              <a:buNone/>
            </a:pPr>
            <a:r>
              <a:rPr lang="en-US" dirty="0"/>
              <a:t>  "include": ["</a:t>
            </a:r>
            <a:r>
              <a:rPr lang="en-US" dirty="0" err="1"/>
              <a:t>src</a:t>
            </a:r>
            <a:r>
              <a:rPr lang="en-US" dirty="0"/>
              <a:t>"] //</a:t>
            </a:r>
            <a:r>
              <a:rPr lang="vi-VN" dirty="0"/>
              <a:t>Chỉ định </a:t>
            </a:r>
            <a:r>
              <a:rPr lang="vi-VN" b="1" dirty="0"/>
              <a:t>những </a:t>
            </a:r>
            <a:r>
              <a:rPr lang="vi-VN" b="1" dirty="0" err="1"/>
              <a:t>file</a:t>
            </a:r>
            <a:r>
              <a:rPr lang="vi-VN" b="1" dirty="0"/>
              <a:t> được đưa vào biên dịch</a:t>
            </a:r>
            <a:r>
              <a:rPr lang="vi-VN" dirty="0"/>
              <a:t>.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>
              <a:lnSpc>
                <a:spcPct val="100000"/>
              </a:lnSpc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2DFD0-BD89-3634-12C2-5F24E5A75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F2F44-AF3E-638B-B4BF-3EA8DCB8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55B50C-6702-0E55-3A24-9C9DF38B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CẤU HÌNH DỰ ÁN</a:t>
            </a:r>
          </a:p>
        </p:txBody>
      </p:sp>
    </p:spTree>
    <p:extLst>
      <p:ext uri="{BB962C8B-B14F-4D97-AF65-F5344CB8AC3E}">
        <p14:creationId xmlns:p14="http://schemas.microsoft.com/office/powerpoint/2010/main" val="198632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1A28-044D-7009-2589-96EE8094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35C3F9-FAEF-03E5-3391-338B259F4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" y="824039"/>
            <a:ext cx="12036490" cy="56583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vi-VN" b="1" dirty="0"/>
              <a:t>Bước </a:t>
            </a:r>
            <a:r>
              <a:rPr lang="en-US" b="1" dirty="0"/>
              <a:t>3</a:t>
            </a:r>
            <a:r>
              <a:rPr lang="vi-VN" b="1" dirty="0"/>
              <a:t>:  </a:t>
            </a:r>
            <a:r>
              <a:rPr lang="en-US" b="1" dirty="0" err="1"/>
              <a:t>Tạo</a:t>
            </a:r>
            <a:r>
              <a:rPr lang="en-US" b="1" dirty="0"/>
              <a:t> file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biên</a:t>
            </a:r>
            <a:r>
              <a:rPr lang="en-US" b="1" dirty="0"/>
              <a:t> </a:t>
            </a:r>
            <a:r>
              <a:rPr lang="en-US" b="1" dirty="0" err="1"/>
              <a:t>dịch</a:t>
            </a:r>
            <a:r>
              <a:rPr lang="en-US" b="1" dirty="0"/>
              <a:t> file </a:t>
            </a:r>
            <a:r>
              <a:rPr lang="en-US" b="1" dirty="0" err="1"/>
              <a:t>index.ts</a:t>
            </a:r>
            <a:endParaRPr lang="en-US" b="1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</a:rPr>
              <a:t>3.1 </a:t>
            </a:r>
            <a:r>
              <a:rPr lang="en-US" sz="2800" b="1" dirty="0" err="1">
                <a:solidFill>
                  <a:srgbClr val="FF0000"/>
                </a:solidFill>
              </a:rPr>
              <a:t>Tạo</a:t>
            </a:r>
            <a:r>
              <a:rPr lang="en-US" sz="2800" b="1" dirty="0">
                <a:solidFill>
                  <a:srgbClr val="FF0000"/>
                </a:solidFill>
              </a:rPr>
              <a:t> file </a:t>
            </a:r>
            <a:r>
              <a:rPr lang="en-US" sz="2800" b="1" dirty="0" err="1">
                <a:solidFill>
                  <a:srgbClr val="FF0000"/>
                </a:solidFill>
              </a:rPr>
              <a:t>index.ts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en-US" sz="2800" dirty="0"/>
              <a:t>          console.log("Hello");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</a:rPr>
              <a:t>3.2 </a:t>
            </a:r>
            <a:r>
              <a:rPr lang="en-US" sz="2800" b="1" dirty="0" err="1">
                <a:solidFill>
                  <a:srgbClr val="FF0000"/>
                </a:solidFill>
              </a:rPr>
              <a:t>Biên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dịch</a:t>
            </a:r>
            <a:r>
              <a:rPr lang="en-US" sz="2800" b="1" dirty="0">
                <a:solidFill>
                  <a:srgbClr val="FF0000"/>
                </a:solidFill>
              </a:rPr>
              <a:t> file </a:t>
            </a:r>
            <a:r>
              <a:rPr lang="en-US" sz="2800" b="1" dirty="0" err="1">
                <a:solidFill>
                  <a:srgbClr val="FF0000"/>
                </a:solidFill>
              </a:rPr>
              <a:t>index.ts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    </a:t>
            </a:r>
            <a:r>
              <a:rPr lang="vi-VN" dirty="0"/>
              <a:t>Để biên dịch mã </a:t>
            </a:r>
            <a:r>
              <a:rPr lang="vi-VN" dirty="0" err="1"/>
              <a:t>TypeScript</a:t>
            </a:r>
            <a:r>
              <a:rPr lang="vi-VN" dirty="0"/>
              <a:t>, mở </a:t>
            </a:r>
            <a:r>
              <a:rPr lang="en-US" dirty="0"/>
              <a:t>Terminal </a:t>
            </a:r>
            <a:r>
              <a:rPr lang="vi-VN" dirty="0"/>
              <a:t>và nhập </a:t>
            </a:r>
            <a:r>
              <a:rPr lang="vi-VN" b="1" dirty="0" err="1">
                <a:solidFill>
                  <a:srgbClr val="FF0000"/>
                </a:solidFill>
              </a:rPr>
              <a:t>tsc</a:t>
            </a:r>
            <a:r>
              <a:rPr lang="en-US" b="1" dirty="0"/>
              <a:t>, </a:t>
            </a:r>
            <a:r>
              <a:rPr lang="en-US" dirty="0"/>
              <a:t>t</a:t>
            </a:r>
            <a:r>
              <a:rPr lang="vi-VN" dirty="0"/>
              <a:t>hao tác này sẽ biên dịch và tạo một</a:t>
            </a:r>
            <a:r>
              <a:rPr lang="en-US" dirty="0"/>
              <a:t> file</a:t>
            </a:r>
            <a:r>
              <a:rPr lang="vi-VN" dirty="0"/>
              <a:t> </a:t>
            </a:r>
            <a:r>
              <a:rPr lang="en-US" b="1" dirty="0"/>
              <a:t>index</a:t>
            </a:r>
            <a:r>
              <a:rPr lang="vi-VN" b="1" dirty="0"/>
              <a:t>.</a:t>
            </a:r>
            <a:r>
              <a:rPr lang="vi-VN" b="1" dirty="0" err="1"/>
              <a:t>js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folder </a:t>
            </a:r>
            <a:r>
              <a:rPr lang="en-US" b="1" dirty="0" err="1">
                <a:solidFill>
                  <a:srgbClr val="FF0000"/>
                </a:solidFill>
              </a:rPr>
              <a:t>dist</a:t>
            </a:r>
            <a:r>
              <a:rPr lang="vi-VN" dirty="0"/>
              <a:t>.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C6DD6-A12C-26A4-886B-4BA2E8B0D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FF7EE-D780-21DB-A7EA-BE6DA3189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E2131F-724C-169B-EACD-C3226356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TẠO FILE VÀ BIÊN DỊCH FILE </a:t>
            </a:r>
            <a:r>
              <a:rPr lang="en-US" dirty="0" err="1"/>
              <a:t>index.ts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6F1F81-2960-F86B-88B0-661A02080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475" y="3837529"/>
            <a:ext cx="6318365" cy="24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7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0B39-1BCF-D633-CF2D-2F8798E2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6A574A-3C44-4FFF-5FB3-69F77328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18" y="1024758"/>
            <a:ext cx="12035882" cy="5234152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Bước</a:t>
            </a:r>
            <a:r>
              <a:rPr lang="en-US" b="1" dirty="0">
                <a:solidFill>
                  <a:srgbClr val="FF0000"/>
                </a:solidFill>
              </a:rPr>
              <a:t> 4: </a:t>
            </a:r>
            <a:r>
              <a:rPr lang="en-US" b="1" dirty="0" err="1">
                <a:solidFill>
                  <a:srgbClr val="FF0000"/>
                </a:solidFill>
              </a:rPr>
              <a:t>Chạy</a:t>
            </a:r>
            <a:r>
              <a:rPr lang="en-US" b="1" dirty="0">
                <a:solidFill>
                  <a:srgbClr val="FF0000"/>
                </a:solidFill>
              </a:rPr>
              <a:t> file index.js </a:t>
            </a:r>
          </a:p>
          <a:p>
            <a:pPr marL="0" indent="0">
              <a:buNone/>
            </a:pPr>
            <a:r>
              <a:rPr lang="en-US" dirty="0"/>
              <a:t>Trong Terminal </a:t>
            </a:r>
            <a:r>
              <a:rPr lang="en-US" dirty="0" err="1"/>
              <a:t>Chạy</a:t>
            </a:r>
            <a:r>
              <a:rPr lang="en-US" dirty="0"/>
              <a:t> file index.js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node </a:t>
            </a:r>
            <a:r>
              <a:rPr lang="en-US" dirty="0" err="1"/>
              <a:t>dist</a:t>
            </a:r>
            <a:r>
              <a:rPr lang="en-US" dirty="0"/>
              <a:t>/index.js </a:t>
            </a:r>
            <a:r>
              <a:rPr lang="en-US" dirty="0" err="1"/>
              <a:t>để</a:t>
            </a:r>
            <a:r>
              <a:rPr lang="en-US" dirty="0"/>
              <a:t> in </a:t>
            </a:r>
            <a:r>
              <a:rPr lang="en-US" dirty="0" err="1"/>
              <a:t>nội</a:t>
            </a:r>
            <a:r>
              <a:rPr lang="en-US" dirty="0"/>
              <a:t> dung “</a:t>
            </a:r>
            <a:r>
              <a:rPr lang="en-US" b="1" dirty="0"/>
              <a:t>Hello Word</a:t>
            </a:r>
            <a:r>
              <a:rPr lang="en-US" dirty="0"/>
              <a:t>” </a:t>
            </a:r>
            <a:r>
              <a:rPr lang="en-US" dirty="0" err="1"/>
              <a:t>ra</a:t>
            </a:r>
            <a:r>
              <a:rPr lang="en-US" dirty="0"/>
              <a:t> console.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679E5-2DD5-54B5-365B-635B841E0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390A1-601A-1E10-2161-302EBB869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92DF79-176C-CDD9-16C1-4BCF70A0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CHẠY FILE index.js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D61BEE-F5AE-5643-9E41-FFB53C643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80" y="3544032"/>
            <a:ext cx="9192241" cy="245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5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718B-5CA0-6CCF-2624-509CCCDD6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BDD069-0A01-7796-48A0-D9377F412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Chạy</a:t>
            </a:r>
            <a:r>
              <a:rPr lang="en-US" dirty="0"/>
              <a:t> file TypeScript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qua JavaScript.</a:t>
            </a:r>
          </a:p>
          <a:p>
            <a:r>
              <a:rPr lang="en-US" dirty="0"/>
              <a:t>Trong Terminal </a:t>
            </a:r>
            <a:r>
              <a:rPr lang="en-US" dirty="0" err="1"/>
              <a:t>gõ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 </a:t>
            </a:r>
            <a:r>
              <a:rPr lang="en-US" dirty="0" err="1"/>
              <a:t>npm</a:t>
            </a:r>
            <a:r>
              <a:rPr lang="en-US" dirty="0"/>
              <a:t> run dev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ts</a:t>
            </a:r>
            <a:r>
              <a:rPr lang="en-US" dirty="0"/>
              <a:t>-node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index.ts</a:t>
            </a:r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20ECB-C694-3A05-9FFC-248BAC812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BCFCB-D350-DACF-4926-A3E8D17FE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1ACE32-D87F-18E1-797E-D1177136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CHẠY CHƯƠNG TRÌNH</a:t>
            </a:r>
            <a:r>
              <a:rPr lang="en-US" dirty="0"/>
              <a:t> KHÔNG CẦN BIÊN DỊCH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F983B6-AA58-8058-9CE6-AED6C5778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20" y="2928867"/>
            <a:ext cx="6227313" cy="25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43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7B4D8-4DCE-4E4B-D874-57D7E90A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DC29EA-0D7D-2767-FFC2-3B46F7A34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JavaScript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cốt</a:t>
            </a:r>
            <a:r>
              <a:rPr lang="en-US" b="1" dirty="0"/>
              <a:t> </a:t>
            </a:r>
            <a:r>
              <a:rPr lang="en-US" b="1" dirty="0" err="1"/>
              <a:t>lõi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TypeScript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Cài </a:t>
            </a:r>
            <a:r>
              <a:rPr lang="en-US" b="1" dirty="0" err="1"/>
              <a:t>đặt</a:t>
            </a:r>
            <a:r>
              <a:rPr lang="en-US" b="1" dirty="0"/>
              <a:t> </a:t>
            </a:r>
            <a:r>
              <a:rPr lang="en-US" b="1" dirty="0" err="1"/>
              <a:t>môi</a:t>
            </a:r>
            <a:r>
              <a:rPr lang="en-US" b="1" dirty="0"/>
              <a:t> </a:t>
            </a:r>
            <a:r>
              <a:rPr lang="en-US" b="1" dirty="0" err="1"/>
              <a:t>trường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Tạo</a:t>
            </a:r>
            <a:r>
              <a:rPr lang="en-US" b="1" dirty="0"/>
              <a:t> Project TypeScript </a:t>
            </a:r>
            <a:r>
              <a:rPr lang="en-US" b="1" dirty="0" err="1"/>
              <a:t>đầu</a:t>
            </a:r>
            <a:r>
              <a:rPr lang="en-US" b="1" dirty="0"/>
              <a:t> </a:t>
            </a:r>
            <a:r>
              <a:rPr lang="en-US" b="1" dirty="0" err="1"/>
              <a:t>tiên</a:t>
            </a:r>
            <a:endParaRPr lang="en-US" b="1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E87F3-DBEA-CEB2-036A-3D039E673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40A36-1827-04A3-24B6-48A224B50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1EC0A2-52EC-058D-73FE-4425046A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TÓM TẮT NỘI DUNG</a:t>
            </a:r>
          </a:p>
        </p:txBody>
      </p:sp>
    </p:spTree>
    <p:extLst>
      <p:ext uri="{BB962C8B-B14F-4D97-AF65-F5344CB8AC3E}">
        <p14:creationId xmlns:p14="http://schemas.microsoft.com/office/powerpoint/2010/main" val="211383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8999</TotalTime>
  <Words>1084</Words>
  <Application>Microsoft Office PowerPoint</Application>
  <PresentationFormat>Widescreen</PresentationFormat>
  <Paragraphs>152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JavaScript và vấn đề cốt lõi</vt:lpstr>
      <vt:lpstr>JavaScript và vấn đề cốt lõi</vt:lpstr>
      <vt:lpstr>TYPESCRIPT LÀ GÌ?</vt:lpstr>
      <vt:lpstr>TYPESCRIPT LÀ GÌ?</vt:lpstr>
      <vt:lpstr>CÀI ĐẶT MÔI TRƯỜNG VÀ CODE EDITOR</vt:lpstr>
      <vt:lpstr>CÁC BƯỚC KHỞI TẠO DỰ ÁN TYPESCRIPT</vt:lpstr>
      <vt:lpstr>CÀI ĐẶT TYPESCRIPT</vt:lpstr>
      <vt:lpstr>CẤU HÌNH DỰ ÁN</vt:lpstr>
      <vt:lpstr>TẠO FILE VÀ BIÊN DỊCH FILE index.ts</vt:lpstr>
      <vt:lpstr>CHẠY FILE index.js</vt:lpstr>
      <vt:lpstr>CHẠY CHƯƠNG TRÌNH KHÔNG CẦN BIÊN DỊCH</vt:lpstr>
      <vt:lpstr>TÓM TẮT NỘI DUNG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321</cp:revision>
  <dcterms:created xsi:type="dcterms:W3CDTF">2021-12-20T01:48:15Z</dcterms:created>
  <dcterms:modified xsi:type="dcterms:W3CDTF">2026-03-10T08:46:06Z</dcterms:modified>
</cp:coreProperties>
</file>