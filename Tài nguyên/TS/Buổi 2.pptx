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35"/>
  </p:notesMasterIdLst>
  <p:handoutMasterIdLst>
    <p:handoutMasterId r:id="rId36"/>
  </p:handoutMasterIdLst>
  <p:sldIdLst>
    <p:sldId id="259" r:id="rId2"/>
    <p:sldId id="494" r:id="rId3"/>
    <p:sldId id="487" r:id="rId4"/>
    <p:sldId id="502" r:id="rId5"/>
    <p:sldId id="503" r:id="rId6"/>
    <p:sldId id="488" r:id="rId7"/>
    <p:sldId id="511" r:id="rId8"/>
    <p:sldId id="509" r:id="rId9"/>
    <p:sldId id="533" r:id="rId10"/>
    <p:sldId id="507" r:id="rId11"/>
    <p:sldId id="512" r:id="rId12"/>
    <p:sldId id="490" r:id="rId13"/>
    <p:sldId id="515" r:id="rId14"/>
    <p:sldId id="518" r:id="rId15"/>
    <p:sldId id="514" r:id="rId16"/>
    <p:sldId id="530" r:id="rId17"/>
    <p:sldId id="537" r:id="rId18"/>
    <p:sldId id="531" r:id="rId19"/>
    <p:sldId id="538" r:id="rId20"/>
    <p:sldId id="532" r:id="rId21"/>
    <p:sldId id="539" r:id="rId22"/>
    <p:sldId id="491" r:id="rId23"/>
    <p:sldId id="492" r:id="rId24"/>
    <p:sldId id="493" r:id="rId25"/>
    <p:sldId id="535" r:id="rId26"/>
    <p:sldId id="536" r:id="rId27"/>
    <p:sldId id="519" r:id="rId28"/>
    <p:sldId id="495" r:id="rId29"/>
    <p:sldId id="516" r:id="rId30"/>
    <p:sldId id="496" r:id="rId31"/>
    <p:sldId id="497" r:id="rId32"/>
    <p:sldId id="498" r:id="rId33"/>
    <p:sldId id="47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C650AF-D70C-4C72-807E-CA8005841A33}">
          <p14:sldIdLst>
            <p14:sldId id="259"/>
            <p14:sldId id="494"/>
            <p14:sldId id="487"/>
            <p14:sldId id="502"/>
            <p14:sldId id="503"/>
            <p14:sldId id="488"/>
            <p14:sldId id="511"/>
            <p14:sldId id="509"/>
            <p14:sldId id="533"/>
            <p14:sldId id="507"/>
            <p14:sldId id="512"/>
            <p14:sldId id="490"/>
            <p14:sldId id="515"/>
            <p14:sldId id="518"/>
            <p14:sldId id="514"/>
            <p14:sldId id="530"/>
            <p14:sldId id="537"/>
            <p14:sldId id="531"/>
            <p14:sldId id="538"/>
            <p14:sldId id="532"/>
            <p14:sldId id="539"/>
            <p14:sldId id="491"/>
            <p14:sldId id="492"/>
            <p14:sldId id="493"/>
            <p14:sldId id="535"/>
            <p14:sldId id="536"/>
            <p14:sldId id="519"/>
            <p14:sldId id="495"/>
            <p14:sldId id="516"/>
            <p14:sldId id="496"/>
            <p14:sldId id="497"/>
            <p14:sldId id="498"/>
            <p14:sldId id="4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E5"/>
    <a:srgbClr val="0000CC"/>
    <a:srgbClr val="CC0099"/>
    <a:srgbClr val="D8F0FF"/>
    <a:srgbClr val="9BD9FF"/>
    <a:srgbClr val="008EE5"/>
    <a:srgbClr val="03B3DD"/>
    <a:srgbClr val="03B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2" y="114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15930-8719-4C15-9737-2648B85A77A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F2053-7AB1-48B2-9643-49BF192C4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51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456ED-8D73-4DA4-A78C-89D419F66C39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AED4D-2311-4E17-8D7B-C33F7112F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10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AED4D-2311-4E17-8D7B-C33F7112F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57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AED4D-2311-4E17-8D7B-C33F7112F3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91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558" y="1024758"/>
            <a:ext cx="11225047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0000CC"/>
              </a:buClr>
              <a:buFont typeface="Wingdings" pitchFamily="2" charset="2"/>
              <a:buChar char="§"/>
              <a:defRPr sz="2800" b="0">
                <a:latin typeface="Times New Roman" pitchFamily="18" charset="0"/>
                <a:cs typeface="Times New Roman" pitchFamily="18" charset="0"/>
              </a:defRPr>
            </a:lvl1pPr>
            <a:lvl2pPr marL="685800" indent="-228600">
              <a:buClr>
                <a:srgbClr val="FF00FF"/>
              </a:buClr>
              <a:buFont typeface="Arial" pitchFamily="34" charset="0"/>
              <a:buChar char="•"/>
              <a:defRPr sz="2400" b="0"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buClr>
                <a:srgbClr val="009900"/>
              </a:buClr>
              <a:buFont typeface="Courier New" pitchFamily="49" charset="0"/>
              <a:buChar char="o"/>
              <a:defRPr sz="2200" b="0">
                <a:latin typeface="Times New Roman" pitchFamily="18" charset="0"/>
                <a:cs typeface="Times New Roman" pitchFamily="18" charset="0"/>
              </a:defRPr>
            </a:lvl3pPr>
            <a:lvl4pPr>
              <a:defRPr sz="2200" b="0">
                <a:latin typeface="Times New Roman" pitchFamily="18" charset="0"/>
                <a:cs typeface="Times New Roman" pitchFamily="18" charset="0"/>
              </a:defRPr>
            </a:lvl4pPr>
            <a:lvl5pPr>
              <a:defRPr sz="2200" b="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/>
              <a:t>Second </a:t>
            </a:r>
            <a:r>
              <a:rPr lang="en-US" dirty="0"/>
              <a:t>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1" y="6482377"/>
            <a:ext cx="5522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4036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2396360" y="2870"/>
            <a:ext cx="9795640" cy="79662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903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85459"/>
            <a:ext cx="12192000" cy="168050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29" y="3784922"/>
            <a:ext cx="6165669" cy="308104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30" y="3784922"/>
            <a:ext cx="6165669" cy="308104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2377"/>
            <a:ext cx="6026329" cy="38358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812003" y="0"/>
            <a:ext cx="10385077" cy="804707"/>
          </a:xfrm>
          <a:custGeom>
            <a:avLst/>
            <a:gdLst>
              <a:gd name="connsiteX0" fmla="*/ 0 w 9517626"/>
              <a:gd name="connsiteY0" fmla="*/ 0 h 783157"/>
              <a:gd name="connsiteX1" fmla="*/ 9517626 w 9517626"/>
              <a:gd name="connsiteY1" fmla="*/ 0 h 783157"/>
              <a:gd name="connsiteX2" fmla="*/ 9517626 w 9517626"/>
              <a:gd name="connsiteY2" fmla="*/ 783157 h 783157"/>
              <a:gd name="connsiteX3" fmla="*/ 0 w 9517626"/>
              <a:gd name="connsiteY3" fmla="*/ 783157 h 783157"/>
              <a:gd name="connsiteX4" fmla="*/ 0 w 9517626"/>
              <a:gd name="connsiteY4" fmla="*/ 0 h 783157"/>
              <a:gd name="connsiteX0" fmla="*/ 117987 w 9635613"/>
              <a:gd name="connsiteY0" fmla="*/ 0 h 783157"/>
              <a:gd name="connsiteX1" fmla="*/ 9635613 w 9635613"/>
              <a:gd name="connsiteY1" fmla="*/ 0 h 783157"/>
              <a:gd name="connsiteX2" fmla="*/ 9635613 w 9635613"/>
              <a:gd name="connsiteY2" fmla="*/ 783157 h 783157"/>
              <a:gd name="connsiteX3" fmla="*/ 0 w 9635613"/>
              <a:gd name="connsiteY3" fmla="*/ 724164 h 783157"/>
              <a:gd name="connsiteX4" fmla="*/ 117987 w 9635613"/>
              <a:gd name="connsiteY4" fmla="*/ 0 h 78315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783157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81265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4087 w 10087897"/>
              <a:gd name="connsiteY2" fmla="*/ 80122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91707"/>
              <a:gd name="connsiteY0" fmla="*/ 0 h 822487"/>
              <a:gd name="connsiteX1" fmla="*/ 10087897 w 10091707"/>
              <a:gd name="connsiteY1" fmla="*/ 0 h 822487"/>
              <a:gd name="connsiteX2" fmla="*/ 10091707 w 10091707"/>
              <a:gd name="connsiteY2" fmla="*/ 798684 h 822487"/>
              <a:gd name="connsiteX3" fmla="*/ 0 w 10091707"/>
              <a:gd name="connsiteY3" fmla="*/ 822487 h 822487"/>
              <a:gd name="connsiteX4" fmla="*/ 570271 w 10091707"/>
              <a:gd name="connsiteY4" fmla="*/ 0 h 822487"/>
              <a:gd name="connsiteX0" fmla="*/ 557571 w 10079007"/>
              <a:gd name="connsiteY0" fmla="*/ 0 h 804707"/>
              <a:gd name="connsiteX1" fmla="*/ 10075197 w 10079007"/>
              <a:gd name="connsiteY1" fmla="*/ 0 h 804707"/>
              <a:gd name="connsiteX2" fmla="*/ 10079007 w 10079007"/>
              <a:gd name="connsiteY2" fmla="*/ 798684 h 804707"/>
              <a:gd name="connsiteX3" fmla="*/ 0 w 10079007"/>
              <a:gd name="connsiteY3" fmla="*/ 804707 h 804707"/>
              <a:gd name="connsiteX4" fmla="*/ 557571 w 1007900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079007 w 10387617"/>
              <a:gd name="connsiteY2" fmla="*/ 79868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381267 w 10387617"/>
              <a:gd name="connsiteY2" fmla="*/ 80122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5077"/>
              <a:gd name="connsiteY0" fmla="*/ 0 h 804707"/>
              <a:gd name="connsiteX1" fmla="*/ 10385077 w 10385077"/>
              <a:gd name="connsiteY1" fmla="*/ 0 h 804707"/>
              <a:gd name="connsiteX2" fmla="*/ 10381267 w 10385077"/>
              <a:gd name="connsiteY2" fmla="*/ 801224 h 804707"/>
              <a:gd name="connsiteX3" fmla="*/ 0 w 10385077"/>
              <a:gd name="connsiteY3" fmla="*/ 804707 h 804707"/>
              <a:gd name="connsiteX4" fmla="*/ 557571 w 10385077"/>
              <a:gd name="connsiteY4" fmla="*/ 0 h 804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85077" h="804707">
                <a:moveTo>
                  <a:pt x="557571" y="0"/>
                </a:moveTo>
                <a:lnTo>
                  <a:pt x="10385077" y="0"/>
                </a:lnTo>
                <a:cubicBezTo>
                  <a:pt x="10382960" y="266228"/>
                  <a:pt x="10383384" y="534996"/>
                  <a:pt x="10381267" y="801224"/>
                </a:cubicBezTo>
                <a:lnTo>
                  <a:pt x="0" y="804707"/>
                </a:lnTo>
                <a:lnTo>
                  <a:pt x="557571" y="0"/>
                </a:lnTo>
                <a:close/>
              </a:path>
            </a:pathLst>
          </a:custGeom>
          <a:gradFill flip="none" rotWithShape="1">
            <a:gsLst>
              <a:gs pos="0">
                <a:srgbClr val="03B3DD"/>
              </a:gs>
              <a:gs pos="100000">
                <a:srgbClr val="008EE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860" y="-5062"/>
            <a:ext cx="2233324" cy="808230"/>
          </a:xfrm>
          <a:custGeom>
            <a:avLst/>
            <a:gdLst>
              <a:gd name="connsiteX0" fmla="*/ 0 w 1818968"/>
              <a:gd name="connsiteY0" fmla="*/ 0 h 783157"/>
              <a:gd name="connsiteX1" fmla="*/ 1818968 w 1818968"/>
              <a:gd name="connsiteY1" fmla="*/ 0 h 783157"/>
              <a:gd name="connsiteX2" fmla="*/ 1818968 w 1818968"/>
              <a:gd name="connsiteY2" fmla="*/ 783157 h 783157"/>
              <a:gd name="connsiteX3" fmla="*/ 0 w 1818968"/>
              <a:gd name="connsiteY3" fmla="*/ 783157 h 783157"/>
              <a:gd name="connsiteX4" fmla="*/ 0 w 1818968"/>
              <a:gd name="connsiteY4" fmla="*/ 0 h 783157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144780 w 2349910"/>
              <a:gd name="connsiteY0" fmla="*/ 9365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4780 w 2349910"/>
              <a:gd name="connsiteY4" fmla="*/ 93653 h 792990"/>
              <a:gd name="connsiteX0" fmla="*/ 140970 w 2349910"/>
              <a:gd name="connsiteY0" fmla="*/ 221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0970 w 2349910"/>
              <a:gd name="connsiteY4" fmla="*/ 2213 h 79299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79299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80823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33324"/>
              <a:gd name="connsiteY0" fmla="*/ 2213 h 808230"/>
              <a:gd name="connsiteX1" fmla="*/ 2233324 w 2233324"/>
              <a:gd name="connsiteY1" fmla="*/ 0 h 808230"/>
              <a:gd name="connsiteX2" fmla="*/ 1677998 w 2233324"/>
              <a:gd name="connsiteY2" fmla="*/ 808230 h 808230"/>
              <a:gd name="connsiteX3" fmla="*/ 0 w 2233324"/>
              <a:gd name="connsiteY3" fmla="*/ 808230 h 808230"/>
              <a:gd name="connsiteX4" fmla="*/ 0 w 2233324"/>
              <a:gd name="connsiteY4" fmla="*/ 2213 h 808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3324" h="808230">
                <a:moveTo>
                  <a:pt x="0" y="2213"/>
                </a:moveTo>
                <a:lnTo>
                  <a:pt x="2233324" y="0"/>
                </a:lnTo>
                <a:lnTo>
                  <a:pt x="1677998" y="808230"/>
                </a:lnTo>
                <a:lnTo>
                  <a:pt x="0" y="808230"/>
                </a:lnTo>
                <a:lnTo>
                  <a:pt x="0" y="2213"/>
                </a:lnTo>
                <a:close/>
              </a:path>
            </a:pathLst>
          </a:custGeom>
          <a:solidFill>
            <a:srgbClr val="D8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614855" y="1088570"/>
            <a:ext cx="11161986" cy="5249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11" y="129015"/>
            <a:ext cx="1434898" cy="523765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/>
          </p:nvPr>
        </p:nvSpPr>
        <p:spPr>
          <a:xfrm>
            <a:off x="2554014" y="2870"/>
            <a:ext cx="9637985" cy="796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2" y="6482377"/>
            <a:ext cx="4330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1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C0099"/>
        </a:buClr>
        <a:buFont typeface="Wingdings" pitchFamily="2" charset="2"/>
        <a:buChar char="§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00CC"/>
        </a:buClr>
        <a:buFont typeface="Arial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itchFamily="49" charset="0"/>
        <a:buChar char="o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6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98B47F1-B2BA-40A4-9FDB-CF661B783E7A}" type="slidenum">
              <a:rPr lang="en-US" smtClean="0"/>
              <a:t>1</a:t>
            </a:fld>
            <a:endParaRPr lang="en-US"/>
          </a:p>
        </p:txBody>
      </p:sp>
      <p:sp>
        <p:nvSpPr>
          <p:cNvPr id="5" name="Google Shape;136;p29"/>
          <p:cNvSpPr txBox="1">
            <a:spLocks/>
          </p:cNvSpPr>
          <p:nvPr/>
        </p:nvSpPr>
        <p:spPr>
          <a:xfrm>
            <a:off x="2773237" y="107241"/>
            <a:ext cx="4846763" cy="59084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LẬP TRÌNH TYPESCRIPT</a:t>
            </a:r>
          </a:p>
        </p:txBody>
      </p:sp>
      <p:sp>
        <p:nvSpPr>
          <p:cNvPr id="7" name="Google Shape;137;p29"/>
          <p:cNvSpPr txBox="1">
            <a:spLocks/>
          </p:cNvSpPr>
          <p:nvPr/>
        </p:nvSpPr>
        <p:spPr>
          <a:xfrm>
            <a:off x="170328" y="1700981"/>
            <a:ext cx="7449671" cy="28357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itchFamily="18" charset="0"/>
              </a:rPr>
              <a:t>CHƯƠNG 2</a:t>
            </a:r>
            <a:r>
              <a:rPr lang="en-US" sz="2600" dirty="0">
                <a:latin typeface="Times New Roman" panose="02020603050405020304" pitchFamily="18" charset="0"/>
                <a:cs typeface="Times New Roman" pitchFamily="18" charset="0"/>
              </a:rPr>
              <a:t>: </a:t>
            </a:r>
          </a:p>
          <a:p>
            <a:pPr marL="0" indent="0">
              <a:spcBef>
                <a:spcPts val="0"/>
              </a:spcBef>
              <a:buNone/>
            </a:pPr>
            <a:endParaRPr lang="en-US" sz="26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NỀN TẢNG TYPESCRIPT: KIỂU DỮ LIỆU, HÀM VÀ ĐỊNH NGHĨA KIỂU</a:t>
            </a:r>
            <a:endParaRPr lang="en-US" sz="23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70" name="Google Shape;137;p29">
            <a:extLst>
              <a:ext uri="{FF2B5EF4-FFF2-40B4-BE49-F238E27FC236}">
                <a16:creationId xmlns:a16="http://schemas.microsoft.com/office/drawing/2014/main" id="{C5A8A76D-5E3A-4511-9569-D2E55F718EF4}"/>
              </a:ext>
            </a:extLst>
          </p:cNvPr>
          <p:cNvSpPr txBox="1">
            <a:spLocks/>
          </p:cNvSpPr>
          <p:nvPr/>
        </p:nvSpPr>
        <p:spPr>
          <a:xfrm>
            <a:off x="744069" y="4496464"/>
            <a:ext cx="3295303" cy="80099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sz="26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4" name="Picture 10" descr="What is TypeScript">
            <a:extLst>
              <a:ext uri="{FF2B5EF4-FFF2-40B4-BE49-F238E27FC236}">
                <a16:creationId xmlns:a16="http://schemas.microsoft.com/office/drawing/2014/main" id="{826BF309-7710-D27E-2D38-D80F02283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660701"/>
            <a:ext cx="4508545" cy="283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418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6ECC877-94C1-87EE-DAF0-C984760CC7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8014403"/>
              </p:ext>
            </p:extLst>
          </p:nvPr>
        </p:nvGraphicFramePr>
        <p:xfrm>
          <a:off x="134471" y="823491"/>
          <a:ext cx="11932021" cy="3961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2812">
                  <a:extLst>
                    <a:ext uri="{9D8B030D-6E8A-4147-A177-3AD203B41FA5}">
                      <a16:colId xmlns:a16="http://schemas.microsoft.com/office/drawing/2014/main" val="126946024"/>
                    </a:ext>
                  </a:extLst>
                </a:gridCol>
                <a:gridCol w="2150545">
                  <a:extLst>
                    <a:ext uri="{9D8B030D-6E8A-4147-A177-3AD203B41FA5}">
                      <a16:colId xmlns:a16="http://schemas.microsoft.com/office/drawing/2014/main" val="2358336001"/>
                    </a:ext>
                  </a:extLst>
                </a:gridCol>
                <a:gridCol w="3481108">
                  <a:extLst>
                    <a:ext uri="{9D8B030D-6E8A-4147-A177-3AD203B41FA5}">
                      <a16:colId xmlns:a16="http://schemas.microsoft.com/office/drawing/2014/main" val="3097649756"/>
                    </a:ext>
                  </a:extLst>
                </a:gridCol>
                <a:gridCol w="4567556">
                  <a:extLst>
                    <a:ext uri="{9D8B030D-6E8A-4147-A177-3AD203B41FA5}">
                      <a16:colId xmlns:a16="http://schemas.microsoft.com/office/drawing/2014/main" val="3671604333"/>
                    </a:ext>
                  </a:extLst>
                </a:gridCol>
              </a:tblGrid>
              <a:tr h="3957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 khóa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Phạm 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Đặc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điểm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Ví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206770"/>
                  </a:ext>
                </a:extLst>
              </a:tr>
              <a:tr h="4507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§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phép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§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phép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gán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 x = 10;</a:t>
                      </a:r>
                    </a:p>
                    <a:p>
                      <a:pPr algn="just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(true) {</a:t>
                      </a:r>
                    </a:p>
                    <a:p>
                      <a:pPr algn="just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var x = 20;</a:t>
                      </a:r>
                    </a:p>
                    <a:p>
                      <a:pPr algn="just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pPr algn="just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console.log(x); // 20 ❌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đè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982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§"/>
                      </a:pP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phép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§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phép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gán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x = 10;</a:t>
                      </a:r>
                    </a:p>
                    <a:p>
                      <a:pPr algn="just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(true) {</a:t>
                      </a:r>
                    </a:p>
                    <a:p>
                      <a:pPr algn="just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let x = 20;</a:t>
                      </a:r>
                    </a:p>
                    <a:p>
                      <a:pPr algn="just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pPr algn="just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console.log(x); // 10 ✅</a:t>
                      </a:r>
                      <a:endParaRPr lang="vi-V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04842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§"/>
                      </a:pP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phép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§"/>
                      </a:pP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phép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gán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E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</a:t>
                      </a:r>
                      <a:r>
                        <a:rPr lang="es-E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PI = 3.14;</a:t>
                      </a:r>
                    </a:p>
                    <a:p>
                      <a:pPr algn="just">
                        <a:buNone/>
                      </a:pPr>
                      <a:r>
                        <a:rPr lang="es-E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 = 3.15; // ❌ Error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648281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DA38A-1A7D-CAD6-35A2-4128ECB6C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C2E1C-55E0-C5A0-8CF0-F694970DF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4FA143-DEB1-CD83-7124-6E7B3EFEF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LET, CONST, VAR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5FB79C-508F-0971-C1F7-EBBE5997DC66}"/>
              </a:ext>
            </a:extLst>
          </p:cNvPr>
          <p:cNvSpPr txBox="1"/>
          <p:nvPr/>
        </p:nvSpPr>
        <p:spPr>
          <a:xfrm>
            <a:off x="441511" y="4809352"/>
            <a:ext cx="610048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let</a:t>
            </a:r>
          </a:p>
          <a:p>
            <a:pPr lvl="1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</a:t>
            </a:r>
          </a:p>
        </p:txBody>
      </p:sp>
    </p:spTree>
    <p:extLst>
      <p:ext uri="{BB962C8B-B14F-4D97-AF65-F5344CB8AC3E}">
        <p14:creationId xmlns:p14="http://schemas.microsoft.com/office/powerpoint/2010/main" val="2440891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DF46D-EEA2-C4EE-5054-EC9DD32CB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3AD06-ADAF-E110-C03D-5E44DB7AB1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83D001-9B09-0249-A0FA-4F75975C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CÁC KIỂU DỮ LIỆU CƠ BẢN</a:t>
            </a:r>
            <a:endParaRPr lang="en-US"/>
          </a:p>
        </p:txBody>
      </p:sp>
      <p:sp>
        <p:nvSpPr>
          <p:cNvPr id="7" name="AutoShape 3" descr="Kiểu dữ liệu trong JavaScript">
            <a:extLst>
              <a:ext uri="{FF2B5EF4-FFF2-40B4-BE49-F238E27FC236}">
                <a16:creationId xmlns:a16="http://schemas.microsoft.com/office/drawing/2014/main" id="{7334A720-A0B4-DF60-6388-075E40FADE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B6BF17-0010-B411-9264-E2689391DB99}"/>
              </a:ext>
            </a:extLst>
          </p:cNvPr>
          <p:cNvSpPr txBox="1"/>
          <p:nvPr/>
        </p:nvSpPr>
        <p:spPr>
          <a:xfrm>
            <a:off x="93306" y="1506885"/>
            <a:ext cx="644868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thủy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32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endParaRPr lang="en-US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200" b="1" dirty="0">
                <a:solidFill>
                  <a:srgbClr val="0090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vi-VN" sz="3200" b="1" dirty="0" err="1">
                <a:solidFill>
                  <a:srgbClr val="0090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nference</a:t>
            </a:r>
            <a:endParaRPr lang="en-US" sz="3200" b="1" dirty="0">
              <a:solidFill>
                <a:srgbClr val="0090E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Union</a:t>
            </a:r>
          </a:p>
        </p:txBody>
      </p:sp>
    </p:spTree>
    <p:extLst>
      <p:ext uri="{BB962C8B-B14F-4D97-AF65-F5344CB8AC3E}">
        <p14:creationId xmlns:p14="http://schemas.microsoft.com/office/powerpoint/2010/main" val="4163243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4D450-029E-F94F-9E27-EDA2B1259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A5903B-FBB9-60B2-5BA7-F5C42D7B1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60" y="1024758"/>
            <a:ext cx="11824446" cy="5234152"/>
          </a:xfrm>
        </p:spPr>
        <p:txBody>
          <a:bodyPr/>
          <a:lstStyle/>
          <a:p>
            <a:r>
              <a:rPr lang="vi-VN" dirty="0"/>
              <a:t>Những kiểu dữ liệu cơ bản nhất trong </a:t>
            </a:r>
            <a:r>
              <a:rPr lang="vi-VN" dirty="0" err="1"/>
              <a:t>TypeScript</a:t>
            </a:r>
            <a:r>
              <a:rPr lang="vi-VN" dirty="0"/>
              <a:t> được gọi là </a:t>
            </a:r>
            <a:r>
              <a:rPr lang="vi-VN" b="1" dirty="0">
                <a:solidFill>
                  <a:srgbClr val="FF0000"/>
                </a:solidFill>
              </a:rPr>
              <a:t>kiểu nguyên thủy </a:t>
            </a:r>
            <a:r>
              <a:rPr lang="vi-VN" b="1" dirty="0"/>
              <a:t>(</a:t>
            </a:r>
            <a:r>
              <a:rPr lang="vi-VN" b="1" dirty="0" err="1"/>
              <a:t>primitives</a:t>
            </a:r>
            <a:r>
              <a:rPr lang="vi-VN" b="1" dirty="0"/>
              <a:t>)</a:t>
            </a:r>
            <a:r>
              <a:rPr lang="vi-VN" dirty="0"/>
              <a:t>.</a:t>
            </a:r>
          </a:p>
          <a:p>
            <a:r>
              <a:rPr lang="vi-VN" dirty="0"/>
              <a:t>Các kiểu này tạo thành </a:t>
            </a:r>
            <a:r>
              <a:rPr lang="vi-VN" b="1" dirty="0"/>
              <a:t>nền tảng</a:t>
            </a:r>
            <a:r>
              <a:rPr lang="vi-VN" dirty="0"/>
              <a:t> để xây dựng nên những kiểu dữ liệu phức tạp hơn trong ứng dụng của bạn.</a:t>
            </a:r>
          </a:p>
          <a:p>
            <a:r>
              <a:rPr lang="vi-VN" dirty="0" err="1"/>
              <a:t>TypeScript</a:t>
            </a:r>
            <a:r>
              <a:rPr lang="vi-VN" dirty="0"/>
              <a:t> bao gồm </a:t>
            </a:r>
            <a:r>
              <a:rPr lang="vi-VN" b="1" dirty="0"/>
              <a:t>tất cả các kiểu nguyên thủy của </a:t>
            </a:r>
            <a:r>
              <a:rPr lang="vi-VN" b="1" dirty="0" err="1"/>
              <a:t>JavaScript</a:t>
            </a:r>
            <a:r>
              <a:rPr lang="vi-VN" dirty="0"/>
              <a:t>, đồng thời bổ sung thêm </a:t>
            </a:r>
            <a:r>
              <a:rPr lang="vi-VN" b="1" dirty="0"/>
              <a:t>các tính năng về kiểu dữ liệu</a:t>
            </a:r>
            <a:r>
              <a:rPr lang="vi-VN" dirty="0"/>
              <a:t>.</a:t>
            </a:r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b="1" dirty="0"/>
              <a:t>N</a:t>
            </a:r>
            <a:r>
              <a:rPr lang="vi-VN" b="1" dirty="0"/>
              <a:t>ăm kiểu nguyên thủy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r>
              <a:rPr lang="vi-VN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TypeScript</a:t>
            </a:r>
            <a:r>
              <a:rPr lang="vi-VN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rgbClr val="FF0000"/>
                </a:solidFill>
              </a:rPr>
              <a:t>string, number, </a:t>
            </a:r>
            <a:r>
              <a:rPr lang="en-US" b="1" dirty="0" err="1">
                <a:solidFill>
                  <a:srgbClr val="FF0000"/>
                </a:solidFill>
              </a:rPr>
              <a:t>boolean</a:t>
            </a:r>
            <a:r>
              <a:rPr lang="en-US" b="1" dirty="0">
                <a:solidFill>
                  <a:srgbClr val="FF0000"/>
                </a:solidFill>
              </a:rPr>
              <a:t>, null </a:t>
            </a:r>
            <a:r>
              <a:rPr lang="en-US" b="1" dirty="0" err="1">
                <a:solidFill>
                  <a:srgbClr val="FF0000"/>
                </a:solidFill>
              </a:rPr>
              <a:t>và</a:t>
            </a:r>
            <a:r>
              <a:rPr lang="en-US" b="1" dirty="0">
                <a:solidFill>
                  <a:srgbClr val="FF0000"/>
                </a:solidFill>
              </a:rPr>
              <a:t> undefined </a:t>
            </a:r>
            <a:endParaRPr lang="vi-VN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D2A37F-D82B-8166-E4D2-3BDDC0824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797F8-46C6-3D7F-40D9-D628B0784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0DA534-AFF9-51B2-A7F4-7999C6E36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 KIỂU DỮ LIỆU </a:t>
            </a:r>
            <a:r>
              <a:rPr lang="en-US" dirty="0"/>
              <a:t>NGUYÊN THỦY</a:t>
            </a:r>
          </a:p>
        </p:txBody>
      </p:sp>
      <p:sp>
        <p:nvSpPr>
          <p:cNvPr id="7" name="AutoShape 3" descr="Kiểu dữ liệu trong JavaScript">
            <a:extLst>
              <a:ext uri="{FF2B5EF4-FFF2-40B4-BE49-F238E27FC236}">
                <a16:creationId xmlns:a16="http://schemas.microsoft.com/office/drawing/2014/main" id="{D1648916-11CF-28D5-01F9-B4E76C3D5B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70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DDE9AF-5225-2FA7-7D7C-0FABCC149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72" y="799498"/>
            <a:ext cx="12057528" cy="545941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string</a:t>
            </a:r>
            <a:r>
              <a:rPr lang="en-US" b="1" dirty="0"/>
              <a:t> :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let name: string = "TypeScript";</a:t>
            </a:r>
          </a:p>
          <a:p>
            <a:r>
              <a:rPr lang="en-US" b="1" dirty="0">
                <a:solidFill>
                  <a:srgbClr val="FF0000"/>
                </a:solidFill>
              </a:rPr>
              <a:t>number</a:t>
            </a:r>
            <a:r>
              <a:rPr lang="en-US" b="1" dirty="0"/>
              <a:t>: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(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,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let age: number = 25;</a:t>
            </a:r>
          </a:p>
          <a:p>
            <a:r>
              <a:rPr lang="en-US" b="1" dirty="0">
                <a:solidFill>
                  <a:srgbClr val="FF0000"/>
                </a:solidFill>
              </a:rPr>
              <a:t>b</a:t>
            </a:r>
            <a:r>
              <a:rPr lang="vi-VN" b="1" dirty="0" err="1">
                <a:solidFill>
                  <a:srgbClr val="FF0000"/>
                </a:solidFill>
              </a:rPr>
              <a:t>oolean</a:t>
            </a:r>
            <a:r>
              <a:rPr lang="en-US" dirty="0"/>
              <a:t>: </a:t>
            </a:r>
            <a:r>
              <a:rPr lang="vi-VN" dirty="0"/>
              <a:t>Biểu diễn giá trị đúng / sai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vi-VN" dirty="0" err="1"/>
              <a:t>let</a:t>
            </a:r>
            <a:r>
              <a:rPr lang="vi-VN" dirty="0"/>
              <a:t> </a:t>
            </a:r>
            <a:r>
              <a:rPr lang="vi-VN" dirty="0" err="1"/>
              <a:t>isActive</a:t>
            </a:r>
            <a:r>
              <a:rPr lang="vi-VN" dirty="0"/>
              <a:t>: </a:t>
            </a:r>
            <a:r>
              <a:rPr lang="vi-VN" dirty="0" err="1"/>
              <a:t>boolean</a:t>
            </a:r>
            <a:r>
              <a:rPr lang="vi-VN" dirty="0"/>
              <a:t> = </a:t>
            </a:r>
            <a:r>
              <a:rPr lang="vi-VN" dirty="0" err="1"/>
              <a:t>true</a:t>
            </a:r>
            <a:r>
              <a:rPr lang="vi-VN" dirty="0"/>
              <a:t>;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n</a:t>
            </a:r>
            <a:r>
              <a:rPr lang="vi-VN" b="1" dirty="0" err="1">
                <a:solidFill>
                  <a:srgbClr val="FF0000"/>
                </a:solidFill>
              </a:rPr>
              <a:t>ull</a:t>
            </a:r>
            <a:r>
              <a:rPr lang="en-US" dirty="0"/>
              <a:t>: </a:t>
            </a:r>
            <a:r>
              <a:rPr lang="vi-VN" dirty="0"/>
              <a:t>Biểu diễn giá trị “rỗng”, không có dữ liệu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vi-VN" dirty="0" err="1"/>
              <a:t>let</a:t>
            </a:r>
            <a:r>
              <a:rPr lang="vi-VN" dirty="0"/>
              <a:t> </a:t>
            </a:r>
            <a:r>
              <a:rPr lang="vi-VN" dirty="0" err="1"/>
              <a:t>value</a:t>
            </a:r>
            <a:r>
              <a:rPr lang="vi-VN" dirty="0"/>
              <a:t>: </a:t>
            </a:r>
            <a:r>
              <a:rPr lang="en-US" dirty="0"/>
              <a:t>name</a:t>
            </a:r>
            <a:r>
              <a:rPr lang="vi-VN" dirty="0"/>
              <a:t> = </a:t>
            </a:r>
            <a:r>
              <a:rPr lang="vi-VN" dirty="0" err="1"/>
              <a:t>null</a:t>
            </a:r>
            <a:r>
              <a:rPr lang="vi-VN" dirty="0"/>
              <a:t>;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u</a:t>
            </a:r>
            <a:r>
              <a:rPr lang="vi-VN" b="1" dirty="0" err="1">
                <a:solidFill>
                  <a:srgbClr val="FF0000"/>
                </a:solidFill>
              </a:rPr>
              <a:t>ndefined</a:t>
            </a:r>
            <a:r>
              <a:rPr lang="en-US" b="1" dirty="0"/>
              <a:t>: </a:t>
            </a:r>
            <a:r>
              <a:rPr lang="vi-VN" dirty="0"/>
              <a:t>Biểu diễn biến đã khai báo nhưng chưa được gán giá trị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vi-VN" dirty="0" err="1"/>
              <a:t>let</a:t>
            </a:r>
            <a:r>
              <a:rPr lang="vi-VN" dirty="0"/>
              <a:t> </a:t>
            </a:r>
            <a:r>
              <a:rPr lang="vi-VN" dirty="0" err="1"/>
              <a:t>result</a:t>
            </a:r>
            <a:r>
              <a:rPr lang="vi-VN" dirty="0"/>
              <a:t>: </a:t>
            </a:r>
            <a:r>
              <a:rPr lang="en-US" dirty="0"/>
              <a:t>name</a:t>
            </a:r>
            <a:r>
              <a:rPr lang="vi-VN" dirty="0"/>
              <a:t> = </a:t>
            </a:r>
            <a:r>
              <a:rPr lang="vi-VN" dirty="0" err="1"/>
              <a:t>undefined</a:t>
            </a:r>
            <a:r>
              <a:rPr lang="vi-VN" dirty="0"/>
              <a:t>;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FEDBA2-6844-B2A7-6DC8-3C08AD848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CC741-42AA-B905-EB8D-A87D04DD4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1042F8-0929-4AA2-E4E3-592823B1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KIỂU DỮ LIỆU NGUYÊN THỦY</a:t>
            </a:r>
          </a:p>
        </p:txBody>
      </p:sp>
    </p:spTree>
    <p:extLst>
      <p:ext uri="{BB962C8B-B14F-4D97-AF65-F5344CB8AC3E}">
        <p14:creationId xmlns:p14="http://schemas.microsoft.com/office/powerpoint/2010/main" val="2587639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B3621E-0640-285E-64B6-1BB472B5E1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A1C1B-CF74-7C3D-40CF-81D57F115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8A8707-327A-2A62-31BB-BBF736A9B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KIỂU MẢNG</a:t>
            </a:r>
          </a:p>
        </p:txBody>
      </p:sp>
      <p:sp>
        <p:nvSpPr>
          <p:cNvPr id="6" name="AutoShape 2" descr="Mảng (Array) trong TypeScript | openplanning.net">
            <a:extLst>
              <a:ext uri="{FF2B5EF4-FFF2-40B4-BE49-F238E27FC236}">
                <a16:creationId xmlns:a16="http://schemas.microsoft.com/office/drawing/2014/main" id="{9DB4F2AF-8823-6840-738F-AC64490312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1CDE81F-3E5C-350A-6B95-9D6E33C05F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5812" y="2338722"/>
            <a:ext cx="10981764" cy="4064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A8CD25-0271-E0B0-4C8C-FB03A5F4C503}"/>
              </a:ext>
            </a:extLst>
          </p:cNvPr>
          <p:cNvSpPr txBox="1"/>
          <p:nvPr/>
        </p:nvSpPr>
        <p:spPr>
          <a:xfrm>
            <a:off x="278230" y="835863"/>
            <a:ext cx="1157413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một kiểu dữ liệu dùng để lưu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nhiều phần tử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 một biến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477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BDB5-C250-C100-9FE4-130EE173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684C18-AB26-ECA6-81D8-FE113F375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541A3-1156-9A1C-B713-E942EC00F1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635CF32-AD9C-5DFB-14E8-47D960F81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LOẠI KIỂU MẢNG THƯỜNG GẶP</a:t>
            </a:r>
          </a:p>
        </p:txBody>
      </p:sp>
      <p:sp>
        <p:nvSpPr>
          <p:cNvPr id="6" name="AutoShape 2" descr="Mảng (Array) trong TypeScript | openplanning.net">
            <a:extLst>
              <a:ext uri="{FF2B5EF4-FFF2-40B4-BE49-F238E27FC236}">
                <a16:creationId xmlns:a16="http://schemas.microsoft.com/office/drawing/2014/main" id="{9A5DA106-D652-7B73-369B-3F83941246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D14FE9E-14CE-67FB-F392-E9A94DDC78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206391"/>
              </p:ext>
            </p:extLst>
          </p:nvPr>
        </p:nvGraphicFramePr>
        <p:xfrm>
          <a:off x="134471" y="914400"/>
          <a:ext cx="11923059" cy="4805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2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5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5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882">
                <a:tc>
                  <a:txBody>
                    <a:bodyPr/>
                    <a:lstStyle/>
                    <a:p>
                      <a:r>
                        <a:rPr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Loại</a:t>
                      </a:r>
                      <a:r>
                        <a:rPr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mảng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Ví</a:t>
                      </a:r>
                      <a:r>
                        <a:rPr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Đặc</a:t>
                      </a:r>
                      <a:r>
                        <a:rPr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điểm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Mảng 1 kiểu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numbers: number[] = [1, 2, 3];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names: string[] = ["A", "B", "C"];</a:t>
                      </a:r>
                    </a:p>
                    <a:p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chứa</a:t>
                      </a: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một</a:t>
                      </a: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kiểu</a:t>
                      </a: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Mảng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nhiều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kiểu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union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values: (string | number)[] = [1, "hello", 2, "world"];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Chứa nhiều kiểu xác định trước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Mảng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nhiều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kiểu</a:t>
                      </a: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null/undefined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data: (number | null | undefined)[] = [1, null, 3, undefined];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Dùng khi dữ liệu có thể rỗng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Mảng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mọi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kiểu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anything: any[] = [1, "text", true, {}, []];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Chứa mọi kiểu, mất lợi ích TypeScript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Mảng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cố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vị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trí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user: [number, string,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 = [1, "Alice", true];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tử</a:t>
                      </a: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kiểu</a:t>
                      </a: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cố</a:t>
                      </a: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5171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179EF-60D2-2F27-01E6-DD928D518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02C651-98C3-12F1-3BC1-9C51AFE3F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006F6-12E8-BBB6-C76C-96F57F32F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C8DCA5-006B-041B-DD80-CF4510C31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PHÉP TÍNH THƯỜNG DÙNG VỚI MẢNG</a:t>
            </a:r>
          </a:p>
        </p:txBody>
      </p:sp>
      <p:sp>
        <p:nvSpPr>
          <p:cNvPr id="6" name="AutoShape 2" descr="Mảng (Array) trong TypeScript | openplanning.net">
            <a:extLst>
              <a:ext uri="{FF2B5EF4-FFF2-40B4-BE49-F238E27FC236}">
                <a16:creationId xmlns:a16="http://schemas.microsoft.com/office/drawing/2014/main" id="{55151D9B-6889-1FE2-A73D-AAF90E165C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5716CA-B43C-AE17-D56A-3AE4E8DF9F5B}"/>
              </a:ext>
            </a:extLst>
          </p:cNvPr>
          <p:cNvSpPr txBox="1"/>
          <p:nvPr/>
        </p:nvSpPr>
        <p:spPr>
          <a:xfrm>
            <a:off x="278230" y="835863"/>
            <a:ext cx="11574133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fruits: string[] = ["apple", "banana"];</a:t>
            </a:r>
          </a:p>
          <a:p>
            <a:pPr lvl="1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fruits.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("orange");      //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fruits.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                   //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fruits.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("apple");  // true</a:t>
            </a:r>
          </a:p>
          <a:p>
            <a:pPr lvl="1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fruits.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(", ");               // "apple, banana“</a:t>
            </a:r>
          </a:p>
          <a:p>
            <a:pPr lvl="1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fruits.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      // 2</a:t>
            </a:r>
          </a:p>
          <a:p>
            <a:pPr lvl="1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fruits.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        //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lọc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623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3FB0F-6BEB-B45F-B271-D6E1C5615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AA1D6D-764A-4F61-C016-80CB649E6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DF26E-F34A-261A-956D-0537CA607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24E77C0-2B5B-99DF-233F-8A6713C0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DUYỆT MẢNG</a:t>
            </a:r>
          </a:p>
        </p:txBody>
      </p:sp>
      <p:sp>
        <p:nvSpPr>
          <p:cNvPr id="6" name="AutoShape 2" descr="Mảng (Array) trong TypeScript | openplanning.net">
            <a:extLst>
              <a:ext uri="{FF2B5EF4-FFF2-40B4-BE49-F238E27FC236}">
                <a16:creationId xmlns:a16="http://schemas.microsoft.com/office/drawing/2014/main" id="{E7E91D87-923C-F02E-48B8-32EFF8ECEA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734AFB-F1FC-6373-F7D0-FE17A10A0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450248"/>
              </p:ext>
            </p:extLst>
          </p:nvPr>
        </p:nvGraphicFramePr>
        <p:xfrm>
          <a:off x="0" y="914399"/>
          <a:ext cx="12192000" cy="4580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0811736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4399425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61406709"/>
                    </a:ext>
                  </a:extLst>
                </a:gridCol>
              </a:tblGrid>
              <a:tr h="69408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for…of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302592"/>
                  </a:ext>
                </a:extLst>
              </a:tr>
              <a:tr h="388688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number[] = [1, 2, 3, 4];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(let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0;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&lt;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arr.length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++) {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console.log(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]);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number[] = [1, 2, 3, 4];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(const value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{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console.log(value);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number[] = [1, 2, 3, 4];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arr.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forEach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((value, index) =&gt; {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console.log(index, value);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});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146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8567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E5F94-D2B2-11A6-9E00-7C538D919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1E5E44-266E-DA7D-2AAB-FE48C9C7B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67" y="867747"/>
            <a:ext cx="11981421" cy="5391163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r>
              <a:rPr lang="en-US" b="1" dirty="0"/>
              <a:t> 1: </a:t>
            </a:r>
            <a:r>
              <a:rPr lang="vi-VN" dirty="0"/>
              <a:t>Quản lý danh sách lớp học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Yêu</a:t>
            </a:r>
            <a:r>
              <a:rPr lang="en-US" b="1" dirty="0"/>
              <a:t> </a:t>
            </a:r>
            <a:r>
              <a:rPr lang="en-US" b="1" dirty="0" err="1"/>
              <a:t>cầu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"</a:t>
            </a:r>
            <a:r>
              <a:rPr lang="en-US" dirty="0" err="1"/>
              <a:t>ten_lop</a:t>
            </a:r>
            <a:r>
              <a:rPr lang="en-US" dirty="0"/>
              <a:t>"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"</a:t>
            </a:r>
            <a:r>
              <a:rPr lang="en-US" dirty="0" err="1"/>
              <a:t>danh_sach</a:t>
            </a:r>
            <a:r>
              <a:rPr lang="en-US" dirty="0"/>
              <a:t>" 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In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Lớp</a:t>
            </a:r>
            <a:r>
              <a:rPr lang="en-US" dirty="0"/>
              <a:t> [</a:t>
            </a:r>
            <a:r>
              <a:rPr lang="en-US" dirty="0" err="1"/>
              <a:t>ten_lop</a:t>
            </a:r>
            <a:r>
              <a:rPr lang="en-US" dirty="0"/>
              <a:t>] </a:t>
            </a:r>
            <a:r>
              <a:rPr lang="en-US" dirty="0" err="1"/>
              <a:t>có</a:t>
            </a:r>
            <a:r>
              <a:rPr lang="en-US" dirty="0"/>
              <a:t> [?]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. " </a:t>
            </a:r>
          </a:p>
          <a:p>
            <a:pPr lvl="1"/>
            <a:r>
              <a:rPr lang="en-US" dirty="0" err="1"/>
              <a:t>Có</a:t>
            </a:r>
            <a:r>
              <a:rPr lang="en-US" dirty="0"/>
              <a:t> [?]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chữ</a:t>
            </a:r>
            <a:r>
              <a:rPr lang="en-US" dirty="0"/>
              <a:t> "n"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F71B46-279D-85FD-0688-D8D15664A9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82475-5F37-948B-C0E3-E03CCF558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0F1478-55A7-4C82-73DC-C8BDA0AF8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BÀI TẬP THỰC SỐ 1</a:t>
            </a:r>
          </a:p>
        </p:txBody>
      </p:sp>
    </p:spTree>
    <p:extLst>
      <p:ext uri="{BB962C8B-B14F-4D97-AF65-F5344CB8AC3E}">
        <p14:creationId xmlns:p14="http://schemas.microsoft.com/office/powerpoint/2010/main" val="2646800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B906D-1717-65E5-7B24-441CA034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5D85F9-1555-7A67-A24A-B5B8F14D4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9498"/>
            <a:ext cx="12093388" cy="5459412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vi-VN" dirty="0"/>
              <a:t>// 1. Tên lớp</a:t>
            </a:r>
          </a:p>
          <a:p>
            <a:pPr marL="457200" lvl="1" indent="0">
              <a:buNone/>
            </a:pPr>
            <a:r>
              <a:rPr lang="vi-VN" dirty="0" err="1"/>
              <a:t>let</a:t>
            </a:r>
            <a:r>
              <a:rPr lang="vi-VN" dirty="0"/>
              <a:t> </a:t>
            </a:r>
            <a:r>
              <a:rPr lang="vi-VN" dirty="0" err="1"/>
              <a:t>ten_lop</a:t>
            </a:r>
            <a:r>
              <a:rPr lang="vi-VN" dirty="0"/>
              <a:t>: </a:t>
            </a:r>
            <a:r>
              <a:rPr lang="vi-VN" dirty="0" err="1"/>
              <a:t>string</a:t>
            </a:r>
            <a:r>
              <a:rPr lang="vi-VN" dirty="0"/>
              <a:t> = "</a:t>
            </a:r>
            <a:r>
              <a:rPr lang="vi-VN" dirty="0" err="1"/>
              <a:t>TypeScript</a:t>
            </a:r>
            <a:r>
              <a:rPr lang="vi-VN" dirty="0"/>
              <a:t> Cơ Bản";</a:t>
            </a:r>
          </a:p>
          <a:p>
            <a:pPr marL="457200" lvl="1" indent="0">
              <a:buNone/>
            </a:pPr>
            <a:r>
              <a:rPr lang="vi-VN" dirty="0"/>
              <a:t>// 2. Danh sách sinh viên</a:t>
            </a:r>
          </a:p>
          <a:p>
            <a:pPr marL="457200" lvl="1" indent="0">
              <a:buNone/>
            </a:pPr>
            <a:r>
              <a:rPr lang="vi-VN" dirty="0" err="1"/>
              <a:t>let</a:t>
            </a:r>
            <a:r>
              <a:rPr lang="vi-VN" dirty="0"/>
              <a:t> </a:t>
            </a:r>
            <a:r>
              <a:rPr lang="vi-VN" dirty="0" err="1"/>
              <a:t>danh_sach</a:t>
            </a:r>
            <a:r>
              <a:rPr lang="vi-VN" dirty="0"/>
              <a:t>: </a:t>
            </a:r>
            <a:r>
              <a:rPr lang="vi-VN" dirty="0" err="1"/>
              <a:t>string</a:t>
            </a:r>
            <a:r>
              <a:rPr lang="vi-VN" dirty="0"/>
              <a:t>[] = ["An", "Bình", "Chi", "Nam", "Lan"];</a:t>
            </a:r>
          </a:p>
          <a:p>
            <a:pPr marL="457200" lvl="1" indent="0">
              <a:buNone/>
            </a:pPr>
            <a:r>
              <a:rPr lang="vi-VN" dirty="0"/>
              <a:t>// 3. Tổng số sinh viên</a:t>
            </a:r>
          </a:p>
          <a:p>
            <a:pPr marL="457200" lvl="1" indent="0">
              <a:buNone/>
            </a:pPr>
            <a:r>
              <a:rPr lang="vi-VN" dirty="0" err="1"/>
              <a:t>let</a:t>
            </a:r>
            <a:r>
              <a:rPr lang="vi-VN" dirty="0"/>
              <a:t> </a:t>
            </a:r>
            <a:r>
              <a:rPr lang="vi-VN" dirty="0" err="1"/>
              <a:t>tong_sv</a:t>
            </a:r>
            <a:r>
              <a:rPr lang="vi-VN" dirty="0"/>
              <a:t>: </a:t>
            </a:r>
            <a:r>
              <a:rPr lang="vi-VN" dirty="0" err="1"/>
              <a:t>number</a:t>
            </a:r>
            <a:r>
              <a:rPr lang="vi-VN" dirty="0"/>
              <a:t> = </a:t>
            </a:r>
            <a:r>
              <a:rPr lang="vi-VN" dirty="0" err="1"/>
              <a:t>danh_sach.length</a:t>
            </a:r>
            <a:r>
              <a:rPr lang="vi-VN" dirty="0"/>
              <a:t>;</a:t>
            </a:r>
          </a:p>
          <a:p>
            <a:pPr marL="457200" lvl="1" indent="0">
              <a:buNone/>
            </a:pPr>
            <a:r>
              <a:rPr lang="vi-VN" dirty="0"/>
              <a:t>// 4. Lọc sinh viên có tên chứa chữ "n"</a:t>
            </a:r>
          </a:p>
          <a:p>
            <a:pPr marL="457200" lvl="1" indent="0">
              <a:buNone/>
            </a:pPr>
            <a:r>
              <a:rPr lang="vi-VN" dirty="0" err="1"/>
              <a:t>let</a:t>
            </a:r>
            <a:r>
              <a:rPr lang="vi-VN" dirty="0"/>
              <a:t> </a:t>
            </a:r>
            <a:r>
              <a:rPr lang="vi-VN" dirty="0" err="1"/>
              <a:t>sv_chua_n</a:t>
            </a:r>
            <a:r>
              <a:rPr lang="vi-VN" dirty="0"/>
              <a:t>: </a:t>
            </a:r>
            <a:r>
              <a:rPr lang="vi-VN" dirty="0" err="1"/>
              <a:t>string</a:t>
            </a:r>
            <a:r>
              <a:rPr lang="vi-VN" dirty="0"/>
              <a:t>[] = </a:t>
            </a:r>
            <a:r>
              <a:rPr lang="vi-VN" dirty="0" err="1"/>
              <a:t>danh_sach.filter</a:t>
            </a:r>
            <a:r>
              <a:rPr lang="vi-VN" dirty="0"/>
              <a:t>(</a:t>
            </a:r>
          </a:p>
          <a:p>
            <a:pPr marL="457200" lvl="1" indent="0">
              <a:buNone/>
            </a:pPr>
            <a:r>
              <a:rPr lang="vi-VN" dirty="0"/>
              <a:t>  ten =&gt; </a:t>
            </a:r>
            <a:r>
              <a:rPr lang="vi-VN" dirty="0" err="1"/>
              <a:t>ten.toLowerCase</a:t>
            </a:r>
            <a:r>
              <a:rPr lang="vi-VN" dirty="0"/>
              <a:t>().</a:t>
            </a:r>
            <a:r>
              <a:rPr lang="vi-VN" dirty="0" err="1"/>
              <a:t>includes</a:t>
            </a:r>
            <a:r>
              <a:rPr lang="vi-VN" dirty="0"/>
              <a:t>("n")</a:t>
            </a:r>
          </a:p>
          <a:p>
            <a:pPr marL="457200" lvl="1" indent="0">
              <a:buNone/>
            </a:pPr>
            <a:r>
              <a:rPr lang="vi-VN" dirty="0"/>
              <a:t>);</a:t>
            </a:r>
          </a:p>
          <a:p>
            <a:pPr marL="457200" lvl="1" indent="0">
              <a:buNone/>
            </a:pPr>
            <a:r>
              <a:rPr lang="vi-VN" dirty="0"/>
              <a:t>// 5. In kết quả</a:t>
            </a:r>
          </a:p>
          <a:p>
            <a:pPr marL="457200" lvl="1" indent="0">
              <a:buNone/>
            </a:pPr>
            <a:r>
              <a:rPr lang="vi-VN" dirty="0"/>
              <a:t>console.log(`Lớp ${</a:t>
            </a:r>
            <a:r>
              <a:rPr lang="vi-VN" dirty="0" err="1"/>
              <a:t>ten_lop</a:t>
            </a:r>
            <a:r>
              <a:rPr lang="vi-VN" dirty="0"/>
              <a:t>} có ${</a:t>
            </a:r>
            <a:r>
              <a:rPr lang="vi-VN" dirty="0" err="1"/>
              <a:t>tong_sv</a:t>
            </a:r>
            <a:r>
              <a:rPr lang="vi-VN" dirty="0"/>
              <a:t>} sinh viên.`);</a:t>
            </a:r>
          </a:p>
          <a:p>
            <a:pPr marL="457200" lvl="1" indent="0">
              <a:buNone/>
            </a:pPr>
            <a:r>
              <a:rPr lang="vi-VN" dirty="0"/>
              <a:t>console.log(`Có ${</a:t>
            </a:r>
            <a:r>
              <a:rPr lang="vi-VN" dirty="0" err="1"/>
              <a:t>sv_chua_n.length</a:t>
            </a:r>
            <a:r>
              <a:rPr lang="vi-VN" dirty="0"/>
              <a:t>} sinh viên có tên chứa chữ "n".`);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329204-767E-675B-4EA4-0F67C9DC49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3806F-00C8-841A-67FA-D0D74809E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BBA066A-F2B2-D2B3-5EE2-BF95A26B1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BÀI TẬP THỰC HÀNH SỐ 1 </a:t>
            </a:r>
          </a:p>
        </p:txBody>
      </p:sp>
    </p:spTree>
    <p:extLst>
      <p:ext uri="{BB962C8B-B14F-4D97-AF65-F5344CB8AC3E}">
        <p14:creationId xmlns:p14="http://schemas.microsoft.com/office/powerpoint/2010/main" val="3482224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D07B1C-0B08-2F22-8252-0215CF69E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71" y="799498"/>
            <a:ext cx="11896163" cy="5459412"/>
          </a:xfrm>
        </p:spPr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enum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“</a:t>
            </a:r>
            <a:r>
              <a:rPr lang="en-US" dirty="0" err="1"/>
              <a:t>lớp</a:t>
            </a:r>
            <a:r>
              <a:rPr lang="en-US" dirty="0"/>
              <a:t>”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b="1" dirty="0" err="1"/>
              <a:t>biểu</a:t>
            </a:r>
            <a:r>
              <a:rPr lang="en-US" b="1" dirty="0"/>
              <a:t> </a:t>
            </a:r>
            <a:r>
              <a:rPr lang="en-US" b="1" dirty="0" err="1"/>
              <a:t>diễn</a:t>
            </a:r>
            <a:r>
              <a:rPr lang="en-US" b="1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hằng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tên</a:t>
            </a:r>
            <a:r>
              <a:rPr lang="en-US" dirty="0"/>
              <a:t> (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thể</a:t>
            </a:r>
            <a:r>
              <a:rPr lang="en-US" b="1" dirty="0"/>
              <a:t> </a:t>
            </a:r>
            <a:r>
              <a:rPr lang="en-US" b="1" dirty="0" err="1"/>
              <a:t>thay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dirty="0"/>
              <a:t>).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enum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b="1" dirty="0" err="1"/>
              <a:t>hai</a:t>
            </a:r>
            <a:r>
              <a:rPr lang="en-US" b="1" dirty="0"/>
              <a:t> </a:t>
            </a:r>
            <a:r>
              <a:rPr lang="en-US" b="1" dirty="0" err="1"/>
              <a:t>dạng</a:t>
            </a:r>
            <a:r>
              <a:rPr lang="en-US" dirty="0"/>
              <a:t>: </a:t>
            </a:r>
            <a:r>
              <a:rPr lang="en-US" b="1" dirty="0" err="1"/>
              <a:t>enum</a:t>
            </a:r>
            <a:r>
              <a:rPr lang="en-US" b="1" dirty="0"/>
              <a:t> </a:t>
            </a:r>
            <a:r>
              <a:rPr lang="en-US" b="1" dirty="0" err="1"/>
              <a:t>chuỗi</a:t>
            </a:r>
            <a:r>
              <a:rPr lang="en-US" b="1" dirty="0"/>
              <a:t> (string </a:t>
            </a:r>
            <a:r>
              <a:rPr lang="en-US" b="1" dirty="0" err="1"/>
              <a:t>enum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 err="1"/>
              <a:t>enum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(numeric </a:t>
            </a:r>
            <a:r>
              <a:rPr lang="en-US" b="1" dirty="0" err="1"/>
              <a:t>enum</a:t>
            </a:r>
            <a:r>
              <a:rPr lang="en-US" b="1" dirty="0"/>
              <a:t>)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err="1">
                <a:solidFill>
                  <a:srgbClr val="7030A0"/>
                </a:solidFill>
              </a:rPr>
              <a:t>numberric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 err="1">
                <a:solidFill>
                  <a:srgbClr val="7030A0"/>
                </a:solidFill>
              </a:rPr>
              <a:t>enum</a:t>
            </a:r>
            <a:endParaRPr lang="en-US" b="1" dirty="0">
              <a:solidFill>
                <a:srgbClr val="7030A0"/>
              </a:solidFill>
            </a:endParaRPr>
          </a:p>
          <a:p>
            <a:pPr marL="914400" lvl="2" indent="0">
              <a:buNone/>
            </a:pPr>
            <a:r>
              <a:rPr lang="en-US" sz="2000" dirty="0" err="1"/>
              <a:t>enum</a:t>
            </a:r>
            <a:r>
              <a:rPr lang="en-US" sz="2000" dirty="0"/>
              <a:t> </a:t>
            </a:r>
            <a:r>
              <a:rPr lang="en-US" sz="2000" dirty="0" err="1"/>
              <a:t>CardinalDirections</a:t>
            </a:r>
            <a:r>
              <a:rPr lang="en-US" sz="2000" dirty="0"/>
              <a:t> {</a:t>
            </a:r>
            <a:br>
              <a:rPr lang="en-US" sz="2000" dirty="0"/>
            </a:br>
            <a:r>
              <a:rPr lang="en-US" sz="2000" dirty="0"/>
              <a:t>  North,</a:t>
            </a:r>
            <a:br>
              <a:rPr lang="en-US" sz="2000" dirty="0"/>
            </a:br>
            <a:r>
              <a:rPr lang="en-US" sz="2000" dirty="0"/>
              <a:t>  East,</a:t>
            </a:r>
            <a:br>
              <a:rPr lang="en-US" sz="2000" dirty="0"/>
            </a:br>
            <a:r>
              <a:rPr lang="en-US" sz="2000" dirty="0"/>
              <a:t>  South,</a:t>
            </a:r>
            <a:br>
              <a:rPr lang="en-US" sz="2000" dirty="0"/>
            </a:br>
            <a:r>
              <a:rPr lang="en-US" sz="2000" dirty="0"/>
              <a:t>  West</a:t>
            </a:r>
            <a:br>
              <a:rPr lang="en-US" sz="2000" dirty="0"/>
            </a:br>
            <a:r>
              <a:rPr lang="en-US" sz="2000" dirty="0"/>
              <a:t>}</a:t>
            </a:r>
            <a:br>
              <a:rPr lang="en-US" sz="2000" dirty="0"/>
            </a:br>
            <a:r>
              <a:rPr lang="en-US" sz="2000" dirty="0"/>
              <a:t>let </a:t>
            </a:r>
            <a:r>
              <a:rPr lang="en-US" sz="2000" dirty="0" err="1"/>
              <a:t>currentDirection</a:t>
            </a:r>
            <a:r>
              <a:rPr lang="en-US" sz="2000" dirty="0"/>
              <a:t> = </a:t>
            </a:r>
            <a:r>
              <a:rPr lang="en-US" sz="2000" dirty="0" err="1"/>
              <a:t>CardinalDirections.North</a:t>
            </a:r>
            <a:r>
              <a:rPr lang="en-US" sz="2000" dirty="0"/>
              <a:t>;</a:t>
            </a:r>
            <a:br>
              <a:rPr lang="en-US" sz="2000" dirty="0"/>
            </a:br>
            <a:r>
              <a:rPr lang="en-US" sz="2000" dirty="0"/>
              <a:t>// logs 0</a:t>
            </a:r>
            <a:br>
              <a:rPr lang="en-US" sz="2000" dirty="0"/>
            </a:br>
            <a:r>
              <a:rPr lang="en-US" sz="2000" dirty="0"/>
              <a:t>console.log(</a:t>
            </a:r>
            <a:r>
              <a:rPr lang="en-US" sz="2000" dirty="0" err="1"/>
              <a:t>currentDirection</a:t>
            </a:r>
            <a:r>
              <a:rPr lang="en-US" sz="2000" dirty="0"/>
              <a:t>);</a:t>
            </a:r>
            <a:br>
              <a:rPr lang="en-US" sz="2000" dirty="0"/>
            </a:br>
            <a:r>
              <a:rPr lang="en-US" sz="2000" dirty="0"/>
              <a:t>// throws error as 'North' is not a valid </a:t>
            </a:r>
            <a:r>
              <a:rPr lang="en-US" sz="2000" dirty="0" err="1"/>
              <a:t>enum</a:t>
            </a:r>
            <a:br>
              <a:rPr lang="en-US" sz="2000" dirty="0"/>
            </a:br>
            <a:r>
              <a:rPr lang="en-US" sz="2000" dirty="0" err="1"/>
              <a:t>currentDirection</a:t>
            </a:r>
            <a:r>
              <a:rPr lang="en-US" sz="2000" dirty="0"/>
              <a:t> = 'North'; // Error: "North" is not assignable to type '</a:t>
            </a:r>
            <a:r>
              <a:rPr lang="en-US" sz="2000" dirty="0" err="1"/>
              <a:t>CardinalDirections</a:t>
            </a:r>
            <a:r>
              <a:rPr lang="en-US" sz="2000" dirty="0"/>
              <a:t>'.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5B39C9-B4E8-B8D6-0EF2-F9ED6F6CD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C9822-8DBE-12C1-16D3-FD531F0FE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3911DE-1927-CE33-1F0A-B65477A64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KIỂU ENUM</a:t>
            </a:r>
          </a:p>
        </p:txBody>
      </p:sp>
    </p:spTree>
    <p:extLst>
      <p:ext uri="{BB962C8B-B14F-4D97-AF65-F5344CB8AC3E}">
        <p14:creationId xmlns:p14="http://schemas.microsoft.com/office/powerpoint/2010/main" val="984211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B8BA9-7B84-E2FA-4E1E-B3E3A25A0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43E211-C125-CD34-7989-929EC6C2D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71" y="799498"/>
            <a:ext cx="11896163" cy="5459412"/>
          </a:xfrm>
        </p:spPr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enum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b="1" dirty="0" err="1"/>
              <a:t>hai</a:t>
            </a:r>
            <a:r>
              <a:rPr lang="en-US" b="1" dirty="0"/>
              <a:t> </a:t>
            </a:r>
            <a:r>
              <a:rPr lang="en-US" b="1" dirty="0" err="1"/>
              <a:t>dạng</a:t>
            </a:r>
            <a:r>
              <a:rPr lang="en-US" dirty="0"/>
              <a:t>: </a:t>
            </a:r>
            <a:r>
              <a:rPr lang="en-US" b="1" dirty="0" err="1"/>
              <a:t>enum</a:t>
            </a:r>
            <a:r>
              <a:rPr lang="en-US" b="1" dirty="0"/>
              <a:t> </a:t>
            </a:r>
            <a:r>
              <a:rPr lang="en-US" b="1" dirty="0" err="1"/>
              <a:t>chuỗi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string </a:t>
            </a:r>
            <a:r>
              <a:rPr lang="en-US" b="1" dirty="0" err="1">
                <a:solidFill>
                  <a:srgbClr val="FF0000"/>
                </a:solidFill>
              </a:rPr>
              <a:t>enum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 err="1"/>
              <a:t>enum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(</a:t>
            </a:r>
            <a:r>
              <a:rPr lang="en-US" b="1" dirty="0">
                <a:solidFill>
                  <a:srgbClr val="FF0000"/>
                </a:solidFill>
              </a:rPr>
              <a:t>numeric </a:t>
            </a:r>
            <a:r>
              <a:rPr lang="en-US" b="1" dirty="0" err="1">
                <a:solidFill>
                  <a:srgbClr val="FF0000"/>
                </a:solidFill>
              </a:rPr>
              <a:t>enum</a:t>
            </a:r>
            <a:r>
              <a:rPr lang="en-US" b="1" dirty="0"/>
              <a:t>)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7030A0"/>
                </a:solidFill>
              </a:rPr>
              <a:t>string </a:t>
            </a:r>
            <a:r>
              <a:rPr lang="en-US" b="1" dirty="0" err="1">
                <a:solidFill>
                  <a:srgbClr val="7030A0"/>
                </a:solidFill>
              </a:rPr>
              <a:t>enum</a:t>
            </a:r>
            <a:endParaRPr lang="en-US" b="1" dirty="0">
              <a:solidFill>
                <a:srgbClr val="7030A0"/>
              </a:solidFill>
            </a:endParaRPr>
          </a:p>
          <a:p>
            <a:pPr marL="914400" lvl="2" indent="0">
              <a:buNone/>
            </a:pPr>
            <a:r>
              <a:rPr lang="en-US" sz="2000" dirty="0" err="1"/>
              <a:t>enum</a:t>
            </a:r>
            <a:r>
              <a:rPr lang="en-US" sz="2000" dirty="0"/>
              <a:t> Role {</a:t>
            </a:r>
          </a:p>
          <a:p>
            <a:pPr marL="914400" lvl="2" indent="0">
              <a:buNone/>
            </a:pPr>
            <a:r>
              <a:rPr lang="en-US" sz="2000" dirty="0"/>
              <a:t>  Admin = "ADMIN",</a:t>
            </a:r>
          </a:p>
          <a:p>
            <a:pPr marL="914400" lvl="2" indent="0">
              <a:buNone/>
            </a:pPr>
            <a:r>
              <a:rPr lang="en-US" sz="2000" dirty="0"/>
              <a:t>  User = "USER"</a:t>
            </a:r>
          </a:p>
          <a:p>
            <a:pPr marL="914400" lvl="2" indent="0">
              <a:buNone/>
            </a:pPr>
            <a:r>
              <a:rPr lang="en-US" sz="2000" dirty="0"/>
              <a:t>}</a:t>
            </a:r>
          </a:p>
          <a:p>
            <a:pPr marL="914400" lvl="2" indent="0">
              <a:buNone/>
            </a:pPr>
            <a:r>
              <a:rPr lang="en-US" sz="2000" dirty="0"/>
              <a:t>let </a:t>
            </a:r>
            <a:r>
              <a:rPr lang="en-US" sz="2000" dirty="0" err="1"/>
              <a:t>currentDirection</a:t>
            </a:r>
            <a:r>
              <a:rPr lang="en-US" sz="2000" dirty="0"/>
              <a:t> = </a:t>
            </a:r>
            <a:r>
              <a:rPr lang="en-US" sz="2000" dirty="0" err="1"/>
              <a:t>Role.Admin</a:t>
            </a:r>
            <a:r>
              <a:rPr lang="en-US" sz="2000" dirty="0"/>
              <a:t>;</a:t>
            </a:r>
            <a:br>
              <a:rPr lang="en-US" sz="2000" dirty="0"/>
            </a:br>
            <a:r>
              <a:rPr lang="en-US" sz="2000" dirty="0"/>
              <a:t>// logs "ADMIN"</a:t>
            </a:r>
            <a:br>
              <a:rPr lang="en-US" sz="2000" dirty="0"/>
            </a:br>
            <a:r>
              <a:rPr lang="en-US" sz="2000" dirty="0"/>
              <a:t>console.log(</a:t>
            </a:r>
            <a:r>
              <a:rPr lang="en-US" sz="2000" dirty="0" err="1"/>
              <a:t>currentDirection</a:t>
            </a:r>
            <a:r>
              <a:rPr lang="en-US" sz="2000" dirty="0"/>
              <a:t>);</a:t>
            </a:r>
            <a:br>
              <a:rPr lang="en-US" sz="2000" dirty="0"/>
            </a:br>
            <a:endParaRPr lang="en-US" sz="2000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6FF45B-D838-5455-DF81-21C5C03D34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B6596-D159-FD0C-5F9C-CA83C1F8D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33D230-BDF8-25CE-6A2F-D59ACCBA3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KIỂU ENUM</a:t>
            </a:r>
          </a:p>
        </p:txBody>
      </p:sp>
    </p:spTree>
    <p:extLst>
      <p:ext uri="{BB962C8B-B14F-4D97-AF65-F5344CB8AC3E}">
        <p14:creationId xmlns:p14="http://schemas.microsoft.com/office/powerpoint/2010/main" val="3847453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23E55-B5C9-0EEF-7ABA-1D1C1A89B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52B8D5-B906-5E65-22FB-C5E8F22E4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71" y="799498"/>
            <a:ext cx="11896163" cy="5459412"/>
          </a:xfrm>
        </p:spPr>
        <p:txBody>
          <a:bodyPr>
            <a:normAutofit/>
          </a:bodyPr>
          <a:lstStyle/>
          <a:p>
            <a:r>
              <a:rPr lang="vi-VN" b="1" dirty="0" err="1">
                <a:solidFill>
                  <a:srgbClr val="FF0000"/>
                </a:solidFill>
              </a:rPr>
              <a:t>object</a:t>
            </a:r>
            <a:r>
              <a:rPr lang="vi-VN" dirty="0"/>
              <a:t> là kiểu dữ liệu dùng để mô tả </a:t>
            </a:r>
            <a:r>
              <a:rPr lang="vi-VN" b="1" dirty="0"/>
              <a:t>một giá trị dạng đối tượng</a:t>
            </a:r>
            <a:r>
              <a:rPr lang="vi-VN" dirty="0"/>
              <a:t> (</a:t>
            </a:r>
            <a:r>
              <a:rPr lang="vi-VN" dirty="0" err="1"/>
              <a:t>key</a:t>
            </a:r>
            <a:r>
              <a:rPr lang="vi-VN" dirty="0"/>
              <a:t>–</a:t>
            </a:r>
            <a:r>
              <a:rPr lang="vi-VN" dirty="0" err="1"/>
              <a:t>value</a:t>
            </a:r>
            <a:r>
              <a:rPr lang="vi-VN" dirty="0"/>
              <a:t>)</a:t>
            </a:r>
            <a:endParaRPr lang="en-US" dirty="0"/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:</a:t>
            </a:r>
          </a:p>
          <a:p>
            <a:pPr marL="914400" lvl="2" indent="0">
              <a:buNone/>
            </a:pPr>
            <a:r>
              <a:rPr lang="en-US" sz="2400" dirty="0"/>
              <a:t>let person: {</a:t>
            </a:r>
          </a:p>
          <a:p>
            <a:pPr marL="914400" lvl="2" indent="0">
              <a:buNone/>
            </a:pPr>
            <a:r>
              <a:rPr lang="en-US" sz="2400" dirty="0"/>
              <a:t>  name: string;</a:t>
            </a:r>
          </a:p>
          <a:p>
            <a:pPr marL="914400" lvl="2" indent="0">
              <a:buNone/>
            </a:pPr>
            <a:r>
              <a:rPr lang="en-US" sz="2400" dirty="0"/>
              <a:t>  age: number;</a:t>
            </a:r>
          </a:p>
          <a:p>
            <a:pPr marL="914400" lvl="2" indent="0">
              <a:buNone/>
            </a:pPr>
            <a:r>
              <a:rPr lang="en-US" sz="2400" dirty="0"/>
              <a:t>} = {</a:t>
            </a:r>
          </a:p>
          <a:p>
            <a:pPr marL="914400" lvl="2" indent="0">
              <a:buNone/>
            </a:pPr>
            <a:r>
              <a:rPr lang="en-US" sz="2400" dirty="0"/>
              <a:t>  name: "An",</a:t>
            </a:r>
          </a:p>
          <a:p>
            <a:pPr marL="914400" lvl="2" indent="0">
              <a:buNone/>
            </a:pPr>
            <a:r>
              <a:rPr lang="en-US" sz="2400" dirty="0"/>
              <a:t>  age: 25</a:t>
            </a:r>
          </a:p>
          <a:p>
            <a:pPr marL="914400" lvl="2" indent="0">
              <a:buNone/>
            </a:pPr>
            <a:r>
              <a:rPr lang="en-US" sz="2400" dirty="0"/>
              <a:t>};</a:t>
            </a:r>
          </a:p>
          <a:p>
            <a:pPr marL="914400" lvl="2" indent="0">
              <a:buNone/>
            </a:pPr>
            <a:endParaRPr lang="en-US" sz="2400" dirty="0"/>
          </a:p>
          <a:p>
            <a:pPr marL="914400" lvl="2" indent="0">
              <a:buNone/>
            </a:pPr>
            <a:r>
              <a:rPr lang="en-US" sz="2400" dirty="0"/>
              <a:t>person.name;  </a:t>
            </a:r>
          </a:p>
          <a:p>
            <a:pPr marL="0" indent="0">
              <a:buNone/>
            </a:pPr>
            <a:br>
              <a:rPr lang="en-US" sz="2000" dirty="0"/>
            </a:br>
            <a:endParaRPr lang="en-US" sz="2000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BA3A4B-03A4-95EA-44C0-716D8AE946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1616A-A632-C6FA-A315-375715A7E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2A82B34-849B-A850-CB05-E22111F6F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KIỂU OBJECT</a:t>
            </a:r>
          </a:p>
        </p:txBody>
      </p:sp>
    </p:spTree>
    <p:extLst>
      <p:ext uri="{BB962C8B-B14F-4D97-AF65-F5344CB8AC3E}">
        <p14:creationId xmlns:p14="http://schemas.microsoft.com/office/powerpoint/2010/main" val="1947610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5B2D29-C8CA-D619-19D3-6B60C7969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66" y="1024758"/>
            <a:ext cx="11682739" cy="5234152"/>
          </a:xfrm>
        </p:spPr>
        <p:txBody>
          <a:bodyPr/>
          <a:lstStyle/>
          <a:p>
            <a:r>
              <a:rPr lang="en-US" b="1" dirty="0" err="1"/>
              <a:t>Khái</a:t>
            </a:r>
            <a:r>
              <a:rPr lang="en-US" b="1" dirty="0"/>
              <a:t> </a:t>
            </a:r>
            <a:r>
              <a:rPr lang="en-US" b="1" dirty="0" err="1"/>
              <a:t>niệm</a:t>
            </a:r>
            <a:r>
              <a:rPr lang="en-US" b="1" dirty="0"/>
              <a:t>:</a:t>
            </a:r>
          </a:p>
          <a:p>
            <a:pPr lvl="1"/>
            <a:r>
              <a:rPr lang="vi-VN" b="1" dirty="0" err="1"/>
              <a:t>Interface</a:t>
            </a:r>
            <a:r>
              <a:rPr lang="vi-VN" dirty="0"/>
              <a:t> dùng để </a:t>
            </a:r>
            <a:r>
              <a:rPr lang="vi-VN" b="1" dirty="0"/>
              <a:t>mô tả cấu trúc của đối tượng</a:t>
            </a:r>
            <a:r>
              <a:rPr lang="vi-VN" dirty="0"/>
              <a:t>.</a:t>
            </a:r>
            <a:endParaRPr lang="en-US" dirty="0"/>
          </a:p>
          <a:p>
            <a:pPr lvl="1"/>
            <a:r>
              <a:rPr lang="vi-VN" b="1" dirty="0" err="1"/>
              <a:t>Interface</a:t>
            </a:r>
            <a:r>
              <a:rPr lang="vi-VN" dirty="0"/>
              <a:t> dùng để </a:t>
            </a:r>
            <a:r>
              <a:rPr lang="vi-VN" b="1" dirty="0"/>
              <a:t>mô tả cấu trúc của đối tượng</a:t>
            </a:r>
            <a:r>
              <a:rPr lang="vi-VN" dirty="0"/>
              <a:t>.</a:t>
            </a:r>
            <a:endParaRPr lang="en-US" dirty="0"/>
          </a:p>
          <a:p>
            <a:pPr lvl="1"/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b="1" dirty="0"/>
              <a:t>TypeScript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kiểu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.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87A9FC-5405-F122-7FA9-0CF888A2A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43312-6731-EB0B-D597-0A70DE2C3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71E8B3A-A4E5-7A98-9624-4E2887F41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INTERFACE TRONG TYPESCRIPT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7AFE65-528A-9F3F-38C5-C2433FAE1B3B}"/>
              </a:ext>
            </a:extLst>
          </p:cNvPr>
          <p:cNvSpPr txBox="1"/>
          <p:nvPr/>
        </p:nvSpPr>
        <p:spPr>
          <a:xfrm>
            <a:off x="399394" y="2762300"/>
            <a:ext cx="22989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Cú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0E3961-F039-4F93-EA5F-A69E72B4C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02" y="3342460"/>
            <a:ext cx="5027373" cy="24398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81EF7D-9584-FF03-2499-578D898222B8}"/>
              </a:ext>
            </a:extLst>
          </p:cNvPr>
          <p:cNvSpPr txBox="1"/>
          <p:nvPr/>
        </p:nvSpPr>
        <p:spPr>
          <a:xfrm>
            <a:off x="6033184" y="2713426"/>
            <a:ext cx="18186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FFF1D4-F6F3-3877-4653-C60B7D1E1836}"/>
              </a:ext>
            </a:extLst>
          </p:cNvPr>
          <p:cNvSpPr txBox="1"/>
          <p:nvPr/>
        </p:nvSpPr>
        <p:spPr>
          <a:xfrm>
            <a:off x="5983086" y="3294098"/>
            <a:ext cx="60990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→ từ khóa khai báo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TenInterface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→ tên 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thuocTinh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→ tên thuộc tính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kieuDuLieu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→ kiểu dữ liệu (string, number, boolean, array…)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B71957-4079-5759-E913-18F6A1D1E3B9}"/>
              </a:ext>
            </a:extLst>
          </p:cNvPr>
          <p:cNvCxnSpPr/>
          <p:nvPr/>
        </p:nvCxnSpPr>
        <p:spPr>
          <a:xfrm>
            <a:off x="5558116" y="2905780"/>
            <a:ext cx="0" cy="2598549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914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17BC3-1ECF-B696-68BB-C22DD8521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D85B91-2026-ADDA-10A2-4FBD44E3B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0B02B-10B9-9FEA-CFB7-BCB736106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E15F499-EE22-1764-E750-DDD0BC107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INTERFACE TRONG TYPESCRIPT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9316EC-EF47-03E0-E9CC-3B1E9528C54D}"/>
              </a:ext>
            </a:extLst>
          </p:cNvPr>
          <p:cNvSpPr txBox="1"/>
          <p:nvPr/>
        </p:nvSpPr>
        <p:spPr>
          <a:xfrm>
            <a:off x="567558" y="1440972"/>
            <a:ext cx="14843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B95298-4948-D9C2-A1D5-94C8458C6F1B}"/>
              </a:ext>
            </a:extLst>
          </p:cNvPr>
          <p:cNvSpPr txBox="1"/>
          <p:nvPr/>
        </p:nvSpPr>
        <p:spPr>
          <a:xfrm>
            <a:off x="6004560" y="1550668"/>
            <a:ext cx="3825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2F9E25-66B0-7058-5A84-A004EC650260}"/>
              </a:ext>
            </a:extLst>
          </p:cNvPr>
          <p:cNvSpPr txBox="1"/>
          <p:nvPr/>
        </p:nvSpPr>
        <p:spPr>
          <a:xfrm>
            <a:off x="5735028" y="2249484"/>
            <a:ext cx="645697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Khai báo một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tên là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IPerson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Chữ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đứng đầu là quy ước đặt tên (nhiều người dùng) để cho thấy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đây là Interface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không phải class hay object.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kiểu chuỗi (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kiểu số (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isStudent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kiểu đúng/sai (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B213F9-92EA-E933-C6C9-7F6627A28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58" y="1964192"/>
            <a:ext cx="4196466" cy="25782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14A4BFA-1C85-4B38-554F-A8BAFBDBDE0A}"/>
              </a:ext>
            </a:extLst>
          </p:cNvPr>
          <p:cNvCxnSpPr/>
          <p:nvPr/>
        </p:nvCxnSpPr>
        <p:spPr>
          <a:xfrm>
            <a:off x="5459504" y="1943864"/>
            <a:ext cx="0" cy="2598549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140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2883A5-72D2-B29C-8D63-FEE619A39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Khái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niệm</a:t>
            </a:r>
            <a:r>
              <a:rPr lang="en-US" dirty="0"/>
              <a:t>: </a:t>
            </a:r>
          </a:p>
          <a:p>
            <a:pPr lvl="1"/>
            <a:r>
              <a:rPr lang="vi-VN" dirty="0"/>
              <a:t>Dùng để </a:t>
            </a:r>
            <a:r>
              <a:rPr lang="vi-VN" b="1" dirty="0"/>
              <a:t>định nghĩa một tên mới </a:t>
            </a:r>
            <a:r>
              <a:rPr lang="vi-VN" dirty="0"/>
              <a:t>cho một kiểu dữ liệu (đơn giản hoặc phức tạp).</a:t>
            </a:r>
            <a:endParaRPr lang="en-US" dirty="0"/>
          </a:p>
          <a:p>
            <a:pPr lvl="1"/>
            <a:r>
              <a:rPr lang="vi-VN" dirty="0"/>
              <a:t> Không tạo ra kiểu mới, chỉ </a:t>
            </a:r>
            <a:r>
              <a:rPr lang="vi-VN" b="1" dirty="0"/>
              <a:t>đặt bí danh </a:t>
            </a:r>
            <a:r>
              <a:rPr lang="vi-VN" dirty="0"/>
              <a:t>cho kiểu có sẵn.</a:t>
            </a:r>
            <a:endParaRPr lang="en-US" dirty="0"/>
          </a:p>
          <a:p>
            <a:r>
              <a:rPr lang="en-US" b="1" dirty="0" err="1">
                <a:solidFill>
                  <a:srgbClr val="FF0000"/>
                </a:solidFill>
              </a:rPr>
              <a:t>Mục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đích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sử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dụng</a:t>
            </a:r>
            <a:r>
              <a:rPr lang="en-US" dirty="0"/>
              <a:t>:</a:t>
            </a:r>
          </a:p>
          <a:p>
            <a:pPr lvl="1"/>
            <a:r>
              <a:rPr lang="vi-VN" b="1" dirty="0"/>
              <a:t>Đơn giản hóa </a:t>
            </a:r>
            <a:r>
              <a:rPr lang="vi-VN" b="1" dirty="0" err="1"/>
              <a:t>code</a:t>
            </a:r>
            <a:r>
              <a:rPr lang="vi-VN" dirty="0"/>
              <a:t> khi kiểu dữ liệu dài hoặc lồng nhau.</a:t>
            </a:r>
            <a:endParaRPr lang="en-US" dirty="0"/>
          </a:p>
          <a:p>
            <a:pPr lvl="1"/>
            <a:r>
              <a:rPr lang="en-US" b="1" dirty="0"/>
              <a:t>Tái </a:t>
            </a:r>
            <a:r>
              <a:rPr lang="en-US" b="1" dirty="0" err="1"/>
              <a:t>sử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</a:t>
            </a:r>
          </a:p>
          <a:p>
            <a:pPr lvl="1"/>
            <a:r>
              <a:rPr lang="en-US" b="1" dirty="0" err="1"/>
              <a:t>Dễ</a:t>
            </a:r>
            <a:r>
              <a:rPr lang="en-US" b="1" dirty="0"/>
              <a:t> </a:t>
            </a:r>
            <a:r>
              <a:rPr lang="en-US" b="1" dirty="0" err="1"/>
              <a:t>bảo</a:t>
            </a:r>
            <a:r>
              <a:rPr lang="en-US" b="1" dirty="0"/>
              <a:t> </a:t>
            </a:r>
            <a:r>
              <a:rPr lang="en-US" b="1" dirty="0" err="1"/>
              <a:t>trì</a:t>
            </a:r>
            <a:r>
              <a:rPr lang="en-US" dirty="0"/>
              <a:t>,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EC0393-4341-DF94-CE7F-664311679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9BEBF-2AC4-D39C-AF1D-614A705EB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7A4E71D-213C-DC82-3B1D-4CCE208BC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 ALIAS</a:t>
            </a:r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4200094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485F6-8624-0A96-A236-EF9EF176C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90A5D-230D-551C-2D5A-870800725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30AD1-0504-29B8-75DD-92C339A9B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139E2AA-4AC9-31FB-650F-E4CB4A4AC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 ALIAS</a:t>
            </a:r>
            <a:endParaRPr lang="en-US" b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315420-0A02-CF31-FA94-83C4E04363DE}"/>
              </a:ext>
            </a:extLst>
          </p:cNvPr>
          <p:cNvSpPr txBox="1"/>
          <p:nvPr/>
        </p:nvSpPr>
        <p:spPr>
          <a:xfrm>
            <a:off x="278231" y="1216686"/>
            <a:ext cx="14843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03CF74-CE0D-9758-91CE-B7E258252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88" y="2001810"/>
            <a:ext cx="5318495" cy="27136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5AE177-6518-F629-2592-CDE3E56373C4}"/>
              </a:ext>
            </a:extLst>
          </p:cNvPr>
          <p:cNvSpPr txBox="1"/>
          <p:nvPr/>
        </p:nvSpPr>
        <p:spPr>
          <a:xfrm>
            <a:off x="5684116" y="1216686"/>
            <a:ext cx="22317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B0E50C-021B-A9C2-BF1F-31527E6B2DFB}"/>
              </a:ext>
            </a:extLst>
          </p:cNvPr>
          <p:cNvSpPr txBox="1"/>
          <p:nvPr/>
        </p:nvSpPr>
        <p:spPr>
          <a:xfrm>
            <a:off x="5630329" y="1720023"/>
            <a:ext cx="646978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chuỗi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 Alias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Student.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= 1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= “A”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= 20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C42B88C-BFB0-3B23-6BCB-A61827CA9F1E}"/>
              </a:ext>
            </a:extLst>
          </p:cNvPr>
          <p:cNvCxnSpPr>
            <a:cxnSpLocks/>
          </p:cNvCxnSpPr>
          <p:nvPr/>
        </p:nvCxnSpPr>
        <p:spPr>
          <a:xfrm>
            <a:off x="5464171" y="1659689"/>
            <a:ext cx="0" cy="3943256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29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65F075-B5FC-12A4-9EBD-17927076A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0" y="1024758"/>
            <a:ext cx="11622276" cy="5234152"/>
          </a:xfrm>
        </p:spPr>
        <p:txBody>
          <a:bodyPr/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Interface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b="1" dirty="0" err="1"/>
              <a:t>một</a:t>
            </a:r>
            <a:r>
              <a:rPr lang="en-US" b="1" dirty="0"/>
              <a:t> interface </a:t>
            </a: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thừa</a:t>
            </a:r>
            <a:r>
              <a:rPr lang="en-US" b="1" dirty="0"/>
              <a:t> </a:t>
            </a:r>
            <a:r>
              <a:rPr lang="en-US" b="1" dirty="0" err="1"/>
              <a:t>từ</a:t>
            </a:r>
            <a:r>
              <a:rPr lang="en-US" b="1" dirty="0"/>
              <a:t> interface </a:t>
            </a:r>
            <a:r>
              <a:rPr lang="en-US" b="1" dirty="0" err="1"/>
              <a:t>khác</a:t>
            </a:r>
            <a:r>
              <a:rPr lang="en-US" dirty="0"/>
              <a:t>,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tái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E6A808-266B-9073-6117-5FBFD004E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67327-3F0A-5D96-1A8C-1A9BDBDC7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992F83-D385-2486-1864-9D5EB1AA5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INTERFACE MỞ RỘNG (Interface Extension)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2A253-69CE-5827-3EA6-09C35ECECC5F}"/>
              </a:ext>
            </a:extLst>
          </p:cNvPr>
          <p:cNvSpPr txBox="1"/>
          <p:nvPr/>
        </p:nvSpPr>
        <p:spPr>
          <a:xfrm>
            <a:off x="399393" y="2251856"/>
            <a:ext cx="18852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Cú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3F505E-AEF2-CDC9-705E-3A73F281D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94" y="2865716"/>
            <a:ext cx="3787124" cy="29389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E0C4A1-A2A7-5014-E548-066925C88832}"/>
              </a:ext>
            </a:extLst>
          </p:cNvPr>
          <p:cNvSpPr txBox="1"/>
          <p:nvPr/>
        </p:nvSpPr>
        <p:spPr>
          <a:xfrm>
            <a:off x="5473112" y="2251856"/>
            <a:ext cx="1885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136B40-8FD1-9FFD-AAAE-E82414B1CA78}"/>
              </a:ext>
            </a:extLst>
          </p:cNvPr>
          <p:cNvSpPr txBox="1"/>
          <p:nvPr/>
        </p:nvSpPr>
        <p:spPr>
          <a:xfrm>
            <a:off x="5525568" y="2919814"/>
            <a:ext cx="60988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 extends A 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nghĩa là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 thừa hưởng toàn bộ thuộc tính của 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B có cả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(từ A) và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(tự bổ sung).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35178C-F1C8-973E-7363-A2BBA4F66C5B}"/>
              </a:ext>
            </a:extLst>
          </p:cNvPr>
          <p:cNvCxnSpPr/>
          <p:nvPr/>
        </p:nvCxnSpPr>
        <p:spPr>
          <a:xfrm>
            <a:off x="5293816" y="2708556"/>
            <a:ext cx="0" cy="2598549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171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25C63-8F11-598A-9F63-4F365FC13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7B801E-E95A-D29C-4A33-2E4D0B24A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43BB8-226F-79A1-D6A6-D56E2BB44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B209C4-B19A-D3AF-130C-3F467733E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INTERFACE MỞ RỘNG (Interface Extension)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46D64F-A2AF-80CB-C456-19C0932582FB}"/>
              </a:ext>
            </a:extLst>
          </p:cNvPr>
          <p:cNvSpPr txBox="1"/>
          <p:nvPr/>
        </p:nvSpPr>
        <p:spPr>
          <a:xfrm>
            <a:off x="567558" y="1187456"/>
            <a:ext cx="14843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9735EB-BCDD-B4E3-3143-4A3FFF2892C5}"/>
              </a:ext>
            </a:extLst>
          </p:cNvPr>
          <p:cNvSpPr txBox="1"/>
          <p:nvPr/>
        </p:nvSpPr>
        <p:spPr>
          <a:xfrm>
            <a:off x="5397458" y="1187456"/>
            <a:ext cx="1885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5597F6-EADF-55AE-0296-1EE0A8066C96}"/>
              </a:ext>
            </a:extLst>
          </p:cNvPr>
          <p:cNvSpPr txBox="1"/>
          <p:nvPr/>
        </p:nvSpPr>
        <p:spPr>
          <a:xfrm>
            <a:off x="5318534" y="1710676"/>
            <a:ext cx="679278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vi-V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định nghĩa 1 thuộc tính: </a:t>
            </a:r>
            <a:r>
              <a:rPr lang="vi-V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vi-V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vi-V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vi-V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kế thừa thuộc tính </a:t>
            </a:r>
            <a:r>
              <a:rPr lang="vi-V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từ A và thêm thuộc tính mới </a:t>
            </a:r>
            <a:r>
              <a:rPr lang="vi-V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 nghĩa là biến </a:t>
            </a:r>
            <a:r>
              <a:rPr lang="vi-V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phải đúng theo cấu trúc của B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bao gồm: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(kế thừa từ 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(thuộc tính mới của B)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Đối tượng { </a:t>
            </a:r>
            <a:r>
              <a:rPr lang="vi-V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vi-V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 } cung cấp đầy đủ cả 2 thuộc tính nên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hợp lệ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927A22-918A-01EB-8B0C-B007D5373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31" y="1633418"/>
            <a:ext cx="3751477" cy="393778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0CE198B-9C17-8E1A-EB9A-14BEC6905C9B}"/>
              </a:ext>
            </a:extLst>
          </p:cNvPr>
          <p:cNvCxnSpPr>
            <a:cxnSpLocks/>
          </p:cNvCxnSpPr>
          <p:nvPr/>
        </p:nvCxnSpPr>
        <p:spPr>
          <a:xfrm>
            <a:off x="5074022" y="1847945"/>
            <a:ext cx="0" cy="3261937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12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7F1774C-0E72-931C-39A6-106D9D981BE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53683" y="1250753"/>
          <a:ext cx="11343735" cy="428255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899109">
                  <a:extLst>
                    <a:ext uri="{9D8B030D-6E8A-4147-A177-3AD203B41FA5}">
                      <a16:colId xmlns:a16="http://schemas.microsoft.com/office/drawing/2014/main" val="2315084606"/>
                    </a:ext>
                  </a:extLst>
                </a:gridCol>
                <a:gridCol w="4222313">
                  <a:extLst>
                    <a:ext uri="{9D8B030D-6E8A-4147-A177-3AD203B41FA5}">
                      <a16:colId xmlns:a16="http://schemas.microsoft.com/office/drawing/2014/main" val="3336809304"/>
                    </a:ext>
                  </a:extLst>
                </a:gridCol>
                <a:gridCol w="4222313">
                  <a:extLst>
                    <a:ext uri="{9D8B030D-6E8A-4147-A177-3AD203B41FA5}">
                      <a16:colId xmlns:a16="http://schemas.microsoft.com/office/drawing/2014/main" val="4281940162"/>
                    </a:ext>
                  </a:extLst>
                </a:gridCol>
              </a:tblGrid>
              <a:tr h="148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Tiêu chí</a:t>
                      </a:r>
                      <a:endParaRPr 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Interface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Type Alias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62119"/>
                  </a:ext>
                </a:extLst>
              </a:tr>
              <a:tr h="685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Mục đích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2000"/>
                        <a:t>Mô tả cấu trúc đối tượng, hướng OOP</a:t>
                      </a:r>
                      <a:endParaRPr lang="vi-V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Đặt tên cho bất kỳ kiểu dữ liệu nào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70103"/>
                  </a:ext>
                </a:extLst>
              </a:tr>
              <a:tr h="685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Mở rộng (extends)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Hỗ trợ kế thừa mạnh (mở rộng nhiều lần)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2000"/>
                        <a:t>Có thể mở rộng nhưng hạn chế hơn</a:t>
                      </a:r>
                      <a:endParaRPr lang="vi-V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921798"/>
                  </a:ext>
                </a:extLst>
              </a:tr>
              <a:tr h="685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Union / Intersection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Không dùng để tạo Union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Dùng tốt cho Union &amp; Intersection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765660"/>
                  </a:ext>
                </a:extLst>
              </a:tr>
              <a:tr h="685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Khai báo lại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Cho phép khai báo trùng tên → tự động gộp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Không cho phép trùng tên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880502"/>
                  </a:ext>
                </a:extLst>
              </a:tr>
              <a:tr h="685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Dễ dùng cho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Object, class, cấu trúc nhiều thuộc tính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Union, tuple, function type, primitive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643249"/>
                  </a:ext>
                </a:extLst>
              </a:tr>
              <a:tr h="387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Tính linh hoạt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Tốt cho mô tả shape của object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Tốt cho kiểu dữ liệu phức tạp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190797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1ADBD6-3C84-F58A-A55F-63EE496A4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7438D-9427-B224-A4BE-236AED6D8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F27E5AF-65C4-913E-846C-8A32B7A5F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 SÁNH INTERFACE VÀ TYPE ALIAS</a:t>
            </a:r>
          </a:p>
        </p:txBody>
      </p:sp>
    </p:spTree>
    <p:extLst>
      <p:ext uri="{BB962C8B-B14F-4D97-AF65-F5344CB8AC3E}">
        <p14:creationId xmlns:p14="http://schemas.microsoft.com/office/powerpoint/2010/main" val="827623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7427B1-4273-3421-59F3-1C72E36A4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30" y="863387"/>
            <a:ext cx="11689976" cy="5439161"/>
          </a:xfrm>
        </p:spPr>
        <p:txBody>
          <a:bodyPr/>
          <a:lstStyle/>
          <a:p>
            <a:r>
              <a:rPr lang="vi-VN" b="1" dirty="0" err="1"/>
              <a:t>Type</a:t>
            </a:r>
            <a:r>
              <a:rPr lang="vi-VN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vi-VN" b="1" dirty="0" err="1">
                <a:solidFill>
                  <a:srgbClr val="FF0000"/>
                </a:solidFill>
              </a:rPr>
              <a:t>nference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/>
              <a:t>là cơ chế </a:t>
            </a:r>
            <a:r>
              <a:rPr lang="vi-VN" dirty="0" err="1"/>
              <a:t>TypeScript</a:t>
            </a:r>
            <a:r>
              <a:rPr lang="vi-VN" dirty="0"/>
              <a:t> </a:t>
            </a:r>
            <a:r>
              <a:rPr lang="vi-VN" b="1" dirty="0"/>
              <a:t>tự động suy ra kiểu dữ liệu</a:t>
            </a:r>
            <a:r>
              <a:rPr lang="vi-VN" dirty="0"/>
              <a:t> khi bạn </a:t>
            </a:r>
            <a:r>
              <a:rPr lang="vi-VN" b="1" dirty="0"/>
              <a:t>không khai báo kiểu</a:t>
            </a:r>
            <a:r>
              <a:rPr lang="vi-VN" dirty="0"/>
              <a:t>.</a:t>
            </a:r>
            <a:endParaRPr lang="en-US" dirty="0"/>
          </a:p>
          <a:p>
            <a:r>
              <a:rPr lang="vi-VN" dirty="0"/>
              <a:t>Giúp viết </a:t>
            </a:r>
            <a:r>
              <a:rPr lang="vi-VN" dirty="0" err="1"/>
              <a:t>code</a:t>
            </a:r>
            <a:r>
              <a:rPr lang="vi-VN" dirty="0"/>
              <a:t> </a:t>
            </a:r>
            <a:r>
              <a:rPr lang="vi-VN" b="1" dirty="0"/>
              <a:t>ngắn hơn</a:t>
            </a:r>
            <a:r>
              <a:rPr lang="vi-VN" dirty="0"/>
              <a:t>, nhưng vẫn đảm bảo </a:t>
            </a:r>
            <a:r>
              <a:rPr lang="vi-VN" b="1" dirty="0"/>
              <a:t>an toàn kiểu dữ liệu</a:t>
            </a:r>
            <a:r>
              <a:rPr lang="vi-VN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09DF0C-2EB1-513E-5569-D48C1951F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3C68A-F02D-9B13-7915-0748B92663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0131D3-180F-298B-E965-5930BCEE6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 INFERENCE (SUY LUẬN KIỂU)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CE331AD-C9B3-8996-DAD6-B5659AA09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31" y="2402542"/>
            <a:ext cx="11811139" cy="25549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948444-B534-6BE3-AD9D-A7378614C7D5}"/>
              </a:ext>
            </a:extLst>
          </p:cNvPr>
          <p:cNvSpPr txBox="1"/>
          <p:nvPr/>
        </p:nvSpPr>
        <p:spPr>
          <a:xfrm>
            <a:off x="338812" y="5102220"/>
            <a:ext cx="116899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callback function.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mơ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9017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0A0809-B530-FFA6-60A1-49F86F149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294" y="898722"/>
            <a:ext cx="11833412" cy="536018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Union Type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thể</a:t>
            </a:r>
            <a:r>
              <a:rPr lang="en-US" b="1" dirty="0"/>
              <a:t> </a:t>
            </a:r>
            <a:r>
              <a:rPr lang="en-US" b="1" dirty="0" err="1"/>
              <a:t>nhận</a:t>
            </a:r>
            <a:r>
              <a:rPr lang="en-US" b="1" dirty="0"/>
              <a:t> </a:t>
            </a:r>
            <a:r>
              <a:rPr lang="en-US" b="1" dirty="0" err="1"/>
              <a:t>nhiều</a:t>
            </a:r>
            <a:r>
              <a:rPr lang="en-US" b="1" dirty="0"/>
              <a:t> </a:t>
            </a:r>
            <a:r>
              <a:rPr lang="en-US" b="1" dirty="0" err="1"/>
              <a:t>kiểu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 </a:t>
            </a:r>
            <a:r>
              <a:rPr lang="en-US" b="1" dirty="0" err="1"/>
              <a:t>khác</a:t>
            </a:r>
            <a:r>
              <a:rPr lang="en-US" b="1" dirty="0"/>
              <a:t> </a:t>
            </a:r>
            <a:r>
              <a:rPr lang="en-US" b="1" dirty="0" err="1"/>
              <a:t>nhau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 Cú </a:t>
            </a:r>
            <a:r>
              <a:rPr lang="en-US" b="1" dirty="0" err="1"/>
              <a:t>pháp</a:t>
            </a:r>
            <a:r>
              <a:rPr lang="en-US" b="1" dirty="0"/>
              <a:t>: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b="1" dirty="0"/>
              <a:t>|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56B87A-F327-F52D-9169-2604F78B7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53B08-4353-52B0-FF48-E8AEB10E8C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77DB78-B2E8-2166-863A-98FE0F8B6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UNION TYPE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EDAE90-EC9B-AA69-2E5D-D9E6F5008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8390"/>
            <a:ext cx="12192000" cy="354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889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20DE2E-A7A5-7A75-631A-2F334F979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506" y="1024758"/>
            <a:ext cx="11923059" cy="523415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Literal Type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b="1" dirty="0" err="1"/>
              <a:t>cố</a:t>
            </a:r>
            <a:r>
              <a:rPr lang="en-US" b="1" dirty="0"/>
              <a:t>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b="1" dirty="0" err="1"/>
              <a:t>nhận</a:t>
            </a:r>
            <a:r>
              <a:rPr lang="en-US" b="1" dirty="0"/>
              <a:t> </a:t>
            </a:r>
            <a:r>
              <a:rPr lang="en-US" b="1" dirty="0" err="1"/>
              <a:t>đúng</a:t>
            </a:r>
            <a:r>
              <a:rPr lang="en-US" b="1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r>
              <a:rPr lang="en-US" b="1" dirty="0"/>
              <a:t> </a:t>
            </a:r>
            <a:r>
              <a:rPr lang="en-US" b="1" dirty="0" err="1"/>
              <a:t>trị</a:t>
            </a:r>
            <a:r>
              <a:rPr lang="en-US" b="1" dirty="0"/>
              <a:t> </a:t>
            </a:r>
            <a:r>
              <a:rPr lang="en-US" b="1" dirty="0" err="1"/>
              <a:t>cụ</a:t>
            </a:r>
            <a:r>
              <a:rPr lang="en-US" b="1" dirty="0"/>
              <a:t> </a:t>
            </a:r>
            <a:r>
              <a:rPr lang="en-US" b="1" dirty="0" err="1"/>
              <a:t>thể</a:t>
            </a:r>
            <a:r>
              <a:rPr lang="en-US" dirty="0"/>
              <a:t>.</a:t>
            </a:r>
          </a:p>
          <a:p>
            <a:r>
              <a:rPr lang="vi-VN" dirty="0"/>
              <a:t>Khác với </a:t>
            </a:r>
            <a:r>
              <a:rPr lang="vi-VN" dirty="0" err="1"/>
              <a:t>string</a:t>
            </a:r>
            <a:r>
              <a:rPr lang="vi-VN" dirty="0"/>
              <a:t> hoặc </a:t>
            </a:r>
            <a:r>
              <a:rPr lang="vi-VN" dirty="0" err="1"/>
              <a:t>number</a:t>
            </a:r>
            <a:r>
              <a:rPr lang="vi-VN" dirty="0"/>
              <a:t> thông thường, biến </a:t>
            </a:r>
            <a:r>
              <a:rPr lang="vi-VN" b="1" dirty="0"/>
              <a:t>không thể nhận giá trị khác</a:t>
            </a:r>
            <a:r>
              <a:rPr lang="vi-VN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1252C3-ECC6-5D70-66A6-2791D2333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EF0F3-BE27-6894-CB6B-06706979C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E8F08DF-BB5F-EBD9-42E7-1CD2C2BF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LITERAL TYPE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DC2DA6-7E4F-B3A0-47E5-B784CEC72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6330"/>
            <a:ext cx="12192000" cy="280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78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9CDE5-AA72-485F-D019-FA2E2E095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72A44A-578D-2DF1-21E6-7FA26F39E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54" y="799498"/>
            <a:ext cx="11985812" cy="5459412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Quản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danh</a:t>
            </a:r>
            <a:r>
              <a:rPr lang="en-US" b="1" dirty="0"/>
              <a:t> </a:t>
            </a:r>
            <a:r>
              <a:rPr lang="en-US" b="1" dirty="0" err="1"/>
              <a:t>sách</a:t>
            </a:r>
            <a:r>
              <a:rPr lang="en-US" b="1" dirty="0"/>
              <a:t> </a:t>
            </a:r>
            <a:r>
              <a:rPr lang="en-US" b="1" dirty="0" err="1"/>
              <a:t>sinh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r>
              <a:rPr lang="en-US" b="1" dirty="0"/>
              <a:t> </a:t>
            </a:r>
            <a:r>
              <a:rPr lang="en-US" b="1" dirty="0" err="1"/>
              <a:t>bằng</a:t>
            </a:r>
            <a:r>
              <a:rPr lang="en-US" b="1" dirty="0"/>
              <a:t> TypeScript</a:t>
            </a:r>
          </a:p>
          <a:p>
            <a:r>
              <a:rPr lang="en-US" b="1" dirty="0"/>
              <a:t>🎯 </a:t>
            </a:r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tiêu</a:t>
            </a:r>
            <a:endParaRPr lang="en-US" b="1" dirty="0"/>
          </a:p>
          <a:p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thức:</a:t>
            </a:r>
            <a:r>
              <a:rPr lang="en-US" b="1" dirty="0" err="1"/>
              <a:t>Kiểu</a:t>
            </a:r>
            <a:r>
              <a:rPr lang="en-US" b="1" dirty="0"/>
              <a:t> </a:t>
            </a:r>
            <a:r>
              <a:rPr lang="en-US" b="1" dirty="0" err="1"/>
              <a:t>mảng</a:t>
            </a:r>
            <a:r>
              <a:rPr lang="en-US" b="1" dirty="0"/>
              <a:t> (Array)</a:t>
            </a:r>
            <a:r>
              <a:rPr lang="en-US" dirty="0"/>
              <a:t>,</a:t>
            </a:r>
            <a:r>
              <a:rPr lang="en-US" b="1" dirty="0" err="1"/>
              <a:t>Enum</a:t>
            </a:r>
            <a:r>
              <a:rPr lang="en-US" dirty="0" err="1"/>
              <a:t>,</a:t>
            </a:r>
            <a:r>
              <a:rPr lang="en-US" b="1" dirty="0" err="1"/>
              <a:t>Union</a:t>
            </a:r>
            <a:r>
              <a:rPr lang="en-US" b="1" dirty="0"/>
              <a:t> </a:t>
            </a:r>
            <a:r>
              <a:rPr lang="en-US" b="1" dirty="0" err="1"/>
              <a:t>Type,Type</a:t>
            </a:r>
            <a:r>
              <a:rPr lang="en-US" b="1" dirty="0"/>
              <a:t> Inference</a:t>
            </a:r>
          </a:p>
          <a:p>
            <a:r>
              <a:rPr lang="en-US" b="1" dirty="0"/>
              <a:t>📝 </a:t>
            </a:r>
            <a:r>
              <a:rPr lang="vi-VN" b="1" dirty="0"/>
              <a:t>Yêu cầu</a:t>
            </a:r>
          </a:p>
          <a:p>
            <a:pPr lvl="1"/>
            <a:r>
              <a:rPr lang="vi-VN" dirty="0"/>
              <a:t>Khai báo </a:t>
            </a:r>
            <a:r>
              <a:rPr lang="vi-VN" b="1" dirty="0" err="1"/>
              <a:t>enum</a:t>
            </a:r>
            <a:r>
              <a:rPr lang="vi-VN" b="1" dirty="0"/>
              <a:t> </a:t>
            </a:r>
            <a:r>
              <a:rPr lang="vi-VN" b="1" dirty="0" err="1"/>
              <a:t>TrangThai</a:t>
            </a:r>
            <a:r>
              <a:rPr lang="vi-VN" dirty="0"/>
              <a:t> gồm các trạng thái:</a:t>
            </a:r>
          </a:p>
          <a:p>
            <a:pPr lvl="2"/>
            <a:r>
              <a:rPr lang="vi-VN" dirty="0" err="1"/>
              <a:t>DangHoc</a:t>
            </a:r>
            <a:endParaRPr lang="vi-VN" dirty="0"/>
          </a:p>
          <a:p>
            <a:pPr lvl="2"/>
            <a:r>
              <a:rPr lang="vi-VN" dirty="0" err="1"/>
              <a:t>BaoLuu</a:t>
            </a:r>
            <a:endParaRPr lang="vi-VN" dirty="0"/>
          </a:p>
          <a:p>
            <a:pPr lvl="2"/>
            <a:r>
              <a:rPr lang="vi-VN" dirty="0" err="1"/>
              <a:t>TotNghiep</a:t>
            </a:r>
            <a:endParaRPr lang="vi-VN" dirty="0"/>
          </a:p>
          <a:p>
            <a:pPr lvl="1"/>
            <a:r>
              <a:rPr lang="vi-VN" dirty="0"/>
              <a:t>Khai báo </a:t>
            </a:r>
            <a:r>
              <a:rPr lang="vi-VN" b="1" dirty="0" err="1"/>
              <a:t>union</a:t>
            </a:r>
            <a:r>
              <a:rPr lang="vi-VN" b="1" dirty="0"/>
              <a:t> </a:t>
            </a:r>
            <a:r>
              <a:rPr lang="vi-VN" b="1" dirty="0" err="1"/>
              <a:t>type</a:t>
            </a:r>
            <a:r>
              <a:rPr lang="vi-VN" b="1" dirty="0"/>
              <a:t> </a:t>
            </a:r>
            <a:r>
              <a:rPr lang="vi-VN" b="1" dirty="0" err="1"/>
              <a:t>Diem</a:t>
            </a:r>
            <a:r>
              <a:rPr lang="vi-VN" dirty="0"/>
              <a:t>:</a:t>
            </a:r>
          </a:p>
          <a:p>
            <a:pPr lvl="2"/>
            <a:r>
              <a:rPr lang="vi-VN" dirty="0"/>
              <a:t>Điểm sinh viên có thể là </a:t>
            </a:r>
            <a:r>
              <a:rPr lang="vi-VN" b="1" dirty="0"/>
              <a:t>số</a:t>
            </a:r>
            <a:endParaRPr lang="vi-VN" dirty="0"/>
          </a:p>
          <a:p>
            <a:pPr lvl="2"/>
            <a:r>
              <a:rPr lang="vi-VN" dirty="0"/>
              <a:t>Hoặc chuỗi "Chưa có"</a:t>
            </a:r>
          </a:p>
          <a:p>
            <a:pPr lvl="1"/>
            <a:r>
              <a:rPr lang="vi-VN" dirty="0"/>
              <a:t>Tạo </a:t>
            </a:r>
            <a:r>
              <a:rPr lang="vi-VN" b="1" dirty="0"/>
              <a:t>mảng </a:t>
            </a:r>
            <a:r>
              <a:rPr lang="vi-VN" b="1" dirty="0" err="1"/>
              <a:t>students</a:t>
            </a:r>
            <a:r>
              <a:rPr lang="vi-VN" dirty="0"/>
              <a:t> chứa danh sách sinh viên,</a:t>
            </a:r>
            <a:br>
              <a:rPr lang="vi-VN" dirty="0"/>
            </a:br>
            <a:r>
              <a:rPr lang="vi-VN" dirty="0"/>
              <a:t>mỗi sinh viên gồm:</a:t>
            </a:r>
          </a:p>
          <a:p>
            <a:pPr lvl="2"/>
            <a:r>
              <a:rPr lang="vi-VN" dirty="0"/>
              <a:t>ten (tên sinh viên)</a:t>
            </a:r>
          </a:p>
          <a:p>
            <a:pPr lvl="2"/>
            <a:r>
              <a:rPr lang="vi-VN" dirty="0" err="1"/>
              <a:t>trangThai</a:t>
            </a:r>
            <a:r>
              <a:rPr lang="vi-VN" dirty="0"/>
              <a:t> (thuộc </a:t>
            </a:r>
            <a:r>
              <a:rPr lang="vi-VN" dirty="0" err="1"/>
              <a:t>enum</a:t>
            </a:r>
            <a:r>
              <a:rPr lang="vi-VN" dirty="0"/>
              <a:t> </a:t>
            </a:r>
            <a:r>
              <a:rPr lang="vi-VN" dirty="0" err="1"/>
              <a:t>TrangThai</a:t>
            </a:r>
            <a:r>
              <a:rPr lang="vi-VN" dirty="0"/>
              <a:t>)</a:t>
            </a:r>
          </a:p>
          <a:p>
            <a:pPr lvl="2"/>
            <a:r>
              <a:rPr lang="vi-VN" dirty="0" err="1"/>
              <a:t>diem</a:t>
            </a:r>
            <a:r>
              <a:rPr lang="vi-VN" dirty="0"/>
              <a:t> (thuộc kiểu </a:t>
            </a:r>
            <a:r>
              <a:rPr lang="vi-VN" dirty="0" err="1"/>
              <a:t>Diem</a:t>
            </a:r>
            <a:r>
              <a:rPr lang="vi-VN" dirty="0"/>
              <a:t>)</a:t>
            </a:r>
          </a:p>
          <a:p>
            <a:pPr lvl="1"/>
            <a:r>
              <a:rPr lang="vi-VN" b="1" dirty="0"/>
              <a:t>Không khai báo kiểu tường minh</a:t>
            </a:r>
            <a:r>
              <a:rPr lang="vi-VN" dirty="0"/>
              <a:t> cho mảng </a:t>
            </a:r>
            <a:r>
              <a:rPr lang="vi-VN" dirty="0" err="1"/>
              <a:t>students</a:t>
            </a:r>
            <a:br>
              <a:rPr lang="vi-VN" dirty="0"/>
            </a:br>
            <a:r>
              <a:rPr lang="vi-VN" dirty="0"/>
              <a:t>(để </a:t>
            </a:r>
            <a:r>
              <a:rPr lang="vi-VN" dirty="0" err="1"/>
              <a:t>TypeScript</a:t>
            </a:r>
            <a:r>
              <a:rPr lang="vi-VN" dirty="0"/>
              <a:t> </a:t>
            </a:r>
            <a:r>
              <a:rPr lang="vi-VN" b="1" dirty="0"/>
              <a:t>tự suy luận kiểu – </a:t>
            </a:r>
            <a:r>
              <a:rPr lang="vi-VN" b="1" dirty="0" err="1"/>
              <a:t>type</a:t>
            </a:r>
            <a:r>
              <a:rPr lang="vi-VN" b="1" dirty="0"/>
              <a:t> </a:t>
            </a:r>
            <a:r>
              <a:rPr lang="vi-VN" b="1" dirty="0" err="1"/>
              <a:t>inference</a:t>
            </a:r>
            <a:r>
              <a:rPr lang="vi-VN" dirty="0"/>
              <a:t>).</a:t>
            </a:r>
          </a:p>
          <a:p>
            <a:pPr lvl="1"/>
            <a:r>
              <a:rPr lang="vi-VN" dirty="0"/>
              <a:t>Duyệt mảng và in ra thông tin mỗi sinh viên theo mẫu:</a:t>
            </a:r>
            <a:endParaRPr lang="en-US" dirty="0"/>
          </a:p>
          <a:p>
            <a:pPr lvl="1"/>
            <a:r>
              <a:rPr lang="vi-VN" dirty="0"/>
              <a:t>Sinh viên: [tên], Trạng thái: [trạng thái], Điểm: [điểm]</a:t>
            </a:r>
          </a:p>
          <a:p>
            <a:endParaRPr lang="vi-V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657119-9AB9-1C98-7087-660E90A46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20717-82B0-CD17-4CD8-05DD0FAC6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A2A2BD6-9EAB-6175-4FF5-CB4410348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LITERAL TYPE</a:t>
            </a:r>
          </a:p>
        </p:txBody>
      </p:sp>
    </p:spTree>
    <p:extLst>
      <p:ext uri="{BB962C8B-B14F-4D97-AF65-F5344CB8AC3E}">
        <p14:creationId xmlns:p14="http://schemas.microsoft.com/office/powerpoint/2010/main" val="20488811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01E9E-C253-31D6-F15D-7A8B37A0E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D81E3F-CDD2-EF79-5E82-F84C0351A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506" y="827530"/>
            <a:ext cx="11923059" cy="523415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vi-VN" sz="5200" dirty="0"/>
              <a:t>//</a:t>
            </a:r>
            <a:r>
              <a:rPr lang="vi-VN" sz="5200" dirty="0" err="1"/>
              <a:t>Enum</a:t>
            </a:r>
            <a:r>
              <a:rPr lang="vi-VN" sz="5200" dirty="0"/>
              <a:t> – trạng thái sinh viên</a:t>
            </a:r>
          </a:p>
          <a:p>
            <a:pPr marL="0" indent="0">
              <a:buNone/>
            </a:pPr>
            <a:r>
              <a:rPr lang="vi-VN" sz="5200" dirty="0" err="1"/>
              <a:t>enum</a:t>
            </a:r>
            <a:r>
              <a:rPr lang="vi-VN" sz="5200" dirty="0"/>
              <a:t> </a:t>
            </a:r>
            <a:r>
              <a:rPr lang="vi-VN" sz="5200" dirty="0" err="1"/>
              <a:t>TrangThai</a:t>
            </a:r>
            <a:r>
              <a:rPr lang="vi-VN" sz="5200" dirty="0"/>
              <a:t> {</a:t>
            </a:r>
          </a:p>
          <a:p>
            <a:pPr marL="0" indent="0">
              <a:buNone/>
            </a:pPr>
            <a:r>
              <a:rPr lang="vi-VN" sz="5200" dirty="0"/>
              <a:t>  </a:t>
            </a:r>
            <a:r>
              <a:rPr lang="vi-VN" sz="5200" dirty="0" err="1"/>
              <a:t>DangHoc</a:t>
            </a:r>
            <a:r>
              <a:rPr lang="vi-VN" sz="5200" dirty="0"/>
              <a:t>,</a:t>
            </a:r>
          </a:p>
          <a:p>
            <a:pPr marL="0" indent="0">
              <a:buNone/>
            </a:pPr>
            <a:r>
              <a:rPr lang="vi-VN" sz="5200" dirty="0"/>
              <a:t>  </a:t>
            </a:r>
            <a:r>
              <a:rPr lang="vi-VN" sz="5200" dirty="0" err="1"/>
              <a:t>BaoLuu</a:t>
            </a:r>
            <a:r>
              <a:rPr lang="vi-VN" sz="5200" dirty="0"/>
              <a:t>,</a:t>
            </a:r>
          </a:p>
          <a:p>
            <a:pPr marL="0" indent="0">
              <a:buNone/>
            </a:pPr>
            <a:r>
              <a:rPr lang="vi-VN" sz="5200" dirty="0"/>
              <a:t>  </a:t>
            </a:r>
            <a:r>
              <a:rPr lang="vi-VN" sz="5200" dirty="0" err="1"/>
              <a:t>TotNghiep</a:t>
            </a:r>
            <a:endParaRPr lang="vi-VN" sz="5200" dirty="0"/>
          </a:p>
          <a:p>
            <a:pPr marL="0" indent="0">
              <a:buNone/>
            </a:pPr>
            <a:r>
              <a:rPr lang="vi-VN" sz="5200" dirty="0"/>
              <a:t>}</a:t>
            </a:r>
          </a:p>
          <a:p>
            <a:pPr marL="0" indent="0">
              <a:buNone/>
            </a:pPr>
            <a:r>
              <a:rPr lang="vi-VN" sz="5200" dirty="0"/>
              <a:t>// </a:t>
            </a:r>
            <a:r>
              <a:rPr lang="vi-VN" sz="5200" dirty="0" err="1"/>
              <a:t>Union</a:t>
            </a:r>
            <a:r>
              <a:rPr lang="vi-VN" sz="5200" dirty="0"/>
              <a:t> </a:t>
            </a:r>
            <a:r>
              <a:rPr lang="vi-VN" sz="5200" dirty="0" err="1"/>
              <a:t>type</a:t>
            </a:r>
            <a:r>
              <a:rPr lang="vi-VN" sz="5200" dirty="0"/>
              <a:t> – điểm có thể là số hoặc chuỗi</a:t>
            </a:r>
          </a:p>
          <a:p>
            <a:pPr marL="0" indent="0">
              <a:buNone/>
            </a:pPr>
            <a:r>
              <a:rPr lang="vi-VN" sz="5200" dirty="0" err="1"/>
              <a:t>type</a:t>
            </a:r>
            <a:r>
              <a:rPr lang="vi-VN" sz="5200" dirty="0"/>
              <a:t> </a:t>
            </a:r>
            <a:r>
              <a:rPr lang="vi-VN" sz="5200" dirty="0" err="1"/>
              <a:t>Diem</a:t>
            </a:r>
            <a:r>
              <a:rPr lang="vi-VN" sz="5200" dirty="0"/>
              <a:t> = </a:t>
            </a:r>
            <a:r>
              <a:rPr lang="vi-VN" sz="5200" dirty="0" err="1"/>
              <a:t>number</a:t>
            </a:r>
            <a:r>
              <a:rPr lang="vi-VN" sz="5200" dirty="0"/>
              <a:t> | "Chưa có";</a:t>
            </a:r>
          </a:p>
          <a:p>
            <a:pPr marL="0" indent="0">
              <a:buNone/>
            </a:pPr>
            <a:endParaRPr lang="vi-VN" sz="5200" dirty="0"/>
          </a:p>
          <a:p>
            <a:pPr marL="0" indent="0">
              <a:buNone/>
            </a:pPr>
            <a:r>
              <a:rPr lang="vi-VN" sz="5200" dirty="0"/>
              <a:t>// Mảng + </a:t>
            </a:r>
            <a:r>
              <a:rPr lang="vi-VN" sz="5200" dirty="0" err="1"/>
              <a:t>inference</a:t>
            </a:r>
            <a:endParaRPr lang="vi-VN" sz="5200" dirty="0"/>
          </a:p>
          <a:p>
            <a:pPr marL="0" indent="0">
              <a:buNone/>
            </a:pPr>
            <a:r>
              <a:rPr lang="vi-VN" sz="5200" dirty="0" err="1"/>
              <a:t>let</a:t>
            </a:r>
            <a:r>
              <a:rPr lang="vi-VN" sz="5200" dirty="0"/>
              <a:t> </a:t>
            </a:r>
            <a:r>
              <a:rPr lang="vi-VN" sz="5200" dirty="0" err="1"/>
              <a:t>students</a:t>
            </a:r>
            <a:r>
              <a:rPr lang="vi-VN" sz="5200" dirty="0"/>
              <a:t> = [</a:t>
            </a:r>
          </a:p>
          <a:p>
            <a:pPr marL="0" indent="0">
              <a:buNone/>
            </a:pPr>
            <a:r>
              <a:rPr lang="vi-VN" sz="5200" dirty="0"/>
              <a:t>  { ten: "An", </a:t>
            </a:r>
            <a:r>
              <a:rPr lang="vi-VN" sz="5200" dirty="0" err="1"/>
              <a:t>trangThai</a:t>
            </a:r>
            <a:r>
              <a:rPr lang="vi-VN" sz="5200" dirty="0"/>
              <a:t>: </a:t>
            </a:r>
            <a:r>
              <a:rPr lang="vi-VN" sz="5200" dirty="0" err="1"/>
              <a:t>TrangThai.DangHoc</a:t>
            </a:r>
            <a:r>
              <a:rPr lang="vi-VN" sz="5200" dirty="0"/>
              <a:t>, </a:t>
            </a:r>
            <a:r>
              <a:rPr lang="vi-VN" sz="5200" dirty="0" err="1"/>
              <a:t>diem</a:t>
            </a:r>
            <a:r>
              <a:rPr lang="vi-VN" sz="5200" dirty="0"/>
              <a:t>: 8 },</a:t>
            </a:r>
          </a:p>
          <a:p>
            <a:pPr marL="0" indent="0">
              <a:buNone/>
            </a:pPr>
            <a:r>
              <a:rPr lang="vi-VN" sz="5200" dirty="0"/>
              <a:t>  { ten: "Bình", </a:t>
            </a:r>
            <a:r>
              <a:rPr lang="vi-VN" sz="5200" dirty="0" err="1"/>
              <a:t>trangThai</a:t>
            </a:r>
            <a:r>
              <a:rPr lang="vi-VN" sz="5200" dirty="0"/>
              <a:t>: </a:t>
            </a:r>
            <a:r>
              <a:rPr lang="vi-VN" sz="5200" dirty="0" err="1"/>
              <a:t>TrangThai.BaoLuu</a:t>
            </a:r>
            <a:r>
              <a:rPr lang="vi-VN" sz="5200" dirty="0"/>
              <a:t>, </a:t>
            </a:r>
            <a:r>
              <a:rPr lang="vi-VN" sz="5200" dirty="0" err="1"/>
              <a:t>diem</a:t>
            </a:r>
            <a:r>
              <a:rPr lang="vi-VN" sz="5200" dirty="0"/>
              <a:t>: "Chưa có" },</a:t>
            </a:r>
          </a:p>
          <a:p>
            <a:pPr marL="0" indent="0">
              <a:buNone/>
            </a:pPr>
            <a:r>
              <a:rPr lang="vi-VN" sz="5200" dirty="0"/>
              <a:t>  { ten: "Chi", </a:t>
            </a:r>
            <a:r>
              <a:rPr lang="vi-VN" sz="5200" dirty="0" err="1"/>
              <a:t>trangThai</a:t>
            </a:r>
            <a:r>
              <a:rPr lang="vi-VN" sz="5200" dirty="0"/>
              <a:t>: </a:t>
            </a:r>
            <a:r>
              <a:rPr lang="vi-VN" sz="5200" dirty="0" err="1"/>
              <a:t>TrangThai.TotNghiep</a:t>
            </a:r>
            <a:r>
              <a:rPr lang="vi-VN" sz="5200" dirty="0"/>
              <a:t>, </a:t>
            </a:r>
            <a:r>
              <a:rPr lang="vi-VN" sz="5200" dirty="0" err="1"/>
              <a:t>diem</a:t>
            </a:r>
            <a:r>
              <a:rPr lang="vi-VN" sz="5200" dirty="0"/>
              <a:t>: 9 }</a:t>
            </a:r>
          </a:p>
          <a:p>
            <a:pPr marL="0" indent="0">
              <a:buNone/>
            </a:pPr>
            <a:r>
              <a:rPr lang="vi-VN" sz="5200" dirty="0"/>
              <a:t>];</a:t>
            </a:r>
          </a:p>
          <a:p>
            <a:pPr marL="0" indent="0">
              <a:buNone/>
            </a:pPr>
            <a:r>
              <a:rPr lang="vi-VN" sz="5200" dirty="0"/>
              <a:t>// Duyệt mảng và in thông tin</a:t>
            </a:r>
          </a:p>
          <a:p>
            <a:pPr marL="0" indent="0">
              <a:buNone/>
            </a:pPr>
            <a:r>
              <a:rPr lang="vi-VN" sz="5200" dirty="0" err="1"/>
              <a:t>students.forEach</a:t>
            </a:r>
            <a:r>
              <a:rPr lang="vi-VN" sz="5200" dirty="0"/>
              <a:t>(</a:t>
            </a:r>
            <a:r>
              <a:rPr lang="vi-VN" sz="5200" dirty="0" err="1"/>
              <a:t>sv</a:t>
            </a:r>
            <a:r>
              <a:rPr lang="vi-VN" sz="5200" dirty="0"/>
              <a:t> =&gt; {</a:t>
            </a:r>
          </a:p>
          <a:p>
            <a:pPr marL="0" indent="0">
              <a:buNone/>
            </a:pPr>
            <a:r>
              <a:rPr lang="vi-VN" sz="5200" dirty="0"/>
              <a:t>  console.log(</a:t>
            </a:r>
          </a:p>
          <a:p>
            <a:pPr marL="0" indent="0">
              <a:buNone/>
            </a:pPr>
            <a:r>
              <a:rPr lang="vi-VN" sz="5200" dirty="0"/>
              <a:t>    `Sinh viên: ${</a:t>
            </a:r>
            <a:r>
              <a:rPr lang="vi-VN" sz="5200" dirty="0" err="1"/>
              <a:t>sv.ten</a:t>
            </a:r>
            <a:r>
              <a:rPr lang="vi-VN" sz="5200" dirty="0"/>
              <a:t>}, Trạng thái: ${</a:t>
            </a:r>
            <a:r>
              <a:rPr lang="vi-VN" sz="5200" dirty="0" err="1"/>
              <a:t>TrangThai</a:t>
            </a:r>
            <a:r>
              <a:rPr lang="vi-VN" sz="5200" dirty="0"/>
              <a:t>[</a:t>
            </a:r>
            <a:r>
              <a:rPr lang="vi-VN" sz="5200" dirty="0" err="1"/>
              <a:t>sv.trangThai</a:t>
            </a:r>
            <a:r>
              <a:rPr lang="vi-VN" sz="5200" dirty="0"/>
              <a:t>]}, Điểm: ${</a:t>
            </a:r>
            <a:r>
              <a:rPr lang="vi-VN" sz="5200" dirty="0" err="1"/>
              <a:t>sv.diem</a:t>
            </a:r>
            <a:r>
              <a:rPr lang="vi-VN" sz="5200" dirty="0"/>
              <a:t>}`</a:t>
            </a:r>
          </a:p>
          <a:p>
            <a:pPr marL="0" indent="0">
              <a:buNone/>
            </a:pPr>
            <a:r>
              <a:rPr lang="vi-VN" sz="5200" dirty="0"/>
              <a:t>  );</a:t>
            </a:r>
          </a:p>
          <a:p>
            <a:pPr marL="0" indent="0">
              <a:buNone/>
            </a:pPr>
            <a:r>
              <a:rPr lang="vi-VN" sz="5200" dirty="0"/>
              <a:t>});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B786FB-7183-D30B-0C2E-A3E4D8FC5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2BDD0-0005-1720-7469-A3F26E413A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B6FCA43-AFA0-5A0C-2EBF-11C81858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LITERAL TYPE</a:t>
            </a:r>
          </a:p>
        </p:txBody>
      </p:sp>
    </p:spTree>
    <p:extLst>
      <p:ext uri="{BB962C8B-B14F-4D97-AF65-F5344CB8AC3E}">
        <p14:creationId xmlns:p14="http://schemas.microsoft.com/office/powerpoint/2010/main" val="20272532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E98BC-864B-0BF5-B908-B8DBF795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F9648E-26DE-CC15-25B9-667D0535A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506" y="1024758"/>
            <a:ext cx="11923059" cy="5234152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Tóm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tắt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nội</a:t>
            </a:r>
            <a:r>
              <a:rPr lang="en-US" b="1" dirty="0">
                <a:solidFill>
                  <a:srgbClr val="FF0000"/>
                </a:solidFill>
              </a:rPr>
              <a:t> dung: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thủy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Mảng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Tuple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Enum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Object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</a:t>
            </a:r>
            <a:r>
              <a:rPr lang="vi-VN" dirty="0" err="1"/>
              <a:t>nference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Union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Nội</a:t>
            </a:r>
            <a:r>
              <a:rPr lang="en-US" b="1" dirty="0">
                <a:solidFill>
                  <a:srgbClr val="FF0000"/>
                </a:solidFill>
              </a:rPr>
              <a:t> dung </a:t>
            </a:r>
            <a:r>
              <a:rPr lang="en-US" b="1" dirty="0" err="1">
                <a:solidFill>
                  <a:srgbClr val="FF0000"/>
                </a:solidFill>
              </a:rPr>
              <a:t>tiếp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theo</a:t>
            </a:r>
            <a:r>
              <a:rPr lang="en-US" b="1" dirty="0">
                <a:solidFill>
                  <a:srgbClr val="FF0000"/>
                </a:solidFill>
              </a:rPr>
              <a:t> :  </a:t>
            </a:r>
            <a:r>
              <a:rPr lang="en-US" b="1" dirty="0"/>
              <a:t>Các </a:t>
            </a:r>
            <a:r>
              <a:rPr lang="en-US" b="1" dirty="0" err="1"/>
              <a:t>vấn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liên</a:t>
            </a:r>
            <a:r>
              <a:rPr lang="en-US" b="1" dirty="0"/>
              <a:t> </a:t>
            </a:r>
            <a:r>
              <a:rPr lang="en-US" b="1" dirty="0" err="1"/>
              <a:t>quan</a:t>
            </a:r>
            <a:r>
              <a:rPr lang="en-US" b="1" dirty="0"/>
              <a:t> </a:t>
            </a:r>
            <a:r>
              <a:rPr lang="en-US" b="1" dirty="0" err="1"/>
              <a:t>đến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endParaRPr lang="en-US" b="1" dirty="0"/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</a:t>
            </a:r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9D056-BB95-6AFA-425A-AAA71EACEF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F5CF7-3D70-A903-7507-7A24E1858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2C9007-5759-4209-5486-90B6AC779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TÓM TẮT</a:t>
            </a:r>
          </a:p>
        </p:txBody>
      </p:sp>
    </p:spTree>
    <p:extLst>
      <p:ext uri="{BB962C8B-B14F-4D97-AF65-F5344CB8AC3E}">
        <p14:creationId xmlns:p14="http://schemas.microsoft.com/office/powerpoint/2010/main" val="396744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48E9CD-C3BC-0E34-B3A1-46CC95378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46C10-E051-5121-5FDA-BD7A082E9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A58285-64DD-E73F-DF6A-424F0E4E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TOÁN TỬ SỐ HỌC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8DB2CB-9492-C039-8BCC-3169F46DF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239249"/>
              </p:ext>
            </p:extLst>
          </p:nvPr>
        </p:nvGraphicFramePr>
        <p:xfrm>
          <a:off x="190478" y="986117"/>
          <a:ext cx="11759475" cy="5074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4860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Toán tử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 tả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Ví dụ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860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Phép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cộng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+ 5 = 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860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Phép trừ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10 - 5 =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860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Phép nhân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* 5 = 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860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Phép chia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/ 5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860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Lấy phần dư của phép chia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20 % 3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4861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Tăng thêm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 a = 5; a++; // a =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7658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0E1E1-D837-1E8A-0E8D-4B613B912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2948E6-72D1-E245-4490-10B4319D02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6A4B4-46E7-B719-2F35-3FC39472C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A39DDB-0CD7-4315-CDE3-154EE08B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TOÁN TỬ GÁN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052DF6-1597-9117-9ACC-00725BC5E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250292"/>
              </p:ext>
            </p:extLst>
          </p:nvPr>
        </p:nvGraphicFramePr>
        <p:xfrm>
          <a:off x="278231" y="1147482"/>
          <a:ext cx="11574132" cy="485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8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8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3217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Toán tử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Ý </a:t>
                      </a:r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nghĩa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Ví dụ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217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Gán giá trị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a = 10;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217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Cộng rồi gán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+= 5; // a = a + 5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217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Trừ rồi gán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-= 3; // a = a - 3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217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Nhân rồi gán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*= 2; // a = a *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217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Chia rồi gán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/= 4; // a = a /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3218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Chia lấy dư rồi gán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%= 3; // a = a %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6499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524427-A0D5-1892-4D49-3400C50F0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B1E98-0785-8C96-5D0C-2E319EAC3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D29CA4-2EE9-0756-A2F5-1B249C8D3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TOÁN TỬ SO SÁNH</a:t>
            </a:r>
            <a:endParaRPr lang="en-US" b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E6F17A-CC90-C6A8-54DB-2D4A3D4B5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138838"/>
              </p:ext>
            </p:extLst>
          </p:nvPr>
        </p:nvGraphicFramePr>
        <p:xfrm>
          <a:off x="197223" y="986118"/>
          <a:ext cx="11779623" cy="4692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6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6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431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Toán tử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Ý nghĩa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Ví dụ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431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 </a:t>
                      </a:r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sánh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bằng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== 10 →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431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Giống nhau (giá trị và kiểu)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=== 10 →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431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Khác giá trị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!= 10 →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431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Khác giá trị và kiểu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!== 10 →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431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Lớn hơn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&gt; 5 →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431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Lớn hơn hoặc bằng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&gt;= 5 →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431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Nhỏ hơn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&lt; 5 →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1431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Nhỏ hơn hoặc bằng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&lt;= 5 →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90710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13493-FF64-1BD5-6F87-C8A6791D9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AAC42-4649-824E-B183-7C3015DB2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166CC0C-2650-4244-4CAF-8DE8F2078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TOÁN TỬ LOGIC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D82088-4B8A-6F3A-E200-5C9CAD861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798409"/>
              </p:ext>
            </p:extLst>
          </p:nvPr>
        </p:nvGraphicFramePr>
        <p:xfrm>
          <a:off x="396666" y="1508964"/>
          <a:ext cx="11455698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78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0000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Toán tử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Diễn tả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– true nếu cả hai đều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 – true </a:t>
                      </a:r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nếu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một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hai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– </a:t>
                      </a:r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đảo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ngược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biểu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99481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02B534-D404-70F8-9BBE-AB91544F01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2ACFD-6C30-9E1F-0B3F-4971F2928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1A21AD-2989-24DD-C2A9-D1C04609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TOÁN TỬ CHUỖI (String Operators)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4017E9-692F-E53B-6E16-2AFA93831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577221"/>
              </p:ext>
            </p:extLst>
          </p:nvPr>
        </p:nvGraphicFramePr>
        <p:xfrm>
          <a:off x="174811" y="1137403"/>
          <a:ext cx="11842377" cy="45831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6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235">
                  <a:extLst>
                    <a:ext uri="{9D8B030D-6E8A-4147-A177-3AD203B41FA5}">
                      <a16:colId xmlns:a16="http://schemas.microsoft.com/office/drawing/2014/main" val="1459207415"/>
                    </a:ext>
                  </a:extLst>
                </a:gridCol>
                <a:gridCol w="358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1490">
                <a:tc>
                  <a:txBody>
                    <a:bodyPr/>
                    <a:lstStyle/>
                    <a:p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Khái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niệm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Ghi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chú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Ví dụ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1490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Toán tử nối chuỗi (+)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Dùng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nối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choỗi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nhau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a = "Hello";</a:t>
                      </a:r>
                    </a:p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b = "World";</a:t>
                      </a:r>
                    </a:p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result = a + " " + b;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1490"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Toán tử nối và gán (+=)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Vừa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nối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chuỗi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vừa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gán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biến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text = "Hello";</a:t>
                      </a:r>
                    </a:p>
                    <a:p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+= " World";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1493">
                <a:tc>
                  <a:txBody>
                    <a:bodyPr/>
                    <a:lstStyle/>
                    <a:p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Template String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cách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viết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chuỗi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JavaScript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bằng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dấu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backtick ` `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 name = "A";</a:t>
                      </a:r>
                    </a:p>
                    <a:p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`Xin </a:t>
                      </a:r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chào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${name}!`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4744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8800" dirty="0">
                <a:solidFill>
                  <a:srgbClr val="0000CC"/>
                </a:solidFill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33AD92-5E87-E375-BEDD-20E8E001E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20BA4-9A69-0F54-B570-F9F236F71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96323"/>
      </p:ext>
    </p:extLst>
  </p:cSld>
  <p:clrMapOvr>
    <a:masterClrMapping/>
  </p:clrMapOvr>
</p:sld>
</file>

<file path=ppt/theme/theme1.xml><?xml version="1.0" encoding="utf-8"?>
<a:theme xmlns:a="http://schemas.openxmlformats.org/drawingml/2006/main" name="Blue - v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ain font">
      <a:majorFont>
        <a:latin typeface="Nunito Bold"/>
        <a:ea typeface=""/>
        <a:cs typeface=""/>
      </a:majorFont>
      <a:minorFont>
        <a:latin typeface="Nuni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14124</TotalTime>
  <Words>3024</Words>
  <Application>Microsoft Office PowerPoint</Application>
  <PresentationFormat>Widescreen</PresentationFormat>
  <Paragraphs>476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Courier New</vt:lpstr>
      <vt:lpstr>Nunito</vt:lpstr>
      <vt:lpstr>Times New Roman</vt:lpstr>
      <vt:lpstr>Wingdings</vt:lpstr>
      <vt:lpstr>Blue - v3</vt:lpstr>
      <vt:lpstr>PowerPoint Presentation</vt:lpstr>
      <vt:lpstr>LET, CONST, VAR</vt:lpstr>
      <vt:lpstr>CÁC KIỂU DỮ LIỆU CƠ BẢN</vt:lpstr>
      <vt:lpstr>CÁC KIỂU DỮ LIỆU NGUYÊN THỦY</vt:lpstr>
      <vt:lpstr>CÁC KIỂU DỮ LIỆU NGUYÊN THỦY</vt:lpstr>
      <vt:lpstr>KIỂU MẢNG</vt:lpstr>
      <vt:lpstr>CÁC LOẠI KIỂU MẢNG THƯỜNG GẶP</vt:lpstr>
      <vt:lpstr>CÁC PHÉP TÍNH THƯỜNG DÙNG VỚI MẢNG</vt:lpstr>
      <vt:lpstr>DUYỆT MẢNG</vt:lpstr>
      <vt:lpstr>BÀI TẬP THỰC SỐ 1</vt:lpstr>
      <vt:lpstr>BÀI TẬP THỰC HÀNH SỐ 1 </vt:lpstr>
      <vt:lpstr>KIỂU ENUM</vt:lpstr>
      <vt:lpstr>KIỂU ENUM</vt:lpstr>
      <vt:lpstr>KIỂU OBJECT</vt:lpstr>
      <vt:lpstr>INTERFACE TRONG TYPESCRIPT</vt:lpstr>
      <vt:lpstr>INTERFACE TRONG TYPESCRIPT</vt:lpstr>
      <vt:lpstr>TYPE ALIAS</vt:lpstr>
      <vt:lpstr>TYPE ALIAS</vt:lpstr>
      <vt:lpstr>INTERFACE MỞ RỘNG (Interface Extension)</vt:lpstr>
      <vt:lpstr>INTERFACE MỞ RỘNG (Interface Extension)</vt:lpstr>
      <vt:lpstr>SO SÁNH INTERFACE VÀ TYPE ALIAS</vt:lpstr>
      <vt:lpstr>TYPE INFERENCE (SUY LUẬN KIỂU)</vt:lpstr>
      <vt:lpstr>UNION TYPE</vt:lpstr>
      <vt:lpstr>LITERAL TYPE</vt:lpstr>
      <vt:lpstr>LITERAL TYPE</vt:lpstr>
      <vt:lpstr>LITERAL TYPE</vt:lpstr>
      <vt:lpstr>TÓM TẮT</vt:lpstr>
      <vt:lpstr>TOÁN TỬ SỐ HỌC</vt:lpstr>
      <vt:lpstr>TOÁN TỬ GÁN </vt:lpstr>
      <vt:lpstr>TOÁN TỬ SO SÁNH</vt:lpstr>
      <vt:lpstr>TOÁN TỬ LOGIC</vt:lpstr>
      <vt:lpstr>TOÁN TỬ CHUỖI (String Operators)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This PC</dc:creator>
  <cp:lastModifiedBy>Thắng Vĩnh</cp:lastModifiedBy>
  <cp:revision>336</cp:revision>
  <dcterms:created xsi:type="dcterms:W3CDTF">2021-12-20T01:48:15Z</dcterms:created>
  <dcterms:modified xsi:type="dcterms:W3CDTF">2026-03-24T10:55:13Z</dcterms:modified>
</cp:coreProperties>
</file>