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35"/>
  </p:notesMasterIdLst>
  <p:handoutMasterIdLst>
    <p:handoutMasterId r:id="rId36"/>
  </p:handoutMasterIdLst>
  <p:sldIdLst>
    <p:sldId id="259" r:id="rId2"/>
    <p:sldId id="507" r:id="rId3"/>
    <p:sldId id="539" r:id="rId4"/>
    <p:sldId id="540" r:id="rId5"/>
    <p:sldId id="537" r:id="rId6"/>
    <p:sldId id="535" r:id="rId7"/>
    <p:sldId id="534" r:id="rId8"/>
    <p:sldId id="548" r:id="rId9"/>
    <p:sldId id="549" r:id="rId10"/>
    <p:sldId id="550" r:id="rId11"/>
    <p:sldId id="508" r:id="rId12"/>
    <p:sldId id="536" r:id="rId13"/>
    <p:sldId id="525" r:id="rId14"/>
    <p:sldId id="509" r:id="rId15"/>
    <p:sldId id="542" r:id="rId16"/>
    <p:sldId id="543" r:id="rId17"/>
    <p:sldId id="544" r:id="rId18"/>
    <p:sldId id="545" r:id="rId19"/>
    <p:sldId id="499" r:id="rId20"/>
    <p:sldId id="500" r:id="rId21"/>
    <p:sldId id="501" r:id="rId22"/>
    <p:sldId id="546" r:id="rId23"/>
    <p:sldId id="547" r:id="rId24"/>
    <p:sldId id="533" r:id="rId25"/>
    <p:sldId id="551" r:id="rId26"/>
    <p:sldId id="511" r:id="rId27"/>
    <p:sldId id="527" r:id="rId28"/>
    <p:sldId id="512" r:id="rId29"/>
    <p:sldId id="528" r:id="rId30"/>
    <p:sldId id="513" r:id="rId31"/>
    <p:sldId id="529" r:id="rId32"/>
    <p:sldId id="552" r:id="rId33"/>
    <p:sldId id="47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0C650AF-D70C-4C72-807E-CA8005841A33}">
          <p14:sldIdLst>
            <p14:sldId id="259"/>
            <p14:sldId id="507"/>
            <p14:sldId id="539"/>
            <p14:sldId id="540"/>
            <p14:sldId id="537"/>
            <p14:sldId id="535"/>
            <p14:sldId id="534"/>
            <p14:sldId id="548"/>
            <p14:sldId id="549"/>
            <p14:sldId id="550"/>
            <p14:sldId id="508"/>
            <p14:sldId id="536"/>
            <p14:sldId id="525"/>
            <p14:sldId id="509"/>
            <p14:sldId id="542"/>
            <p14:sldId id="543"/>
            <p14:sldId id="544"/>
            <p14:sldId id="545"/>
            <p14:sldId id="499"/>
            <p14:sldId id="500"/>
            <p14:sldId id="501"/>
            <p14:sldId id="546"/>
            <p14:sldId id="547"/>
            <p14:sldId id="533"/>
            <p14:sldId id="551"/>
            <p14:sldId id="511"/>
            <p14:sldId id="527"/>
            <p14:sldId id="512"/>
            <p14:sldId id="528"/>
            <p14:sldId id="513"/>
            <p14:sldId id="529"/>
            <p14:sldId id="552"/>
            <p14:sldId id="470"/>
          </p14:sldIdLst>
        </p14:section>
      </p14:sectionLst>
    </p:ex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99"/>
    <a:srgbClr val="0000CC"/>
    <a:srgbClr val="D8F0FF"/>
    <a:srgbClr val="9BD9FF"/>
    <a:srgbClr val="008EE5"/>
    <a:srgbClr val="03B3DD"/>
    <a:srgbClr val="0090E5"/>
    <a:srgbClr val="03B4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2252" autoAdjust="0"/>
  </p:normalViewPr>
  <p:slideViewPr>
    <p:cSldViewPr snapToGrid="0">
      <p:cViewPr varScale="1">
        <p:scale>
          <a:sx n="90" d="100"/>
          <a:sy n="90" d="100"/>
        </p:scale>
        <p:origin x="1332" y="84"/>
      </p:cViewPr>
      <p:guideLst>
        <p:guide orient="horz" pos="2160"/>
        <p:guide pos="38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4" d="100"/>
          <a:sy n="64" d="100"/>
        </p:scale>
        <p:origin x="3115"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215930-8719-4C15-9737-2648B85A77AE}" type="datetimeFigureOut">
              <a:rPr lang="en-US" smtClean="0"/>
              <a:t>3/20/2026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19F2053-7AB1-48B2-9643-49BF192C4775}" type="slidenum">
              <a:rPr lang="en-US" smtClean="0"/>
              <a:t>‹#›</a:t>
            </a:fld>
            <a:endParaRPr lang="en-US"/>
          </a:p>
        </p:txBody>
      </p:sp>
    </p:spTree>
    <p:extLst>
      <p:ext uri="{BB962C8B-B14F-4D97-AF65-F5344CB8AC3E}">
        <p14:creationId xmlns:p14="http://schemas.microsoft.com/office/powerpoint/2010/main" val="9290518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4456ED-8D73-4DA4-A78C-89D419F66C39}" type="datetimeFigureOut">
              <a:rPr lang="en-US" smtClean="0"/>
              <a:t>3/20/2026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6AED4D-2311-4E17-8D7B-C33F7112F39F}" type="slidenum">
              <a:rPr lang="en-US" smtClean="0"/>
              <a:t>‹#›</a:t>
            </a:fld>
            <a:endParaRPr lang="en-US"/>
          </a:p>
        </p:txBody>
      </p:sp>
    </p:spTree>
    <p:extLst>
      <p:ext uri="{BB962C8B-B14F-4D97-AF65-F5344CB8AC3E}">
        <p14:creationId xmlns:p14="http://schemas.microsoft.com/office/powerpoint/2010/main" val="2306310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06AED4D-2311-4E17-8D7B-C33F7112F39F}" type="slidenum">
              <a:rPr lang="en-US" smtClean="0"/>
              <a:t>1</a:t>
            </a:fld>
            <a:endParaRPr lang="en-US"/>
          </a:p>
        </p:txBody>
      </p:sp>
    </p:spTree>
    <p:extLst>
      <p:ext uri="{BB962C8B-B14F-4D97-AF65-F5344CB8AC3E}">
        <p14:creationId xmlns:p14="http://schemas.microsoft.com/office/powerpoint/2010/main" val="1832757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6AED4D-2311-4E17-8D7B-C33F7112F39F}" type="slidenum">
              <a:rPr lang="en-US" smtClean="0"/>
              <a:t>12</a:t>
            </a:fld>
            <a:endParaRPr lang="en-US"/>
          </a:p>
        </p:txBody>
      </p:sp>
    </p:spTree>
    <p:extLst>
      <p:ext uri="{BB962C8B-B14F-4D97-AF65-F5344CB8AC3E}">
        <p14:creationId xmlns:p14="http://schemas.microsoft.com/office/powerpoint/2010/main" val="3522547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6AED4D-2311-4E17-8D7B-C33F7112F39F}" type="slidenum">
              <a:rPr lang="en-US" smtClean="0"/>
              <a:t>29</a:t>
            </a:fld>
            <a:endParaRPr lang="en-US"/>
          </a:p>
        </p:txBody>
      </p:sp>
    </p:spTree>
    <p:extLst>
      <p:ext uri="{BB962C8B-B14F-4D97-AF65-F5344CB8AC3E}">
        <p14:creationId xmlns:p14="http://schemas.microsoft.com/office/powerpoint/2010/main" val="3805074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6AED4D-2311-4E17-8D7B-C33F7112F39F}" type="slidenum">
              <a:rPr lang="en-US" smtClean="0"/>
              <a:t>30</a:t>
            </a:fld>
            <a:endParaRPr lang="en-US"/>
          </a:p>
        </p:txBody>
      </p:sp>
    </p:spTree>
    <p:extLst>
      <p:ext uri="{BB962C8B-B14F-4D97-AF65-F5344CB8AC3E}">
        <p14:creationId xmlns:p14="http://schemas.microsoft.com/office/powerpoint/2010/main" val="449398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67558" y="1024758"/>
            <a:ext cx="11225047" cy="5234152"/>
          </a:xfrm>
          <a:prstGeom prst="rect">
            <a:avLst/>
          </a:prstGeom>
        </p:spPr>
        <p:txBody>
          <a:bodyPr>
            <a:normAutofit/>
          </a:bodyPr>
          <a:lstStyle>
            <a:lvl1pPr marL="228600" indent="-228600">
              <a:buClr>
                <a:srgbClr val="0000CC"/>
              </a:buClr>
              <a:buFont typeface="Wingdings" pitchFamily="2" charset="2"/>
              <a:buChar char="§"/>
              <a:defRPr sz="2800" b="0">
                <a:latin typeface="Times New Roman" pitchFamily="18" charset="0"/>
                <a:cs typeface="Times New Roman" pitchFamily="18" charset="0"/>
              </a:defRPr>
            </a:lvl1pPr>
            <a:lvl2pPr marL="685800" indent="-228600">
              <a:buClr>
                <a:srgbClr val="FF00FF"/>
              </a:buClr>
              <a:buFont typeface="Arial" pitchFamily="34" charset="0"/>
              <a:buChar char="•"/>
              <a:defRPr sz="2400" b="0">
                <a:latin typeface="Times New Roman" pitchFamily="18" charset="0"/>
                <a:cs typeface="Times New Roman" pitchFamily="18" charset="0"/>
              </a:defRPr>
            </a:lvl2pPr>
            <a:lvl3pPr marL="1143000" indent="-228600">
              <a:buClr>
                <a:srgbClr val="009900"/>
              </a:buClr>
              <a:buFont typeface="Courier New" pitchFamily="49" charset="0"/>
              <a:buChar char="o"/>
              <a:defRPr sz="2200" b="0">
                <a:latin typeface="Times New Roman" pitchFamily="18" charset="0"/>
                <a:cs typeface="Times New Roman" pitchFamily="18" charset="0"/>
              </a:defRPr>
            </a:lvl3pPr>
            <a:lvl4pPr>
              <a:defRPr sz="2200" b="0">
                <a:latin typeface="Times New Roman" pitchFamily="18" charset="0"/>
                <a:cs typeface="Times New Roman" pitchFamily="18" charset="0"/>
              </a:defRPr>
            </a:lvl4pPr>
            <a:lvl5pPr>
              <a:defRPr sz="2200" b="0">
                <a:latin typeface="Times New Roman" pitchFamily="18" charset="0"/>
                <a:cs typeface="Times New Roman" pitchFamily="18" charset="0"/>
              </a:defRPr>
            </a:lvl5pPr>
          </a:lstStyle>
          <a:p>
            <a:pPr lvl="0"/>
            <a:r>
              <a:rPr lang="en-US" dirty="0"/>
              <a:t>Edit Master text styles</a:t>
            </a:r>
          </a:p>
          <a:p>
            <a:pPr lvl="1"/>
            <a:r>
              <a:rPr lang="en-US"/>
              <a:t>Second </a:t>
            </a:r>
            <a:r>
              <a:rPr lang="en-US" dirty="0"/>
              <a:t>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3"/>
          </p:nvPr>
        </p:nvSpPr>
        <p:spPr>
          <a:xfrm>
            <a:off x="278231" y="6482377"/>
            <a:ext cx="5522493" cy="365125"/>
          </a:xfrm>
          <a:prstGeom prst="rect">
            <a:avLst/>
          </a:prstGeom>
        </p:spPr>
        <p:txBody>
          <a:bodyPr vert="horz" lIns="91440" tIns="45720" rIns="91440" bIns="45720" rtlCol="0" anchor="ctr"/>
          <a:lstStyle>
            <a:lvl1pPr algn="l">
              <a:defRPr sz="1400" b="1">
                <a:solidFill>
                  <a:schemeClr val="bg1"/>
                </a:solidFill>
                <a:latin typeface="Times New Roman" panose="02020603050405020304" pitchFamily="18" charset="0"/>
                <a:cs typeface="Times New Roman" panose="02020603050405020304" pitchFamily="18" charset="0"/>
              </a:defRPr>
            </a:lvl1pPr>
          </a:lstStyle>
          <a:p>
            <a:r>
              <a:rPr lang="en-US"/>
              <a:t>KHOA CÔNG NGHỆ THÔNG TIN – LẬP TRÌNH TYPESCRIPT</a:t>
            </a:r>
            <a:endParaRPr lang="en-US" dirty="0"/>
          </a:p>
        </p:txBody>
      </p:sp>
      <p:sp>
        <p:nvSpPr>
          <p:cNvPr id="12" name="Slide Number Placeholder 5"/>
          <p:cNvSpPr>
            <a:spLocks noGrp="1"/>
          </p:cNvSpPr>
          <p:nvPr>
            <p:ph type="sldNum" sz="quarter" idx="4"/>
          </p:nvPr>
        </p:nvSpPr>
        <p:spPr>
          <a:xfrm>
            <a:off x="9109164" y="6403648"/>
            <a:ext cx="2743200" cy="365125"/>
          </a:xfrm>
          <a:prstGeom prst="rect">
            <a:avLst/>
          </a:prstGeom>
        </p:spPr>
        <p:txBody>
          <a:bodyPr vert="horz" lIns="91440" tIns="45720" rIns="91440" bIns="45720" rtlCol="0" anchor="ctr"/>
          <a:lstStyle>
            <a:lvl1pPr algn="r">
              <a:defRPr sz="1200">
                <a:solidFill>
                  <a:schemeClr val="tx1"/>
                </a:solidFill>
              </a:defRPr>
            </a:lvl1pPr>
          </a:lstStyle>
          <a:p>
            <a:fld id="{3A02590D-67BD-4DF2-8CAA-B9002293EB8E}" type="slidenum">
              <a:rPr lang="en-US" smtClean="0"/>
              <a:pPr/>
              <a:t>‹#›</a:t>
            </a:fld>
            <a:endParaRPr lang="en-US" dirty="0"/>
          </a:p>
        </p:txBody>
      </p:sp>
      <p:sp>
        <p:nvSpPr>
          <p:cNvPr id="14" name="Title 13"/>
          <p:cNvSpPr>
            <a:spLocks noGrp="1"/>
          </p:cNvSpPr>
          <p:nvPr>
            <p:ph type="title" hasCustomPrompt="1"/>
          </p:nvPr>
        </p:nvSpPr>
        <p:spPr>
          <a:xfrm>
            <a:off x="2396360" y="2870"/>
            <a:ext cx="9795640" cy="796628"/>
          </a:xfrm>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Tree>
    <p:extLst>
      <p:ext uri="{BB962C8B-B14F-4D97-AF65-F5344CB8AC3E}">
        <p14:creationId xmlns:p14="http://schemas.microsoft.com/office/powerpoint/2010/main" val="22090326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185459"/>
            <a:ext cx="12192000" cy="1680504"/>
          </a:xfrm>
          <a:prstGeom prst="rect">
            <a:avLst/>
          </a:prstGeom>
        </p:spPr>
      </p:pic>
      <p:pic>
        <p:nvPicPr>
          <p:cNvPr id="19" name="Picture 1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26329" y="3784922"/>
            <a:ext cx="6165669" cy="3081040"/>
          </a:xfrm>
          <a:prstGeom prst="rect">
            <a:avLst/>
          </a:prstGeom>
        </p:spPr>
      </p:pic>
      <p:pic>
        <p:nvPicPr>
          <p:cNvPr id="23" name="Picture 2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26330" y="3784922"/>
            <a:ext cx="6165669" cy="3081040"/>
          </a:xfrm>
          <a:prstGeom prst="rect">
            <a:avLst/>
          </a:prstGeom>
        </p:spPr>
      </p:pic>
      <p:pic>
        <p:nvPicPr>
          <p:cNvPr id="29" name="Picture 28"/>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6482377"/>
            <a:ext cx="6026329" cy="383585"/>
          </a:xfrm>
          <a:prstGeom prst="rect">
            <a:avLst/>
          </a:prstGeom>
        </p:spPr>
      </p:pic>
      <p:sp>
        <p:nvSpPr>
          <p:cNvPr id="3" name="Rectangle 2"/>
          <p:cNvSpPr/>
          <p:nvPr userDrawn="1"/>
        </p:nvSpPr>
        <p:spPr>
          <a:xfrm>
            <a:off x="1812003" y="0"/>
            <a:ext cx="10385077" cy="804707"/>
          </a:xfrm>
          <a:custGeom>
            <a:avLst/>
            <a:gdLst>
              <a:gd name="connsiteX0" fmla="*/ 0 w 9517626"/>
              <a:gd name="connsiteY0" fmla="*/ 0 h 783157"/>
              <a:gd name="connsiteX1" fmla="*/ 9517626 w 9517626"/>
              <a:gd name="connsiteY1" fmla="*/ 0 h 783157"/>
              <a:gd name="connsiteX2" fmla="*/ 9517626 w 9517626"/>
              <a:gd name="connsiteY2" fmla="*/ 783157 h 783157"/>
              <a:gd name="connsiteX3" fmla="*/ 0 w 9517626"/>
              <a:gd name="connsiteY3" fmla="*/ 783157 h 783157"/>
              <a:gd name="connsiteX4" fmla="*/ 0 w 9517626"/>
              <a:gd name="connsiteY4" fmla="*/ 0 h 783157"/>
              <a:gd name="connsiteX0" fmla="*/ 117987 w 9635613"/>
              <a:gd name="connsiteY0" fmla="*/ 0 h 783157"/>
              <a:gd name="connsiteX1" fmla="*/ 9635613 w 9635613"/>
              <a:gd name="connsiteY1" fmla="*/ 0 h 783157"/>
              <a:gd name="connsiteX2" fmla="*/ 9635613 w 9635613"/>
              <a:gd name="connsiteY2" fmla="*/ 783157 h 783157"/>
              <a:gd name="connsiteX3" fmla="*/ 0 w 9635613"/>
              <a:gd name="connsiteY3" fmla="*/ 724164 h 783157"/>
              <a:gd name="connsiteX4" fmla="*/ 117987 w 9635613"/>
              <a:gd name="connsiteY4" fmla="*/ 0 h 783157"/>
              <a:gd name="connsiteX0" fmla="*/ 570271 w 10087897"/>
              <a:gd name="connsiteY0" fmla="*/ 0 h 822487"/>
              <a:gd name="connsiteX1" fmla="*/ 10087897 w 10087897"/>
              <a:gd name="connsiteY1" fmla="*/ 0 h 822487"/>
              <a:gd name="connsiteX2" fmla="*/ 10087897 w 10087897"/>
              <a:gd name="connsiteY2" fmla="*/ 783157 h 822487"/>
              <a:gd name="connsiteX3" fmla="*/ 0 w 10087897"/>
              <a:gd name="connsiteY3" fmla="*/ 822487 h 822487"/>
              <a:gd name="connsiteX4" fmla="*/ 570271 w 10087897"/>
              <a:gd name="connsiteY4" fmla="*/ 0 h 822487"/>
              <a:gd name="connsiteX0" fmla="*/ 570271 w 10087897"/>
              <a:gd name="connsiteY0" fmla="*/ 0 h 822487"/>
              <a:gd name="connsiteX1" fmla="*/ 10087897 w 10087897"/>
              <a:gd name="connsiteY1" fmla="*/ 0 h 822487"/>
              <a:gd name="connsiteX2" fmla="*/ 10087897 w 10087897"/>
              <a:gd name="connsiteY2" fmla="*/ 812654 h 822487"/>
              <a:gd name="connsiteX3" fmla="*/ 0 w 10087897"/>
              <a:gd name="connsiteY3" fmla="*/ 822487 h 822487"/>
              <a:gd name="connsiteX4" fmla="*/ 570271 w 10087897"/>
              <a:gd name="connsiteY4" fmla="*/ 0 h 822487"/>
              <a:gd name="connsiteX0" fmla="*/ 570271 w 10087897"/>
              <a:gd name="connsiteY0" fmla="*/ 0 h 822487"/>
              <a:gd name="connsiteX1" fmla="*/ 10087897 w 10087897"/>
              <a:gd name="connsiteY1" fmla="*/ 0 h 822487"/>
              <a:gd name="connsiteX2" fmla="*/ 10084087 w 10087897"/>
              <a:gd name="connsiteY2" fmla="*/ 801224 h 822487"/>
              <a:gd name="connsiteX3" fmla="*/ 0 w 10087897"/>
              <a:gd name="connsiteY3" fmla="*/ 822487 h 822487"/>
              <a:gd name="connsiteX4" fmla="*/ 570271 w 10087897"/>
              <a:gd name="connsiteY4" fmla="*/ 0 h 822487"/>
              <a:gd name="connsiteX0" fmla="*/ 570271 w 10091707"/>
              <a:gd name="connsiteY0" fmla="*/ 0 h 822487"/>
              <a:gd name="connsiteX1" fmla="*/ 10087897 w 10091707"/>
              <a:gd name="connsiteY1" fmla="*/ 0 h 822487"/>
              <a:gd name="connsiteX2" fmla="*/ 10091707 w 10091707"/>
              <a:gd name="connsiteY2" fmla="*/ 798684 h 822487"/>
              <a:gd name="connsiteX3" fmla="*/ 0 w 10091707"/>
              <a:gd name="connsiteY3" fmla="*/ 822487 h 822487"/>
              <a:gd name="connsiteX4" fmla="*/ 570271 w 10091707"/>
              <a:gd name="connsiteY4" fmla="*/ 0 h 822487"/>
              <a:gd name="connsiteX0" fmla="*/ 557571 w 10079007"/>
              <a:gd name="connsiteY0" fmla="*/ 0 h 804707"/>
              <a:gd name="connsiteX1" fmla="*/ 10075197 w 10079007"/>
              <a:gd name="connsiteY1" fmla="*/ 0 h 804707"/>
              <a:gd name="connsiteX2" fmla="*/ 10079007 w 10079007"/>
              <a:gd name="connsiteY2" fmla="*/ 798684 h 804707"/>
              <a:gd name="connsiteX3" fmla="*/ 0 w 10079007"/>
              <a:gd name="connsiteY3" fmla="*/ 804707 h 804707"/>
              <a:gd name="connsiteX4" fmla="*/ 557571 w 10079007"/>
              <a:gd name="connsiteY4" fmla="*/ 0 h 804707"/>
              <a:gd name="connsiteX0" fmla="*/ 557571 w 10387617"/>
              <a:gd name="connsiteY0" fmla="*/ 0 h 804707"/>
              <a:gd name="connsiteX1" fmla="*/ 10387617 w 10387617"/>
              <a:gd name="connsiteY1" fmla="*/ 2540 h 804707"/>
              <a:gd name="connsiteX2" fmla="*/ 10079007 w 10387617"/>
              <a:gd name="connsiteY2" fmla="*/ 798684 h 804707"/>
              <a:gd name="connsiteX3" fmla="*/ 0 w 10387617"/>
              <a:gd name="connsiteY3" fmla="*/ 804707 h 804707"/>
              <a:gd name="connsiteX4" fmla="*/ 557571 w 10387617"/>
              <a:gd name="connsiteY4" fmla="*/ 0 h 804707"/>
              <a:gd name="connsiteX0" fmla="*/ 557571 w 10387617"/>
              <a:gd name="connsiteY0" fmla="*/ 0 h 804707"/>
              <a:gd name="connsiteX1" fmla="*/ 10387617 w 10387617"/>
              <a:gd name="connsiteY1" fmla="*/ 2540 h 804707"/>
              <a:gd name="connsiteX2" fmla="*/ 10381267 w 10387617"/>
              <a:gd name="connsiteY2" fmla="*/ 801224 h 804707"/>
              <a:gd name="connsiteX3" fmla="*/ 0 w 10387617"/>
              <a:gd name="connsiteY3" fmla="*/ 804707 h 804707"/>
              <a:gd name="connsiteX4" fmla="*/ 557571 w 10387617"/>
              <a:gd name="connsiteY4" fmla="*/ 0 h 804707"/>
              <a:gd name="connsiteX0" fmla="*/ 557571 w 10385077"/>
              <a:gd name="connsiteY0" fmla="*/ 0 h 804707"/>
              <a:gd name="connsiteX1" fmla="*/ 10385077 w 10385077"/>
              <a:gd name="connsiteY1" fmla="*/ 0 h 804707"/>
              <a:gd name="connsiteX2" fmla="*/ 10381267 w 10385077"/>
              <a:gd name="connsiteY2" fmla="*/ 801224 h 804707"/>
              <a:gd name="connsiteX3" fmla="*/ 0 w 10385077"/>
              <a:gd name="connsiteY3" fmla="*/ 804707 h 804707"/>
              <a:gd name="connsiteX4" fmla="*/ 557571 w 10385077"/>
              <a:gd name="connsiteY4" fmla="*/ 0 h 804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5077" h="804707">
                <a:moveTo>
                  <a:pt x="557571" y="0"/>
                </a:moveTo>
                <a:lnTo>
                  <a:pt x="10385077" y="0"/>
                </a:lnTo>
                <a:cubicBezTo>
                  <a:pt x="10382960" y="266228"/>
                  <a:pt x="10383384" y="534996"/>
                  <a:pt x="10381267" y="801224"/>
                </a:cubicBezTo>
                <a:lnTo>
                  <a:pt x="0" y="804707"/>
                </a:lnTo>
                <a:lnTo>
                  <a:pt x="557571" y="0"/>
                </a:lnTo>
                <a:close/>
              </a:path>
            </a:pathLst>
          </a:custGeom>
          <a:gradFill flip="none" rotWithShape="1">
            <a:gsLst>
              <a:gs pos="0">
                <a:srgbClr val="03B3DD"/>
              </a:gs>
              <a:gs pos="100000">
                <a:srgbClr val="008EE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userDrawn="1"/>
        </p:nvSpPr>
        <p:spPr>
          <a:xfrm>
            <a:off x="860" y="-5062"/>
            <a:ext cx="2233324" cy="808230"/>
          </a:xfrm>
          <a:custGeom>
            <a:avLst/>
            <a:gdLst>
              <a:gd name="connsiteX0" fmla="*/ 0 w 1818968"/>
              <a:gd name="connsiteY0" fmla="*/ 0 h 783157"/>
              <a:gd name="connsiteX1" fmla="*/ 1818968 w 1818968"/>
              <a:gd name="connsiteY1" fmla="*/ 0 h 783157"/>
              <a:gd name="connsiteX2" fmla="*/ 1818968 w 1818968"/>
              <a:gd name="connsiteY2" fmla="*/ 783157 h 783157"/>
              <a:gd name="connsiteX3" fmla="*/ 0 w 1818968"/>
              <a:gd name="connsiteY3" fmla="*/ 783157 h 783157"/>
              <a:gd name="connsiteX4" fmla="*/ 0 w 1818968"/>
              <a:gd name="connsiteY4" fmla="*/ 0 h 783157"/>
              <a:gd name="connsiteX0" fmla="*/ 0 w 2349910"/>
              <a:gd name="connsiteY0" fmla="*/ 9833 h 792990"/>
              <a:gd name="connsiteX1" fmla="*/ 2349910 w 2349910"/>
              <a:gd name="connsiteY1" fmla="*/ 0 h 792990"/>
              <a:gd name="connsiteX2" fmla="*/ 1818968 w 2349910"/>
              <a:gd name="connsiteY2" fmla="*/ 792990 h 792990"/>
              <a:gd name="connsiteX3" fmla="*/ 0 w 2349910"/>
              <a:gd name="connsiteY3" fmla="*/ 792990 h 792990"/>
              <a:gd name="connsiteX4" fmla="*/ 0 w 2349910"/>
              <a:gd name="connsiteY4" fmla="*/ 9833 h 792990"/>
              <a:gd name="connsiteX0" fmla="*/ 0 w 2349910"/>
              <a:gd name="connsiteY0" fmla="*/ 9833 h 792990"/>
              <a:gd name="connsiteX1" fmla="*/ 2349910 w 2349910"/>
              <a:gd name="connsiteY1" fmla="*/ 0 h 792990"/>
              <a:gd name="connsiteX2" fmla="*/ 1818968 w 2349910"/>
              <a:gd name="connsiteY2" fmla="*/ 792990 h 792990"/>
              <a:gd name="connsiteX3" fmla="*/ 0 w 2349910"/>
              <a:gd name="connsiteY3" fmla="*/ 792990 h 792990"/>
              <a:gd name="connsiteX4" fmla="*/ 0 w 2349910"/>
              <a:gd name="connsiteY4" fmla="*/ 9833 h 792990"/>
              <a:gd name="connsiteX0" fmla="*/ 144780 w 2349910"/>
              <a:gd name="connsiteY0" fmla="*/ 93653 h 792990"/>
              <a:gd name="connsiteX1" fmla="*/ 2349910 w 2349910"/>
              <a:gd name="connsiteY1" fmla="*/ 0 h 792990"/>
              <a:gd name="connsiteX2" fmla="*/ 1818968 w 2349910"/>
              <a:gd name="connsiteY2" fmla="*/ 792990 h 792990"/>
              <a:gd name="connsiteX3" fmla="*/ 0 w 2349910"/>
              <a:gd name="connsiteY3" fmla="*/ 792990 h 792990"/>
              <a:gd name="connsiteX4" fmla="*/ 144780 w 2349910"/>
              <a:gd name="connsiteY4" fmla="*/ 93653 h 792990"/>
              <a:gd name="connsiteX0" fmla="*/ 140970 w 2349910"/>
              <a:gd name="connsiteY0" fmla="*/ 2213 h 792990"/>
              <a:gd name="connsiteX1" fmla="*/ 2349910 w 2349910"/>
              <a:gd name="connsiteY1" fmla="*/ 0 h 792990"/>
              <a:gd name="connsiteX2" fmla="*/ 1818968 w 2349910"/>
              <a:gd name="connsiteY2" fmla="*/ 792990 h 792990"/>
              <a:gd name="connsiteX3" fmla="*/ 0 w 2349910"/>
              <a:gd name="connsiteY3" fmla="*/ 792990 h 792990"/>
              <a:gd name="connsiteX4" fmla="*/ 140970 w 2349910"/>
              <a:gd name="connsiteY4" fmla="*/ 2213 h 792990"/>
              <a:gd name="connsiteX0" fmla="*/ 0 w 2208940"/>
              <a:gd name="connsiteY0" fmla="*/ 2213 h 808230"/>
              <a:gd name="connsiteX1" fmla="*/ 2208940 w 2208940"/>
              <a:gd name="connsiteY1" fmla="*/ 0 h 808230"/>
              <a:gd name="connsiteX2" fmla="*/ 1677998 w 2208940"/>
              <a:gd name="connsiteY2" fmla="*/ 792990 h 808230"/>
              <a:gd name="connsiteX3" fmla="*/ 0 w 2208940"/>
              <a:gd name="connsiteY3" fmla="*/ 808230 h 808230"/>
              <a:gd name="connsiteX4" fmla="*/ 0 w 2208940"/>
              <a:gd name="connsiteY4" fmla="*/ 2213 h 808230"/>
              <a:gd name="connsiteX0" fmla="*/ 0 w 2208940"/>
              <a:gd name="connsiteY0" fmla="*/ 2213 h 808230"/>
              <a:gd name="connsiteX1" fmla="*/ 2208940 w 2208940"/>
              <a:gd name="connsiteY1" fmla="*/ 0 h 808230"/>
              <a:gd name="connsiteX2" fmla="*/ 1677998 w 2208940"/>
              <a:gd name="connsiteY2" fmla="*/ 808230 h 808230"/>
              <a:gd name="connsiteX3" fmla="*/ 0 w 2208940"/>
              <a:gd name="connsiteY3" fmla="*/ 808230 h 808230"/>
              <a:gd name="connsiteX4" fmla="*/ 0 w 2208940"/>
              <a:gd name="connsiteY4" fmla="*/ 2213 h 808230"/>
              <a:gd name="connsiteX0" fmla="*/ 0 w 2233324"/>
              <a:gd name="connsiteY0" fmla="*/ 2213 h 808230"/>
              <a:gd name="connsiteX1" fmla="*/ 2233324 w 2233324"/>
              <a:gd name="connsiteY1" fmla="*/ 0 h 808230"/>
              <a:gd name="connsiteX2" fmla="*/ 1677998 w 2233324"/>
              <a:gd name="connsiteY2" fmla="*/ 808230 h 808230"/>
              <a:gd name="connsiteX3" fmla="*/ 0 w 2233324"/>
              <a:gd name="connsiteY3" fmla="*/ 808230 h 808230"/>
              <a:gd name="connsiteX4" fmla="*/ 0 w 2233324"/>
              <a:gd name="connsiteY4" fmla="*/ 2213 h 808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3324" h="808230">
                <a:moveTo>
                  <a:pt x="0" y="2213"/>
                </a:moveTo>
                <a:lnTo>
                  <a:pt x="2233324" y="0"/>
                </a:lnTo>
                <a:lnTo>
                  <a:pt x="1677998" y="808230"/>
                </a:lnTo>
                <a:lnTo>
                  <a:pt x="0" y="808230"/>
                </a:lnTo>
                <a:lnTo>
                  <a:pt x="0" y="2213"/>
                </a:lnTo>
                <a:close/>
              </a:path>
            </a:pathLst>
          </a:custGeom>
          <a:solidFill>
            <a:srgbClr val="D8F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Placeholder 2"/>
          <p:cNvSpPr>
            <a:spLocks noGrp="1"/>
          </p:cNvSpPr>
          <p:nvPr>
            <p:ph type="body" idx="1"/>
          </p:nvPr>
        </p:nvSpPr>
        <p:spPr>
          <a:xfrm>
            <a:off x="614855" y="1088570"/>
            <a:ext cx="11161986" cy="5249167"/>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2" name="Picture 3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3611" y="129015"/>
            <a:ext cx="1434898" cy="523765"/>
          </a:xfrm>
          <a:prstGeom prst="rect">
            <a:avLst/>
          </a:prstGeom>
        </p:spPr>
      </p:pic>
      <p:sp>
        <p:nvSpPr>
          <p:cNvPr id="24" name="Title Placeholder 1"/>
          <p:cNvSpPr>
            <a:spLocks noGrp="1"/>
          </p:cNvSpPr>
          <p:nvPr>
            <p:ph type="title"/>
          </p:nvPr>
        </p:nvSpPr>
        <p:spPr>
          <a:xfrm>
            <a:off x="2554014" y="2870"/>
            <a:ext cx="9637985" cy="796628"/>
          </a:xfrm>
          <a:prstGeom prst="rect">
            <a:avLst/>
          </a:prstGeom>
        </p:spPr>
        <p:txBody>
          <a:bodyPr vert="horz" lIns="91440" tIns="45720" rIns="91440" bIns="45720" rtlCol="0" anchor="ctr">
            <a:normAutofit/>
          </a:bodyPr>
          <a:lstStyle/>
          <a:p>
            <a:r>
              <a:rPr lang="en-US" dirty="0"/>
              <a:t>Click to edit Master title style</a:t>
            </a:r>
          </a:p>
        </p:txBody>
      </p:sp>
      <p:sp>
        <p:nvSpPr>
          <p:cNvPr id="17" name="Footer Placeholder 4"/>
          <p:cNvSpPr>
            <a:spLocks noGrp="1"/>
          </p:cNvSpPr>
          <p:nvPr>
            <p:ph type="ftr" sz="quarter" idx="3"/>
          </p:nvPr>
        </p:nvSpPr>
        <p:spPr>
          <a:xfrm>
            <a:off x="278232" y="6482377"/>
            <a:ext cx="4330343" cy="365125"/>
          </a:xfrm>
          <a:prstGeom prst="rect">
            <a:avLst/>
          </a:prstGeom>
        </p:spPr>
        <p:txBody>
          <a:bodyPr vert="horz" lIns="91440" tIns="45720" rIns="91440" bIns="45720" rtlCol="0" anchor="ctr"/>
          <a:lstStyle>
            <a:lvl1pPr algn="l">
              <a:defRPr sz="1200" b="1">
                <a:solidFill>
                  <a:schemeClr val="bg1"/>
                </a:solidFill>
              </a:defRPr>
            </a:lvl1pPr>
          </a:lstStyle>
          <a:p>
            <a:r>
              <a:rPr lang="en-US"/>
              <a:t>KHOA CÔNG NGHỆ THÔNG TIN – LẬP TRÌNH TYPESCRIPT</a:t>
            </a:r>
            <a:endParaRPr lang="en-US" dirty="0"/>
          </a:p>
        </p:txBody>
      </p:sp>
      <p:sp>
        <p:nvSpPr>
          <p:cNvPr id="18" name="Slide Number Placeholder 5"/>
          <p:cNvSpPr>
            <a:spLocks noGrp="1"/>
          </p:cNvSpPr>
          <p:nvPr>
            <p:ph type="sldNum" sz="quarter" idx="4"/>
          </p:nvPr>
        </p:nvSpPr>
        <p:spPr>
          <a:xfrm>
            <a:off x="9109164"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3A02590D-67BD-4DF2-8CAA-B9002293EB8E}" type="slidenum">
              <a:rPr lang="en-US" smtClean="0"/>
              <a:pPr/>
              <a:t>‹#›</a:t>
            </a:fld>
            <a:endParaRPr lang="en-US" dirty="0"/>
          </a:p>
        </p:txBody>
      </p:sp>
    </p:spTree>
    <p:extLst>
      <p:ext uri="{BB962C8B-B14F-4D97-AF65-F5344CB8AC3E}">
        <p14:creationId xmlns:p14="http://schemas.microsoft.com/office/powerpoint/2010/main" val="4279715326"/>
      </p:ext>
    </p:extLst>
  </p:cSld>
  <p:clrMap bg1="lt1" tx1="dk1" bg2="lt2" tx2="dk2" accent1="accent1" accent2="accent2" accent3="accent3" accent4="accent4" accent5="accent5" accent6="accent6" hlink="hlink" folHlink="folHlink"/>
  <p:sldLayoutIdLst>
    <p:sldLayoutId id="2147483708" r:id="rId1"/>
  </p:sldLayoutIdLst>
  <p:hf hdr="0" dt="0"/>
  <p:txStyles>
    <p:titleStyle>
      <a:lvl1pPr algn="l" defTabSz="914400" rtl="0" eaLnBrk="1" latinLnBrk="0" hangingPunct="1">
        <a:lnSpc>
          <a:spcPct val="90000"/>
        </a:lnSpc>
        <a:spcBef>
          <a:spcPct val="0"/>
        </a:spcBef>
        <a:buNone/>
        <a:defRPr sz="3200" b="1" kern="1200">
          <a:solidFill>
            <a:schemeClr val="bg1"/>
          </a:solidFill>
          <a:latin typeface="Times New Roman" pitchFamily="18" charset="0"/>
          <a:ea typeface="+mj-ea"/>
          <a:cs typeface="Times New Roman" pitchFamily="18" charset="0"/>
        </a:defRPr>
      </a:lvl1pPr>
    </p:titleStyle>
    <p:bodyStyle>
      <a:lvl1pPr marL="228600" indent="-228600" algn="l" defTabSz="914400" rtl="0" eaLnBrk="1" latinLnBrk="0" hangingPunct="1">
        <a:lnSpc>
          <a:spcPct val="90000"/>
        </a:lnSpc>
        <a:spcBef>
          <a:spcPts val="1000"/>
        </a:spcBef>
        <a:buClr>
          <a:srgbClr val="CC0099"/>
        </a:buClr>
        <a:buFont typeface="Wingdings" pitchFamily="2" charset="2"/>
        <a:buChar char="§"/>
        <a:defRPr sz="2900" kern="1200">
          <a:solidFill>
            <a:schemeClr val="tx1"/>
          </a:solidFill>
          <a:latin typeface="Times New Roman" pitchFamily="18" charset="0"/>
          <a:ea typeface="+mn-ea"/>
          <a:cs typeface="Times New Roman" pitchFamily="18" charset="0"/>
        </a:defRPr>
      </a:lvl1pPr>
      <a:lvl2pPr marL="685800" indent="-228600" algn="l" defTabSz="914400" rtl="0" eaLnBrk="1" latinLnBrk="0" hangingPunct="1">
        <a:lnSpc>
          <a:spcPct val="90000"/>
        </a:lnSpc>
        <a:spcBef>
          <a:spcPts val="500"/>
        </a:spcBef>
        <a:buClr>
          <a:srgbClr val="0000CC"/>
        </a:buClr>
        <a:buFont typeface="Arial" pitchFamily="34" charset="0"/>
        <a:buChar char="•"/>
        <a:defRPr sz="29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lnSpc>
          <a:spcPct val="90000"/>
        </a:lnSpc>
        <a:spcBef>
          <a:spcPts val="500"/>
        </a:spcBef>
        <a:buFont typeface="Courier New" pitchFamily="49" charset="0"/>
        <a:buChar char="o"/>
        <a:defRPr sz="29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9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9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04" userDrawn="1">
          <p15:clr>
            <a:srgbClr val="F26B43"/>
          </p15:clr>
        </p15:guide>
        <p15:guide id="2" pos="64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KHOA CÔNG NGHỆ THÔNG TIN – LẬP TRÌNH TYPESCRIPT</a:t>
            </a:r>
            <a:endParaRPr lang="en-US" dirty="0"/>
          </a:p>
        </p:txBody>
      </p:sp>
      <p:sp>
        <p:nvSpPr>
          <p:cNvPr id="6" name="Slide Number Placeholder 5"/>
          <p:cNvSpPr>
            <a:spLocks noGrp="1"/>
          </p:cNvSpPr>
          <p:nvPr>
            <p:ph type="sldNum" sz="quarter" idx="4"/>
          </p:nvPr>
        </p:nvSpPr>
        <p:spPr/>
        <p:txBody>
          <a:bodyPr/>
          <a:lstStyle/>
          <a:p>
            <a:fld id="{098B47F1-B2BA-40A4-9FDB-CF661B783E7A}" type="slidenum">
              <a:rPr lang="en-US" smtClean="0"/>
              <a:t>1</a:t>
            </a:fld>
            <a:endParaRPr lang="en-US"/>
          </a:p>
        </p:txBody>
      </p:sp>
      <p:sp>
        <p:nvSpPr>
          <p:cNvPr id="5" name="Google Shape;136;p29"/>
          <p:cNvSpPr txBox="1">
            <a:spLocks/>
          </p:cNvSpPr>
          <p:nvPr/>
        </p:nvSpPr>
        <p:spPr>
          <a:xfrm>
            <a:off x="2773237" y="107241"/>
            <a:ext cx="4846763" cy="590849"/>
          </a:xfrm>
          <a:prstGeom prst="rect">
            <a:avLst/>
          </a:prstGeom>
        </p:spPr>
        <p:txBody>
          <a:bodyPr spcFirstLastPara="1" vert="horz" wrap="square" lIns="91425" tIns="91425" rIns="91425" bIns="91425" rtlCol="0" anchor="ctr"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pPr>
              <a:spcBef>
                <a:spcPts val="0"/>
              </a:spcBef>
            </a:pPr>
            <a:r>
              <a:rPr lang="en-US" sz="3000" b="1">
                <a:latin typeface="Times New Roman" panose="02020603050405020304" pitchFamily="18" charset="0"/>
                <a:cs typeface="Times New Roman" panose="02020603050405020304" pitchFamily="18" charset="0"/>
              </a:rPr>
              <a:t>LẬP TRÌNH TYPESCRIPT</a:t>
            </a:r>
            <a:endParaRPr lang="en-US" sz="3000" b="1" dirty="0">
              <a:latin typeface="Times New Roman" panose="02020603050405020304" pitchFamily="18" charset="0"/>
              <a:cs typeface="Times New Roman" panose="02020603050405020304" pitchFamily="18" charset="0"/>
            </a:endParaRPr>
          </a:p>
        </p:txBody>
      </p:sp>
      <p:sp>
        <p:nvSpPr>
          <p:cNvPr id="7" name="Google Shape;137;p29"/>
          <p:cNvSpPr txBox="1">
            <a:spLocks/>
          </p:cNvSpPr>
          <p:nvPr/>
        </p:nvSpPr>
        <p:spPr>
          <a:xfrm>
            <a:off x="685799" y="1700981"/>
            <a:ext cx="5901814" cy="2835763"/>
          </a:xfrm>
          <a:prstGeom prst="rect">
            <a:avLst/>
          </a:prstGeom>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b="1">
                <a:latin typeface="Times New Roman" panose="02020603050405020304" pitchFamily="18" charset="0"/>
                <a:cs typeface="Times New Roman" pitchFamily="18" charset="0"/>
              </a:rPr>
              <a:t>CHƯƠNG 2 (Tiếp theo)</a:t>
            </a:r>
            <a:r>
              <a:rPr lang="en-US">
                <a:latin typeface="Times New Roman" panose="02020603050405020304" pitchFamily="18" charset="0"/>
                <a:cs typeface="Times New Roman" pitchFamily="18" charset="0"/>
              </a:rPr>
              <a:t>: </a:t>
            </a:r>
          </a:p>
          <a:p>
            <a:pPr marL="0" indent="0">
              <a:spcBef>
                <a:spcPts val="0"/>
              </a:spcBef>
              <a:buNone/>
            </a:pPr>
            <a:endParaRPr lang="en-US">
              <a:latin typeface="Times New Roman" panose="02020603050405020304" pitchFamily="18" charset="0"/>
              <a:cs typeface="Times New Roman" pitchFamily="18" charset="0"/>
            </a:endParaRPr>
          </a:p>
          <a:p>
            <a:pPr marL="0" indent="0">
              <a:spcBef>
                <a:spcPts val="0"/>
              </a:spcBef>
              <a:buNone/>
            </a:pPr>
            <a:r>
              <a:rPr lang="en-US">
                <a:latin typeface="Times New Roman" panose="02020603050405020304" pitchFamily="18" charset="0"/>
                <a:cs typeface="Times New Roman" pitchFamily="18" charset="0"/>
              </a:rPr>
              <a:t>Hàm, điều khiển luồng và interface</a:t>
            </a:r>
          </a:p>
        </p:txBody>
      </p:sp>
      <p:sp>
        <p:nvSpPr>
          <p:cNvPr id="170" name="Google Shape;137;p29">
            <a:extLst>
              <a:ext uri="{FF2B5EF4-FFF2-40B4-BE49-F238E27FC236}">
                <a16:creationId xmlns:a16="http://schemas.microsoft.com/office/drawing/2014/main" id="{C5A8A76D-5E3A-4511-9569-D2E55F718EF4}"/>
              </a:ext>
            </a:extLst>
          </p:cNvPr>
          <p:cNvSpPr txBox="1">
            <a:spLocks/>
          </p:cNvSpPr>
          <p:nvPr/>
        </p:nvSpPr>
        <p:spPr>
          <a:xfrm>
            <a:off x="744069" y="4496464"/>
            <a:ext cx="3295303" cy="800990"/>
          </a:xfrm>
          <a:prstGeom prst="rect">
            <a:avLst/>
          </a:prstGeom>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endParaRPr lang="en-US" sz="2600" b="1" dirty="0">
              <a:solidFill>
                <a:srgbClr val="0000CC"/>
              </a:solidFill>
              <a:latin typeface="Times New Roman" pitchFamily="18" charset="0"/>
              <a:cs typeface="Times New Roman" pitchFamily="18" charset="0"/>
            </a:endParaRPr>
          </a:p>
        </p:txBody>
      </p:sp>
      <p:pic>
        <p:nvPicPr>
          <p:cNvPr id="1034" name="Picture 10" descr="What is TypeScript">
            <a:extLst>
              <a:ext uri="{FF2B5EF4-FFF2-40B4-BE49-F238E27FC236}">
                <a16:creationId xmlns:a16="http://schemas.microsoft.com/office/drawing/2014/main" id="{826BF309-7710-D27E-2D38-D80F02283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7656" y="1660701"/>
            <a:ext cx="4508545" cy="2835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1418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303DC4F-4FD5-4497-251A-392F8E43431D}"/>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338885ED-F6A5-5F93-6C61-380A7F3FA87A}"/>
              </a:ext>
            </a:extLst>
          </p:cNvPr>
          <p:cNvSpPr>
            <a:spLocks noGrp="1"/>
          </p:cNvSpPr>
          <p:nvPr>
            <p:ph type="sldNum" sz="quarter" idx="4"/>
          </p:nvPr>
        </p:nvSpPr>
        <p:spPr/>
        <p:txBody>
          <a:bodyPr/>
          <a:lstStyle/>
          <a:p>
            <a:fld id="{3A02590D-67BD-4DF2-8CAA-B9002293EB8E}" type="slidenum">
              <a:rPr lang="en-US" smtClean="0"/>
              <a:pPr/>
              <a:t>2</a:t>
            </a:fld>
            <a:endParaRPr lang="en-US" dirty="0"/>
          </a:p>
        </p:txBody>
      </p:sp>
      <p:sp>
        <p:nvSpPr>
          <p:cNvPr id="5" name="Title 4">
            <a:extLst>
              <a:ext uri="{FF2B5EF4-FFF2-40B4-BE49-F238E27FC236}">
                <a16:creationId xmlns:a16="http://schemas.microsoft.com/office/drawing/2014/main" id="{795E98DC-0C51-10AF-CEE6-7721FC125EB3}"/>
              </a:ext>
            </a:extLst>
          </p:cNvPr>
          <p:cNvSpPr>
            <a:spLocks noGrp="1"/>
          </p:cNvSpPr>
          <p:nvPr>
            <p:ph type="title"/>
          </p:nvPr>
        </p:nvSpPr>
        <p:spPr/>
        <p:txBody>
          <a:bodyPr/>
          <a:lstStyle/>
          <a:p>
            <a:r>
              <a:rPr lang="en-US" dirty="0" err="1"/>
              <a:t>Nhắc</a:t>
            </a:r>
            <a:r>
              <a:rPr lang="en-US" dirty="0"/>
              <a:t> </a:t>
            </a:r>
            <a:r>
              <a:rPr lang="en-US" dirty="0" err="1"/>
              <a:t>lại</a:t>
            </a:r>
            <a:endParaRPr lang="en-US" dirty="0"/>
          </a:p>
        </p:txBody>
      </p:sp>
      <p:sp>
        <p:nvSpPr>
          <p:cNvPr id="9" name="TextBox 8">
            <a:extLst>
              <a:ext uri="{FF2B5EF4-FFF2-40B4-BE49-F238E27FC236}">
                <a16:creationId xmlns:a16="http://schemas.microsoft.com/office/drawing/2014/main" id="{408169C2-14BA-A42E-DA17-548C222FBF77}"/>
              </a:ext>
            </a:extLst>
          </p:cNvPr>
          <p:cNvSpPr txBox="1"/>
          <p:nvPr/>
        </p:nvSpPr>
        <p:spPr>
          <a:xfrm>
            <a:off x="174974" y="879463"/>
            <a:ext cx="11842051" cy="830997"/>
          </a:xfrm>
          <a:prstGeom prst="rect">
            <a:avLst/>
          </a:prstGeom>
          <a:noFill/>
        </p:spPr>
        <p:txBody>
          <a:bodyPr wrap="square">
            <a:spAutoFit/>
          </a:bodyPr>
          <a:lstStyle/>
          <a:p>
            <a:pPr marL="285750" indent="-285750">
              <a:buFont typeface="Wingdings" panose="05000000000000000000" pitchFamily="2" charset="2"/>
              <a:buChar char="q"/>
            </a:pPr>
            <a:r>
              <a:rPr lang="en-US" sz="2400" b="1" dirty="0" err="1">
                <a:solidFill>
                  <a:srgbClr val="FF0000"/>
                </a:solidFill>
                <a:latin typeface="Times New Roman" panose="02020603050405020304" pitchFamily="18" charset="0"/>
                <a:cs typeface="Times New Roman" panose="02020603050405020304" pitchFamily="18" charset="0"/>
              </a:rPr>
              <a:t>Khác</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nhau</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cơ</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bản</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giữa</a:t>
            </a:r>
            <a:r>
              <a:rPr lang="en-US" sz="2400" b="1" dirty="0">
                <a:solidFill>
                  <a:srgbClr val="FF0000"/>
                </a:solidFill>
                <a:latin typeface="Times New Roman" panose="02020603050405020304" pitchFamily="18" charset="0"/>
                <a:cs typeface="Times New Roman" panose="02020603050405020304" pitchFamily="18" charset="0"/>
              </a:rPr>
              <a:t> TypeScript </a:t>
            </a:r>
            <a:r>
              <a:rPr lang="en-US" sz="2400" b="1" dirty="0" err="1">
                <a:solidFill>
                  <a:srgbClr val="FF0000"/>
                </a:solidFill>
                <a:latin typeface="Times New Roman" panose="02020603050405020304" pitchFamily="18" charset="0"/>
                <a:cs typeface="Times New Roman" panose="02020603050405020304" pitchFamily="18" charset="0"/>
              </a:rPr>
              <a:t>và</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JavaScrip</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khi</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khai</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báo</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biến</a:t>
            </a:r>
            <a:r>
              <a:rPr lang="en-US" sz="2400" b="1" dirty="0">
                <a:solidFill>
                  <a:srgbClr val="FF0000"/>
                </a:solidFill>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q"/>
            </a:pPr>
            <a:endParaRPr lang="vi-VN" sz="24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0FC4A0ED-2ABD-7CB3-FFF9-6D16F195545F}"/>
              </a:ext>
            </a:extLst>
          </p:cNvPr>
          <p:cNvGraphicFramePr>
            <a:graphicFrameLocks noGrp="1"/>
          </p:cNvGraphicFramePr>
          <p:nvPr>
            <p:extLst>
              <p:ext uri="{D42A27DB-BD31-4B8C-83A1-F6EECF244321}">
                <p14:modId xmlns:p14="http://schemas.microsoft.com/office/powerpoint/2010/main" val="2136183787"/>
              </p:ext>
            </p:extLst>
          </p:nvPr>
        </p:nvGraphicFramePr>
        <p:xfrm>
          <a:off x="278231" y="1601095"/>
          <a:ext cx="11655518" cy="3840480"/>
        </p:xfrm>
        <a:graphic>
          <a:graphicData uri="http://schemas.openxmlformats.org/drawingml/2006/table">
            <a:tbl>
              <a:tblPr firstRow="1" bandRow="1">
                <a:tableStyleId>{5C22544A-7EE6-4342-B048-85BDC9FD1C3A}</a:tableStyleId>
              </a:tblPr>
              <a:tblGrid>
                <a:gridCol w="5827759">
                  <a:extLst>
                    <a:ext uri="{9D8B030D-6E8A-4147-A177-3AD203B41FA5}">
                      <a16:colId xmlns:a16="http://schemas.microsoft.com/office/drawing/2014/main" val="3335473394"/>
                    </a:ext>
                  </a:extLst>
                </a:gridCol>
                <a:gridCol w="5827759">
                  <a:extLst>
                    <a:ext uri="{9D8B030D-6E8A-4147-A177-3AD203B41FA5}">
                      <a16:colId xmlns:a16="http://schemas.microsoft.com/office/drawing/2014/main" val="616061738"/>
                    </a:ext>
                  </a:extLst>
                </a:gridCol>
              </a:tblGrid>
              <a:tr h="370840">
                <a:tc>
                  <a:txBody>
                    <a:bodyPr/>
                    <a:lstStyle/>
                    <a:p>
                      <a:r>
                        <a:rPr lang="en-US" sz="2400" dirty="0">
                          <a:latin typeface="Times New Roman" panose="02020603050405020304" pitchFamily="18" charset="0"/>
                          <a:cs typeface="Times New Roman" panose="02020603050405020304" pitchFamily="18" charset="0"/>
                        </a:rPr>
                        <a:t>JavaScript</a:t>
                      </a:r>
                    </a:p>
                  </a:txBody>
                  <a:tcPr/>
                </a:tc>
                <a:tc>
                  <a:txBody>
                    <a:bodyPr/>
                    <a:lstStyle/>
                    <a:p>
                      <a:r>
                        <a:rPr lang="en-US" sz="2400" dirty="0">
                          <a:latin typeface="Times New Roman" panose="02020603050405020304" pitchFamily="18" charset="0"/>
                          <a:cs typeface="Times New Roman" panose="02020603050405020304" pitchFamily="18" charset="0"/>
                        </a:rPr>
                        <a:t>TypeScript</a:t>
                      </a:r>
                    </a:p>
                  </a:txBody>
                  <a:tcPr/>
                </a:tc>
                <a:extLst>
                  <a:ext uri="{0D108BD9-81ED-4DB2-BD59-A6C34878D82A}">
                    <a16:rowId xmlns:a16="http://schemas.microsoft.com/office/drawing/2014/main" val="3902169741"/>
                  </a:ext>
                </a:extLst>
              </a:tr>
              <a:tr h="370840">
                <a:tc>
                  <a:txBody>
                    <a:bodyPr/>
                    <a:lstStyle/>
                    <a:p>
                      <a:pPr marL="342900" indent="-342900">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kiểu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viết</a:t>
                      </a:r>
                      <a:r>
                        <a:rPr lang="en-US" sz="2400" dirty="0">
                          <a:latin typeface="Times New Roman" panose="02020603050405020304" pitchFamily="18" charset="0"/>
                          <a:cs typeface="Times New Roman" panose="02020603050405020304" pitchFamily="18" charset="0"/>
                        </a:rPr>
                        <a:t> code</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let age = 20;</a:t>
                      </a:r>
                    </a:p>
                    <a:p>
                      <a:r>
                        <a:rPr lang="en-US" sz="2400" dirty="0">
                          <a:latin typeface="Times New Roman" panose="02020603050405020304" pitchFamily="18" charset="0"/>
                          <a:cs typeface="Times New Roman" panose="02020603050405020304" pitchFamily="18" charset="0"/>
                        </a:rPr>
                        <a:t>age = "</a:t>
                      </a:r>
                      <a:r>
                        <a:rPr lang="en-US" sz="2400" dirty="0" err="1">
                          <a:latin typeface="Times New Roman" panose="02020603050405020304" pitchFamily="18" charset="0"/>
                          <a:cs typeface="Times New Roman" panose="02020603050405020304" pitchFamily="18" charset="0"/>
                        </a:rPr>
                        <a:t>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mươi</a:t>
                      </a:r>
                      <a:r>
                        <a:rPr lang="en-US" sz="2400" dirty="0">
                          <a:latin typeface="Times New Roman" panose="02020603050405020304" pitchFamily="18" charset="0"/>
                          <a:cs typeface="Times New Roman" panose="02020603050405020304" pitchFamily="18" charset="0"/>
                        </a:rPr>
                        <a:t>"; // ❌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lỗi</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Kiểm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viết</a:t>
                      </a:r>
                      <a:r>
                        <a:rPr lang="en-US" sz="2400" dirty="0">
                          <a:latin typeface="Times New Roman" panose="02020603050405020304" pitchFamily="18" charset="0"/>
                          <a:cs typeface="Times New Roman" panose="02020603050405020304" pitchFamily="18" charset="0"/>
                        </a:rPr>
                        <a:t> code, </a:t>
                      </a:r>
                      <a:r>
                        <a:rPr lang="en-US" sz="2400" dirty="0" err="1">
                          <a:latin typeface="Times New Roman" panose="02020603050405020304" pitchFamily="18" charset="0"/>
                          <a:cs typeface="Times New Roman" panose="02020603050405020304" pitchFamily="18" charset="0"/>
                        </a:rPr>
                        <a:t>biên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dịch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sớm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chạy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a:t>
                      </a:r>
                    </a:p>
                    <a:p>
                      <a:r>
                        <a:rPr lang="vi-VN" sz="2400" dirty="0" err="1">
                          <a:latin typeface="Times New Roman" panose="02020603050405020304" pitchFamily="18" charset="0"/>
                          <a:cs typeface="Times New Roman" panose="02020603050405020304" pitchFamily="18" charset="0"/>
                        </a:rPr>
                        <a:t>let</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age</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number</a:t>
                      </a:r>
                      <a:r>
                        <a:rPr lang="vi-VN" sz="2400" dirty="0">
                          <a:latin typeface="Times New Roman" panose="02020603050405020304" pitchFamily="18" charset="0"/>
                          <a:cs typeface="Times New Roman" panose="02020603050405020304" pitchFamily="18" charset="0"/>
                        </a:rPr>
                        <a:t> = 20;</a:t>
                      </a:r>
                    </a:p>
                    <a:p>
                      <a:r>
                        <a:rPr lang="vi-VN" sz="2400" dirty="0" err="1">
                          <a:latin typeface="Times New Roman" panose="02020603050405020304" pitchFamily="18" charset="0"/>
                          <a:cs typeface="Times New Roman" panose="02020603050405020304" pitchFamily="18" charset="0"/>
                        </a:rPr>
                        <a:t>age</a:t>
                      </a:r>
                      <a:r>
                        <a:rPr lang="vi-VN" sz="2400" dirty="0">
                          <a:latin typeface="Times New Roman" panose="02020603050405020304" pitchFamily="18" charset="0"/>
                          <a:cs typeface="Times New Roman" panose="02020603050405020304" pitchFamily="18" charset="0"/>
                        </a:rPr>
                        <a:t> = "hai mươi"; // </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Báo lỗi ngay khi viết </a:t>
                      </a:r>
                      <a:r>
                        <a:rPr lang="vi-VN" sz="2400" dirty="0" err="1">
                          <a:latin typeface="Times New Roman" panose="02020603050405020304" pitchFamily="18" charset="0"/>
                          <a:cs typeface="Times New Roman" panose="02020603050405020304" pitchFamily="18" charset="0"/>
                        </a:rPr>
                        <a:t>code</a:t>
                      </a:r>
                      <a:endParaRPr lang="vi-VN"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28931219"/>
                  </a:ext>
                </a:extLst>
              </a:tr>
            </a:tbl>
          </a:graphicData>
        </a:graphic>
      </p:graphicFrame>
    </p:spTree>
    <p:extLst>
      <p:ext uri="{BB962C8B-B14F-4D97-AF65-F5344CB8AC3E}">
        <p14:creationId xmlns:p14="http://schemas.microsoft.com/office/powerpoint/2010/main" val="415761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D6A7A-09CC-F9DF-EE14-F9A276D461F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6C3151-B091-50F4-D0DF-5B99108711D1}"/>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6D44B729-37FE-BD43-6D95-B7ADFE8C128F}"/>
              </a:ext>
            </a:extLst>
          </p:cNvPr>
          <p:cNvSpPr>
            <a:spLocks noGrp="1"/>
          </p:cNvSpPr>
          <p:nvPr>
            <p:ph type="sldNum" sz="quarter" idx="4"/>
          </p:nvPr>
        </p:nvSpPr>
        <p:spPr/>
        <p:txBody>
          <a:bodyPr/>
          <a:lstStyle/>
          <a:p>
            <a:fld id="{3A02590D-67BD-4DF2-8CAA-B9002293EB8E}" type="slidenum">
              <a:rPr lang="en-US" smtClean="0"/>
              <a:pPr/>
              <a:t>3</a:t>
            </a:fld>
            <a:endParaRPr lang="en-US" dirty="0"/>
          </a:p>
        </p:txBody>
      </p:sp>
      <p:sp>
        <p:nvSpPr>
          <p:cNvPr id="5" name="Title 4">
            <a:extLst>
              <a:ext uri="{FF2B5EF4-FFF2-40B4-BE49-F238E27FC236}">
                <a16:creationId xmlns:a16="http://schemas.microsoft.com/office/drawing/2014/main" id="{E59A0E12-0194-5BE6-599D-2B1C67C54D91}"/>
              </a:ext>
            </a:extLst>
          </p:cNvPr>
          <p:cNvSpPr>
            <a:spLocks noGrp="1"/>
          </p:cNvSpPr>
          <p:nvPr>
            <p:ph type="title"/>
          </p:nvPr>
        </p:nvSpPr>
        <p:spPr/>
        <p:txBody>
          <a:bodyPr/>
          <a:lstStyle/>
          <a:p>
            <a:r>
              <a:rPr lang="en-US" dirty="0"/>
              <a:t>KHAI BÁO VÀ GỌI HÀM</a:t>
            </a:r>
          </a:p>
        </p:txBody>
      </p:sp>
      <p:sp>
        <p:nvSpPr>
          <p:cNvPr id="9" name="TextBox 8">
            <a:extLst>
              <a:ext uri="{FF2B5EF4-FFF2-40B4-BE49-F238E27FC236}">
                <a16:creationId xmlns:a16="http://schemas.microsoft.com/office/drawing/2014/main" id="{B846A0CB-A0C5-FC2E-4078-F3ABE9DA4832}"/>
              </a:ext>
            </a:extLst>
          </p:cNvPr>
          <p:cNvSpPr txBox="1"/>
          <p:nvPr/>
        </p:nvSpPr>
        <p:spPr>
          <a:xfrm>
            <a:off x="174974" y="879463"/>
            <a:ext cx="11842051" cy="4278094"/>
          </a:xfrm>
          <a:prstGeom prst="rect">
            <a:avLst/>
          </a:prstGeom>
          <a:noFill/>
        </p:spPr>
        <p:txBody>
          <a:bodyPr wrap="square">
            <a:spAutoFit/>
          </a:bodyPr>
          <a:lstStyle/>
          <a:p>
            <a:pPr marL="285750" indent="-28575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 </a:t>
            </a:r>
            <a:r>
              <a:rPr lang="vi-VN" sz="2800" b="1" dirty="0">
                <a:solidFill>
                  <a:srgbClr val="FF0000"/>
                </a:solidFill>
                <a:latin typeface="Times New Roman" panose="02020603050405020304" pitchFamily="18" charset="0"/>
                <a:cs typeface="Times New Roman" panose="02020603050405020304" pitchFamily="18" charset="0"/>
              </a:rPr>
              <a:t>Hàm</a:t>
            </a:r>
            <a:r>
              <a:rPr lang="vi-VN" sz="2800" dirty="0">
                <a:latin typeface="Times New Roman" panose="02020603050405020304" pitchFamily="18" charset="0"/>
                <a:cs typeface="Times New Roman" panose="02020603050405020304" pitchFamily="18" charset="0"/>
              </a:rPr>
              <a:t> là </a:t>
            </a:r>
            <a:r>
              <a:rPr lang="vi-VN" sz="2800" b="1" dirty="0">
                <a:latin typeface="Times New Roman" panose="02020603050405020304" pitchFamily="18" charset="0"/>
                <a:cs typeface="Times New Roman" panose="02020603050405020304" pitchFamily="18" charset="0"/>
              </a:rPr>
              <a:t>một khối mã có thể tái sử dụng</a:t>
            </a:r>
            <a:r>
              <a:rPr lang="vi-VN" sz="2800" dirty="0">
                <a:latin typeface="Times New Roman" panose="02020603050405020304" pitchFamily="18" charset="0"/>
                <a:cs typeface="Times New Roman" panose="02020603050405020304" pitchFamily="18" charset="0"/>
              </a:rPr>
              <a:t>, được thiết kế để thực hiện </a:t>
            </a:r>
            <a:r>
              <a:rPr lang="vi-VN" sz="2800" b="1" dirty="0">
                <a:latin typeface="Times New Roman" panose="02020603050405020304" pitchFamily="18" charset="0"/>
                <a:cs typeface="Times New Roman" panose="02020603050405020304" pitchFamily="18" charset="0"/>
              </a:rPr>
              <a:t>một nhiệm vụ cụ thể</a:t>
            </a:r>
            <a:r>
              <a:rPr lang="vi-VN"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vi-VN" sz="2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 </a:t>
            </a:r>
            <a:r>
              <a:rPr lang="vi-VN" sz="2800" b="1" dirty="0">
                <a:solidFill>
                  <a:srgbClr val="FF0000"/>
                </a:solidFill>
                <a:latin typeface="Times New Roman" panose="02020603050405020304" pitchFamily="18" charset="0"/>
                <a:cs typeface="Times New Roman" panose="02020603050405020304" pitchFamily="18" charset="0"/>
              </a:rPr>
              <a:t>Hàm</a:t>
            </a:r>
            <a:r>
              <a:rPr lang="vi-VN" sz="2800" dirty="0">
                <a:latin typeface="Times New Roman" panose="02020603050405020304" pitchFamily="18" charset="0"/>
                <a:cs typeface="Times New Roman" panose="02020603050405020304" pitchFamily="18" charset="0"/>
              </a:rPr>
              <a:t> sẽ được </a:t>
            </a:r>
            <a:r>
              <a:rPr lang="vi-VN" sz="2800" b="1" dirty="0">
                <a:latin typeface="Times New Roman" panose="02020603050405020304" pitchFamily="18" charset="0"/>
                <a:cs typeface="Times New Roman" panose="02020603050405020304" pitchFamily="18" charset="0"/>
              </a:rPr>
              <a:t>thực thi khi chúng được “gọi” (</a:t>
            </a:r>
            <a:r>
              <a:rPr lang="vi-VN" sz="2800" b="1" dirty="0" err="1">
                <a:latin typeface="Times New Roman" panose="02020603050405020304" pitchFamily="18" charset="0"/>
                <a:cs typeface="Times New Roman" panose="02020603050405020304" pitchFamily="18" charset="0"/>
              </a:rPr>
              <a:t>called</a:t>
            </a:r>
            <a:r>
              <a:rPr lang="vi-VN" sz="2800" b="1" dirty="0">
                <a:latin typeface="Times New Roman" panose="02020603050405020304" pitchFamily="18" charset="0"/>
                <a:cs typeface="Times New Roman" panose="02020603050405020304" pitchFamily="18" charset="0"/>
              </a:rPr>
              <a:t>) </a:t>
            </a:r>
            <a:endParaRPr lang="en-US" sz="2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sz="2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Phân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loại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hàm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cơ</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bản</a:t>
            </a:r>
            <a:r>
              <a:rPr lang="en-US" sz="2800" b="1" dirty="0">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Hàm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về</a:t>
            </a:r>
            <a:r>
              <a:rPr lang="en-US" sz="2800" dirty="0">
                <a:latin typeface="Times New Roman" panose="02020603050405020304" pitchFamily="18" charset="0"/>
                <a:cs typeface="Times New Roman" panose="02020603050405020304" pitchFamily="18" charset="0"/>
              </a:rPr>
              <a:t>  </a:t>
            </a:r>
          </a:p>
          <a:p>
            <a:pPr marL="800100" lvl="1" indent="-342900">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Hàm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về</a:t>
            </a:r>
            <a:endParaRPr lang="en-US" sz="2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3501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EF4CC-0AE0-466F-A0A0-1637B2001FA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86A6FA-E0B2-387D-F25C-E8880E511C05}"/>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6F98800F-A88D-0887-C9D6-E06C813C735E}"/>
              </a:ext>
            </a:extLst>
          </p:cNvPr>
          <p:cNvSpPr>
            <a:spLocks noGrp="1"/>
          </p:cNvSpPr>
          <p:nvPr>
            <p:ph type="sldNum" sz="quarter" idx="4"/>
          </p:nvPr>
        </p:nvSpPr>
        <p:spPr/>
        <p:txBody>
          <a:bodyPr/>
          <a:lstStyle/>
          <a:p>
            <a:fld id="{3A02590D-67BD-4DF2-8CAA-B9002293EB8E}" type="slidenum">
              <a:rPr lang="en-US" smtClean="0"/>
              <a:pPr/>
              <a:t>4</a:t>
            </a:fld>
            <a:endParaRPr lang="en-US" dirty="0"/>
          </a:p>
        </p:txBody>
      </p:sp>
      <p:sp>
        <p:nvSpPr>
          <p:cNvPr id="5" name="Title 4">
            <a:extLst>
              <a:ext uri="{FF2B5EF4-FFF2-40B4-BE49-F238E27FC236}">
                <a16:creationId xmlns:a16="http://schemas.microsoft.com/office/drawing/2014/main" id="{ED28D0FB-AAD9-E69F-6B5D-A02655FA320C}"/>
              </a:ext>
            </a:extLst>
          </p:cNvPr>
          <p:cNvSpPr>
            <a:spLocks noGrp="1"/>
          </p:cNvSpPr>
          <p:nvPr>
            <p:ph type="title"/>
          </p:nvPr>
        </p:nvSpPr>
        <p:spPr/>
        <p:txBody>
          <a:bodyPr/>
          <a:lstStyle/>
          <a:p>
            <a:r>
              <a:rPr lang="en-US" dirty="0"/>
              <a:t>KHAI BÁO VÀ GỌI HÀM</a:t>
            </a:r>
          </a:p>
        </p:txBody>
      </p:sp>
      <p:sp>
        <p:nvSpPr>
          <p:cNvPr id="9" name="TextBox 8">
            <a:extLst>
              <a:ext uri="{FF2B5EF4-FFF2-40B4-BE49-F238E27FC236}">
                <a16:creationId xmlns:a16="http://schemas.microsoft.com/office/drawing/2014/main" id="{48A38AE7-2531-495F-3F17-68CD324C573F}"/>
              </a:ext>
            </a:extLst>
          </p:cNvPr>
          <p:cNvSpPr txBox="1"/>
          <p:nvPr/>
        </p:nvSpPr>
        <p:spPr>
          <a:xfrm>
            <a:off x="174974" y="879463"/>
            <a:ext cx="11842051" cy="6370975"/>
          </a:xfrm>
          <a:prstGeom prst="rect">
            <a:avLst/>
          </a:prstGeom>
          <a:noFill/>
        </p:spPr>
        <p:txBody>
          <a:bodyPr wrap="square">
            <a:spAutoFit/>
          </a:bodyPr>
          <a:lstStyle/>
          <a:p>
            <a:pPr marL="285750" indent="-285750">
              <a:buFont typeface="Wingdings" panose="05000000000000000000" pitchFamily="2" charset="2"/>
              <a:buChar char="q"/>
            </a:pPr>
            <a:r>
              <a:rPr lang="en-US" sz="2400" b="1" dirty="0" err="1">
                <a:solidFill>
                  <a:srgbClr val="FF0000"/>
                </a:solidFill>
                <a:latin typeface="Times New Roman" panose="02020603050405020304" pitchFamily="18" charset="0"/>
                <a:cs typeface="Times New Roman" panose="02020603050405020304" pitchFamily="18" charset="0"/>
              </a:rPr>
              <a:t>Hàm</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trong</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Javascript</a:t>
            </a:r>
            <a:endParaRPr lang="en-US" sz="2400" b="1" dirty="0">
              <a:solidFill>
                <a:srgbClr val="FF0000"/>
              </a:solidFill>
              <a:latin typeface="Times New Roman" panose="02020603050405020304" pitchFamily="18" charset="0"/>
              <a:cs typeface="Times New Roman" panose="02020603050405020304" pitchFamily="18" charset="0"/>
            </a:endParaRPr>
          </a:p>
          <a:p>
            <a:pPr lvl="1"/>
            <a:r>
              <a:rPr lang="en-US" sz="2400" dirty="0">
                <a:solidFill>
                  <a:srgbClr val="7030A0"/>
                </a:solidFill>
                <a:latin typeface="Times New Roman" panose="02020603050405020304" pitchFamily="18" charset="0"/>
                <a:cs typeface="Times New Roman" panose="02020603050405020304" pitchFamily="18" charset="0"/>
              </a:rPr>
              <a:t>function</a:t>
            </a:r>
            <a:r>
              <a:rPr lang="en-US" sz="2400" dirty="0">
                <a:latin typeface="Times New Roman" panose="02020603050405020304" pitchFamily="18" charset="0"/>
                <a:cs typeface="Times New Roman" panose="02020603050405020304" pitchFamily="18" charset="0"/>
              </a:rPr>
              <a:t> </a:t>
            </a:r>
            <a:r>
              <a:rPr lang="en-US" sz="2400" dirty="0" err="1">
                <a:solidFill>
                  <a:srgbClr val="7030A0"/>
                </a:solidFill>
                <a:latin typeface="Times New Roman" panose="02020603050405020304" pitchFamily="18" charset="0"/>
                <a:cs typeface="Times New Roman" panose="02020603050405020304" pitchFamily="18" charset="0"/>
              </a:rPr>
              <a:t>tenham</a:t>
            </a:r>
            <a:r>
              <a:rPr lang="en-US" sz="2400" dirty="0">
                <a:latin typeface="Times New Roman" panose="02020603050405020304" pitchFamily="18" charset="0"/>
                <a:cs typeface="Times New Roman" panose="02020603050405020304" pitchFamily="18" charset="0"/>
              </a:rPr>
              <a:t>(</a:t>
            </a:r>
            <a:r>
              <a:rPr lang="en-US" sz="2400" dirty="0" err="1">
                <a:solidFill>
                  <a:srgbClr val="7030A0"/>
                </a:solidFill>
                <a:latin typeface="Times New Roman" panose="02020603050405020304" pitchFamily="18" charset="0"/>
                <a:cs typeface="Times New Roman" panose="02020603050405020304" pitchFamily="18" charset="0"/>
              </a:rPr>
              <a:t>thamso</a:t>
            </a:r>
            <a:r>
              <a:rPr lang="en-US" sz="2400" dirty="0">
                <a:latin typeface="Times New Roman" panose="02020603050405020304" pitchFamily="18" charset="0"/>
                <a:cs typeface="Times New Roman" panose="02020603050405020304" pitchFamily="18" charset="0"/>
              </a:rPr>
              <a:t>) {</a:t>
            </a:r>
          </a:p>
          <a:p>
            <a:pPr lvl="1"/>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câu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lệnh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a:t>
            </a:r>
          </a:p>
          <a:p>
            <a:pPr lvl="1"/>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b="1" dirty="0" err="1">
                <a:solidFill>
                  <a:srgbClr val="FF0000"/>
                </a:solidFill>
                <a:latin typeface="Times New Roman" panose="02020603050405020304" pitchFamily="18" charset="0"/>
                <a:cs typeface="Times New Roman" panose="02020603050405020304" pitchFamily="18" charset="0"/>
              </a:rPr>
              <a:t>Ví</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dụ</a:t>
            </a:r>
            <a:r>
              <a:rPr lang="en-US" sz="2400" b="1" dirty="0">
                <a:solidFill>
                  <a:srgbClr val="FF0000"/>
                </a:solidFill>
                <a:latin typeface="Times New Roman" panose="02020603050405020304" pitchFamily="18" charset="0"/>
                <a:cs typeface="Times New Roman" panose="02020603050405020304" pitchFamily="18" charset="0"/>
              </a:rPr>
              <a:t>:</a:t>
            </a:r>
          </a:p>
          <a:p>
            <a:pPr lvl="1"/>
            <a:r>
              <a:rPr lang="en-US" sz="2400" dirty="0">
                <a:latin typeface="Times New Roman" panose="02020603050405020304" pitchFamily="18" charset="0"/>
                <a:cs typeface="Times New Roman" panose="02020603050405020304" pitchFamily="18" charset="0"/>
              </a:rPr>
              <a:t>function sum(a , b){</a:t>
            </a:r>
          </a:p>
          <a:p>
            <a:pPr lvl="1"/>
            <a:r>
              <a:rPr lang="en-US" sz="2400" dirty="0">
                <a:latin typeface="Times New Roman" panose="02020603050405020304" pitchFamily="18" charset="0"/>
                <a:cs typeface="Times New Roman" panose="02020603050405020304" pitchFamily="18" charset="0"/>
              </a:rPr>
              <a:t>  return a + b;</a:t>
            </a:r>
          </a:p>
          <a:p>
            <a:pPr lvl="1"/>
            <a:r>
              <a:rPr lang="en-US" sz="24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q"/>
            </a:pPr>
            <a:endParaRPr lang="en-US" sz="2400" b="1" dirty="0">
              <a:solidFill>
                <a:srgbClr val="FF0000"/>
              </a:solidFill>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tong(2, 3);      // 5</a:t>
            </a:r>
          </a:p>
          <a:p>
            <a:pPr lvl="1"/>
            <a:r>
              <a:rPr lang="en-US" sz="2400" dirty="0">
                <a:latin typeface="Times New Roman" panose="02020603050405020304" pitchFamily="18" charset="0"/>
                <a:cs typeface="Times New Roman" panose="02020603050405020304" pitchFamily="18" charset="0"/>
              </a:rPr>
              <a:t>tong("2", "3"); // "23" </a:t>
            </a:r>
          </a:p>
          <a:p>
            <a:pPr lvl="1"/>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kiểu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en-US" sz="2400" dirty="0" err="1">
                <a:latin typeface="Times New Roman" panose="02020603050405020304" pitchFamily="18" charset="0"/>
                <a:cs typeface="Times New Roman" panose="02020603050405020304" pitchFamily="18" charset="0"/>
              </a:rPr>
              <a:t>Lỗi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xuất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chạy</a:t>
            </a: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6255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F9B9B-5335-711A-8CAD-FBCCAFBA150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862F02F-69E3-A4E8-CF8D-0E43178F6F11}"/>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199B7E13-0AAD-A0DE-B31D-738FF5367FBF}"/>
              </a:ext>
            </a:extLst>
          </p:cNvPr>
          <p:cNvSpPr>
            <a:spLocks noGrp="1"/>
          </p:cNvSpPr>
          <p:nvPr>
            <p:ph type="sldNum" sz="quarter" idx="4"/>
          </p:nvPr>
        </p:nvSpPr>
        <p:spPr/>
        <p:txBody>
          <a:bodyPr/>
          <a:lstStyle/>
          <a:p>
            <a:fld id="{3A02590D-67BD-4DF2-8CAA-B9002293EB8E}" type="slidenum">
              <a:rPr lang="en-US" smtClean="0"/>
              <a:pPr/>
              <a:t>5</a:t>
            </a:fld>
            <a:endParaRPr lang="en-US" dirty="0"/>
          </a:p>
        </p:txBody>
      </p:sp>
      <p:sp>
        <p:nvSpPr>
          <p:cNvPr id="5" name="Title 4">
            <a:extLst>
              <a:ext uri="{FF2B5EF4-FFF2-40B4-BE49-F238E27FC236}">
                <a16:creationId xmlns:a16="http://schemas.microsoft.com/office/drawing/2014/main" id="{2F3AC455-80ED-3F18-A1E6-30A87FE2AAC0}"/>
              </a:ext>
            </a:extLst>
          </p:cNvPr>
          <p:cNvSpPr>
            <a:spLocks noGrp="1"/>
          </p:cNvSpPr>
          <p:nvPr>
            <p:ph type="title"/>
          </p:nvPr>
        </p:nvSpPr>
        <p:spPr/>
        <p:txBody>
          <a:bodyPr/>
          <a:lstStyle/>
          <a:p>
            <a:r>
              <a:rPr lang="en-US" dirty="0"/>
              <a:t>KHAI BÁO VÀ GỌI HÀM</a:t>
            </a:r>
          </a:p>
        </p:txBody>
      </p:sp>
      <p:sp>
        <p:nvSpPr>
          <p:cNvPr id="9" name="TextBox 8">
            <a:extLst>
              <a:ext uri="{FF2B5EF4-FFF2-40B4-BE49-F238E27FC236}">
                <a16:creationId xmlns:a16="http://schemas.microsoft.com/office/drawing/2014/main" id="{3848FDA1-ED25-7CAA-2639-57ACBF8F2E14}"/>
              </a:ext>
            </a:extLst>
          </p:cNvPr>
          <p:cNvSpPr txBox="1"/>
          <p:nvPr/>
        </p:nvSpPr>
        <p:spPr>
          <a:xfrm>
            <a:off x="174974" y="879463"/>
            <a:ext cx="11842051" cy="2677656"/>
          </a:xfrm>
          <a:prstGeom prst="rect">
            <a:avLst/>
          </a:prstGeom>
          <a:noFill/>
        </p:spPr>
        <p:txBody>
          <a:bodyPr wrap="square">
            <a:spAutoFit/>
          </a:bodyPr>
          <a:lstStyle/>
          <a:p>
            <a:pPr marL="342900" indent="-342900">
              <a:buFont typeface="Wingdings" panose="05000000000000000000" pitchFamily="2" charset="2"/>
              <a:buChar char="q"/>
            </a:pPr>
            <a:r>
              <a:rPr lang="vi-VN" sz="2400" b="1" dirty="0">
                <a:solidFill>
                  <a:srgbClr val="FF0000"/>
                </a:solidFill>
                <a:latin typeface="Times New Roman" panose="02020603050405020304" pitchFamily="18" charset="0"/>
                <a:cs typeface="Times New Roman" panose="02020603050405020304" pitchFamily="18" charset="0"/>
              </a:rPr>
              <a:t>Hàm trong </a:t>
            </a:r>
            <a:r>
              <a:rPr lang="vi-VN" sz="2400" b="1" dirty="0" err="1">
                <a:solidFill>
                  <a:srgbClr val="FF0000"/>
                </a:solidFill>
                <a:latin typeface="Times New Roman" panose="02020603050405020304" pitchFamily="18" charset="0"/>
                <a:cs typeface="Times New Roman" panose="02020603050405020304" pitchFamily="18" charset="0"/>
              </a:rPr>
              <a:t>TypeScript</a:t>
            </a:r>
            <a:r>
              <a:rPr lang="vi-VN" sz="2400" b="1" dirty="0">
                <a:solidFill>
                  <a:srgbClr val="FF0000"/>
                </a:solidFill>
                <a:latin typeface="Times New Roman" panose="02020603050405020304" pitchFamily="18" charset="0"/>
                <a:cs typeface="Times New Roman" panose="02020603050405020304" pitchFamily="18" charset="0"/>
              </a:rPr>
              <a:t> (TS)</a:t>
            </a:r>
          </a:p>
          <a:p>
            <a:r>
              <a:rPr lang="en-US" sz="2400" b="1" dirty="0">
                <a:latin typeface="Times New Roman" panose="02020603050405020304" pitchFamily="18" charset="0"/>
                <a:cs typeface="Times New Roman" panose="02020603050405020304" pitchFamily="18" charset="0"/>
              </a:rPr>
              <a:t>   </a:t>
            </a:r>
            <a:r>
              <a:rPr lang="vi-VN" sz="2400" b="1" dirty="0">
                <a:latin typeface="Times New Roman" panose="02020603050405020304" pitchFamily="18" charset="0"/>
                <a:cs typeface="Times New Roman" panose="02020603050405020304" pitchFamily="18" charset="0"/>
              </a:rPr>
              <a:t>Đặc điểm</a:t>
            </a:r>
            <a:r>
              <a:rPr lang="en-US" sz="2400" b="1" dirty="0">
                <a:latin typeface="Times New Roman" panose="02020603050405020304" pitchFamily="18" charset="0"/>
                <a:cs typeface="Times New Roman" panose="02020603050405020304" pitchFamily="18" charset="0"/>
              </a:rPr>
              <a:t>:</a:t>
            </a:r>
            <a:endParaRPr lang="vi-VN" sz="2400" b="1"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vi-VN" sz="2400" dirty="0">
                <a:latin typeface="Times New Roman" panose="02020603050405020304" pitchFamily="18" charset="0"/>
                <a:cs typeface="Times New Roman" panose="02020603050405020304" pitchFamily="18" charset="0"/>
              </a:rPr>
              <a:t>Khai báo kiểu cho tham số và giá trị trả về</a:t>
            </a:r>
          </a:p>
          <a:p>
            <a:pPr marL="800100" lvl="1" indent="-342900">
              <a:buFont typeface="Wingdings" panose="05000000000000000000" pitchFamily="2" charset="2"/>
              <a:buChar char="§"/>
            </a:pPr>
            <a:r>
              <a:rPr lang="vi-VN" sz="2400" dirty="0">
                <a:latin typeface="Times New Roman" panose="02020603050405020304" pitchFamily="18" charset="0"/>
                <a:cs typeface="Times New Roman" panose="02020603050405020304" pitchFamily="18" charset="0"/>
              </a:rPr>
              <a:t>Lỗi được phát hiện ngay khi viết </a:t>
            </a:r>
            <a:r>
              <a:rPr lang="vi-VN" sz="2400" dirty="0" err="1">
                <a:latin typeface="Times New Roman" panose="02020603050405020304" pitchFamily="18" charset="0"/>
                <a:cs typeface="Times New Roman" panose="02020603050405020304" pitchFamily="18" charset="0"/>
              </a:rPr>
              <a:t>code</a:t>
            </a:r>
            <a:endParaRPr lang="vi-VN"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vi-VN" sz="2400" dirty="0" err="1">
                <a:latin typeface="Times New Roman" panose="02020603050405020304" pitchFamily="18" charset="0"/>
                <a:cs typeface="Times New Roman" panose="02020603050405020304" pitchFamily="18" charset="0"/>
              </a:rPr>
              <a:t>Code</a:t>
            </a:r>
            <a:r>
              <a:rPr lang="vi-VN" sz="2400" dirty="0">
                <a:latin typeface="Times New Roman" panose="02020603050405020304" pitchFamily="18" charset="0"/>
                <a:cs typeface="Times New Roman" panose="02020603050405020304" pitchFamily="18" charset="0"/>
              </a:rPr>
              <a:t> rõ ràng – an toàn – dễ bảo trì</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endParaRPr lang="vi-VN" sz="24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D70B9E7B-3320-D9B3-4368-B09904DCEBAB}"/>
              </a:ext>
            </a:extLst>
          </p:cNvPr>
          <p:cNvGraphicFramePr>
            <a:graphicFrameLocks noGrp="1"/>
          </p:cNvGraphicFramePr>
          <p:nvPr/>
        </p:nvGraphicFramePr>
        <p:xfrm>
          <a:off x="226601" y="3133737"/>
          <a:ext cx="11738796" cy="3169920"/>
        </p:xfrm>
        <a:graphic>
          <a:graphicData uri="http://schemas.openxmlformats.org/drawingml/2006/table">
            <a:tbl>
              <a:tblPr firstRow="1" bandRow="1">
                <a:tableStyleId>{5C22544A-7EE6-4342-B048-85BDC9FD1C3A}</a:tableStyleId>
              </a:tblPr>
              <a:tblGrid>
                <a:gridCol w="1447638">
                  <a:extLst>
                    <a:ext uri="{9D8B030D-6E8A-4147-A177-3AD203B41FA5}">
                      <a16:colId xmlns:a16="http://schemas.microsoft.com/office/drawing/2014/main" val="2323562140"/>
                    </a:ext>
                  </a:extLst>
                </a:gridCol>
                <a:gridCol w="5145741">
                  <a:extLst>
                    <a:ext uri="{9D8B030D-6E8A-4147-A177-3AD203B41FA5}">
                      <a16:colId xmlns:a16="http://schemas.microsoft.com/office/drawing/2014/main" val="1395968206"/>
                    </a:ext>
                  </a:extLst>
                </a:gridCol>
                <a:gridCol w="5145417">
                  <a:extLst>
                    <a:ext uri="{9D8B030D-6E8A-4147-A177-3AD203B41FA5}">
                      <a16:colId xmlns:a16="http://schemas.microsoft.com/office/drawing/2014/main" val="2102410851"/>
                    </a:ext>
                  </a:extLst>
                </a:gridCol>
              </a:tblGrid>
              <a:tr h="370840">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r>
                        <a:rPr lang="en-US" sz="2400" dirty="0" err="1">
                          <a:latin typeface="Times New Roman" panose="02020603050405020304" pitchFamily="18" charset="0"/>
                          <a:cs typeface="Times New Roman" panose="02020603050405020304" pitchFamily="18" charset="0"/>
                        </a:rPr>
                        <a:t>Hàm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400" dirty="0" err="1">
                          <a:latin typeface="Times New Roman" panose="02020603050405020304" pitchFamily="18" charset="0"/>
                          <a:cs typeface="Times New Roman" panose="02020603050405020304" pitchFamily="18" charset="0"/>
                        </a:rPr>
                        <a:t>Hàm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9561309"/>
                  </a:ext>
                </a:extLst>
              </a:tr>
              <a:tr h="370840">
                <a:tc>
                  <a:txBody>
                    <a:bodyPr/>
                    <a:lstStyle/>
                    <a:p>
                      <a:r>
                        <a:rPr lang="en-US" sz="2000" dirty="0">
                          <a:latin typeface="Times New Roman" panose="02020603050405020304" pitchFamily="18" charset="0"/>
                          <a:cs typeface="Times New Roman" panose="02020603050405020304" pitchFamily="18" charset="0"/>
                        </a:rPr>
                        <a:t>Cú </a:t>
                      </a:r>
                      <a:r>
                        <a:rPr lang="en-US" sz="2000" dirty="0" err="1">
                          <a:latin typeface="Times New Roman" panose="02020603050405020304" pitchFamily="18" charset="0"/>
                          <a:cs typeface="Times New Roman" panose="02020603050405020304" pitchFamily="18" charset="0"/>
                        </a:rPr>
                        <a:t>pháp</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function </a:t>
                      </a:r>
                      <a:r>
                        <a:rPr lang="en-US" sz="2000" dirty="0" err="1">
                          <a:latin typeface="Times New Roman" panose="02020603050405020304" pitchFamily="18" charset="0"/>
                          <a:cs typeface="Times New Roman" panose="02020603050405020304" pitchFamily="18" charset="0"/>
                        </a:rPr>
                        <a:t>tenHam</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thamSo</a:t>
                      </a:r>
                      <a:r>
                        <a:rPr lang="en-US" sz="2000" dirty="0">
                          <a:latin typeface="Times New Roman" panose="02020603050405020304" pitchFamily="18" charset="0"/>
                          <a:cs typeface="Times New Roman" panose="02020603050405020304" pitchFamily="18" charset="0"/>
                        </a:rPr>
                        <a:t>: Kieu): </a:t>
                      </a:r>
                      <a:r>
                        <a:rPr lang="en-US" sz="2000" dirty="0" err="1">
                          <a:latin typeface="Times New Roman" panose="02020603050405020304" pitchFamily="18" charset="0"/>
                          <a:cs typeface="Times New Roman" panose="02020603050405020304" pitchFamily="18" charset="0"/>
                        </a:rPr>
                        <a:t>KieuTraVe</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xử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lý</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return </a:t>
                      </a:r>
                      <a:r>
                        <a:rPr lang="en-US" sz="2000" dirty="0" err="1">
                          <a:latin typeface="Times New Roman" panose="02020603050405020304" pitchFamily="18" charset="0"/>
                          <a:cs typeface="Times New Roman" panose="02020603050405020304" pitchFamily="18" charset="0"/>
                        </a:rPr>
                        <a:t>giaTri</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t>
                      </a:r>
                    </a:p>
                  </a:txBody>
                  <a:tcPr/>
                </a:tc>
                <a:tc>
                  <a:txBody>
                    <a:bodyPr/>
                    <a:lstStyle/>
                    <a:p>
                      <a:r>
                        <a:rPr lang="en-US" sz="2000" dirty="0">
                          <a:latin typeface="Times New Roman" panose="02020603050405020304" pitchFamily="18" charset="0"/>
                          <a:cs typeface="Times New Roman" panose="02020603050405020304" pitchFamily="18" charset="0"/>
                        </a:rPr>
                        <a:t>function </a:t>
                      </a:r>
                      <a:r>
                        <a:rPr lang="en-US" sz="2000" dirty="0" err="1">
                          <a:latin typeface="Times New Roman" panose="02020603050405020304" pitchFamily="18" charset="0"/>
                          <a:cs typeface="Times New Roman" panose="02020603050405020304" pitchFamily="18" charset="0"/>
                        </a:rPr>
                        <a:t>tenHam</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thamSo</a:t>
                      </a:r>
                      <a:r>
                        <a:rPr lang="en-US" sz="2000" dirty="0">
                          <a:latin typeface="Times New Roman" panose="02020603050405020304" pitchFamily="18" charset="0"/>
                          <a:cs typeface="Times New Roman" panose="02020603050405020304" pitchFamily="18" charset="0"/>
                        </a:rPr>
                        <a:t>: Kieu): void {</a:t>
                      </a:r>
                    </a:p>
                    <a:p>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xử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lý</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87964211"/>
                  </a:ext>
                </a:extLst>
              </a:tr>
              <a:tr h="370840">
                <a:tc>
                  <a:txBody>
                    <a:bodyPr/>
                    <a:lstStyle/>
                    <a:p>
                      <a:r>
                        <a:rPr lang="en-US" sz="2000" dirty="0" err="1">
                          <a:latin typeface="Times New Roman" panose="02020603050405020304" pitchFamily="18" charset="0"/>
                          <a:cs typeface="Times New Roman" panose="02020603050405020304" pitchFamily="18" charset="0"/>
                        </a:rPr>
                        <a:t>Ví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function sum(a: number, b: number): number {</a:t>
                      </a:r>
                    </a:p>
                    <a:p>
                      <a:r>
                        <a:rPr lang="en-US" sz="2000" dirty="0">
                          <a:latin typeface="Times New Roman" panose="02020603050405020304" pitchFamily="18" charset="0"/>
                          <a:cs typeface="Times New Roman" panose="02020603050405020304" pitchFamily="18" charset="0"/>
                        </a:rPr>
                        <a:t>  return a + b;</a:t>
                      </a:r>
                    </a:p>
                    <a:p>
                      <a:r>
                        <a:rPr lang="en-US" sz="2000" dirty="0">
                          <a:latin typeface="Times New Roman" panose="02020603050405020304" pitchFamily="18" charset="0"/>
                          <a:cs typeface="Times New Roman" panose="02020603050405020304" pitchFamily="18" charset="0"/>
                        </a:rPr>
                        <a:t>}</a:t>
                      </a:r>
                    </a:p>
                  </a:txBody>
                  <a:tcPr/>
                </a:tc>
                <a:tc>
                  <a:txBody>
                    <a:bodyPr/>
                    <a:lstStyle/>
                    <a:p>
                      <a:r>
                        <a:rPr lang="en-US" sz="2000" dirty="0">
                          <a:latin typeface="Times New Roman" panose="02020603050405020304" pitchFamily="18" charset="0"/>
                          <a:cs typeface="Times New Roman" panose="02020603050405020304" pitchFamily="18" charset="0"/>
                        </a:rPr>
                        <a:t>function </a:t>
                      </a:r>
                      <a:r>
                        <a:rPr lang="en-US" sz="2000" dirty="0" err="1">
                          <a:latin typeface="Times New Roman" panose="02020603050405020304" pitchFamily="18" charset="0"/>
                          <a:cs typeface="Times New Roman" panose="02020603050405020304" pitchFamily="18" charset="0"/>
                        </a:rPr>
                        <a:t>sayHello</a:t>
                      </a:r>
                      <a:r>
                        <a:rPr lang="en-US" sz="2000" dirty="0">
                          <a:latin typeface="Times New Roman" panose="02020603050405020304" pitchFamily="18" charset="0"/>
                          <a:cs typeface="Times New Roman" panose="02020603050405020304" pitchFamily="18" charset="0"/>
                        </a:rPr>
                        <a:t>(): void {</a:t>
                      </a:r>
                    </a:p>
                    <a:p>
                      <a:r>
                        <a:rPr lang="en-US" sz="2000" dirty="0">
                          <a:latin typeface="Times New Roman" panose="02020603050405020304" pitchFamily="18" charset="0"/>
                          <a:cs typeface="Times New Roman" panose="02020603050405020304" pitchFamily="18" charset="0"/>
                        </a:rPr>
                        <a:t>  console.log("Hello TypeScript");</a:t>
                      </a:r>
                    </a:p>
                    <a:p>
                      <a:r>
                        <a:rPr lang="en-US" sz="20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051425953"/>
                  </a:ext>
                </a:extLst>
              </a:tr>
              <a:tr h="370840">
                <a:tc>
                  <a:txBody>
                    <a:bodyPr/>
                    <a:lstStyle/>
                    <a:p>
                      <a:r>
                        <a:rPr lang="en-US" sz="2000" dirty="0" err="1">
                          <a:latin typeface="Times New Roman" panose="02020603050405020304" pitchFamily="18" charset="0"/>
                          <a:cs typeface="Times New Roman" panose="02020603050405020304" pitchFamily="18" charset="0"/>
                        </a:rPr>
                        <a:t>Gọi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hàm</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sum(2,3);</a:t>
                      </a:r>
                      <a:endParaRPr lang="en-US" sz="2000" dirty="0"/>
                    </a:p>
                  </a:txBody>
                  <a:tcPr/>
                </a:tc>
                <a:tc>
                  <a:txBody>
                    <a:bodyPr/>
                    <a:lstStyle/>
                    <a:p>
                      <a:r>
                        <a:rPr lang="en-US" sz="2000" dirty="0" err="1">
                          <a:latin typeface="Times New Roman" panose="02020603050405020304" pitchFamily="18" charset="0"/>
                          <a:cs typeface="Times New Roman" panose="02020603050405020304" pitchFamily="18" charset="0"/>
                        </a:rPr>
                        <a:t>sayHello</a:t>
                      </a:r>
                      <a:r>
                        <a:rPr lang="en-US" sz="2000" dirty="0">
                          <a:latin typeface="Times New Roman" panose="02020603050405020304" pitchFamily="18" charset="0"/>
                          <a:cs typeface="Times New Roman" panose="02020603050405020304" pitchFamily="18" charset="0"/>
                        </a:rPr>
                        <a:t>();</a:t>
                      </a:r>
                      <a:endParaRPr lang="en-US" sz="2000" dirty="0"/>
                    </a:p>
                  </a:txBody>
                  <a:tcPr/>
                </a:tc>
                <a:extLst>
                  <a:ext uri="{0D108BD9-81ED-4DB2-BD59-A6C34878D82A}">
                    <a16:rowId xmlns:a16="http://schemas.microsoft.com/office/drawing/2014/main" val="2394995023"/>
                  </a:ext>
                </a:extLst>
              </a:tr>
            </a:tbl>
          </a:graphicData>
        </a:graphic>
      </p:graphicFrame>
    </p:spTree>
    <p:extLst>
      <p:ext uri="{BB962C8B-B14F-4D97-AF65-F5344CB8AC3E}">
        <p14:creationId xmlns:p14="http://schemas.microsoft.com/office/powerpoint/2010/main" val="385856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00DF7-A264-75C9-7E83-DAF99A473ED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BD5623-6459-CF42-E28D-CB52104CFCEC}"/>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85143085-1CE2-F0D7-8EDC-4DF7FDAF3932}"/>
              </a:ext>
            </a:extLst>
          </p:cNvPr>
          <p:cNvSpPr>
            <a:spLocks noGrp="1"/>
          </p:cNvSpPr>
          <p:nvPr>
            <p:ph type="sldNum" sz="quarter" idx="4"/>
          </p:nvPr>
        </p:nvSpPr>
        <p:spPr/>
        <p:txBody>
          <a:bodyPr/>
          <a:lstStyle/>
          <a:p>
            <a:fld id="{3A02590D-67BD-4DF2-8CAA-B9002293EB8E}" type="slidenum">
              <a:rPr lang="en-US" smtClean="0"/>
              <a:pPr/>
              <a:t>6</a:t>
            </a:fld>
            <a:endParaRPr lang="en-US" dirty="0"/>
          </a:p>
        </p:txBody>
      </p:sp>
      <p:sp>
        <p:nvSpPr>
          <p:cNvPr id="5" name="Title 4">
            <a:extLst>
              <a:ext uri="{FF2B5EF4-FFF2-40B4-BE49-F238E27FC236}">
                <a16:creationId xmlns:a16="http://schemas.microsoft.com/office/drawing/2014/main" id="{776CAB5D-4CCE-9301-9988-49FD1DF11B06}"/>
              </a:ext>
            </a:extLst>
          </p:cNvPr>
          <p:cNvSpPr>
            <a:spLocks noGrp="1"/>
          </p:cNvSpPr>
          <p:nvPr>
            <p:ph type="title"/>
          </p:nvPr>
        </p:nvSpPr>
        <p:spPr/>
        <p:txBody>
          <a:bodyPr/>
          <a:lstStyle/>
          <a:p>
            <a:r>
              <a:rPr lang="en-US" dirty="0"/>
              <a:t>BÀI TẬP SỐ 1</a:t>
            </a:r>
          </a:p>
        </p:txBody>
      </p:sp>
      <p:sp>
        <p:nvSpPr>
          <p:cNvPr id="9" name="TextBox 8">
            <a:extLst>
              <a:ext uri="{FF2B5EF4-FFF2-40B4-BE49-F238E27FC236}">
                <a16:creationId xmlns:a16="http://schemas.microsoft.com/office/drawing/2014/main" id="{F381F63B-66A7-AA03-5E8F-A5012B1BE798}"/>
              </a:ext>
            </a:extLst>
          </p:cNvPr>
          <p:cNvSpPr txBox="1"/>
          <p:nvPr/>
        </p:nvSpPr>
        <p:spPr>
          <a:xfrm>
            <a:off x="174974" y="879463"/>
            <a:ext cx="11842051" cy="6063198"/>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 </a:t>
            </a:r>
            <a:r>
              <a:rPr lang="vi-VN" sz="2000" b="1" dirty="0">
                <a:latin typeface="Times New Roman" panose="02020603050405020304" pitchFamily="18" charset="0"/>
                <a:cs typeface="Times New Roman" panose="02020603050405020304" pitchFamily="18" charset="0"/>
              </a:rPr>
              <a:t>YÊU CẦU</a:t>
            </a:r>
          </a:p>
          <a:p>
            <a:pPr marL="342900" indent="-342900">
              <a:buFont typeface="Wingdings" panose="05000000000000000000" pitchFamily="2" charset="2"/>
              <a:buChar char="q"/>
            </a:pPr>
            <a:r>
              <a:rPr lang="vi-VN" sz="2000" dirty="0">
                <a:latin typeface="Times New Roman" panose="02020603050405020304" pitchFamily="18" charset="0"/>
                <a:cs typeface="Times New Roman" panose="02020603050405020304" pitchFamily="18" charset="0"/>
              </a:rPr>
              <a:t>Khai báo </a:t>
            </a:r>
            <a:r>
              <a:rPr lang="vi-VN" sz="2000" b="1" dirty="0">
                <a:latin typeface="Times New Roman" panose="02020603050405020304" pitchFamily="18" charset="0"/>
                <a:cs typeface="Times New Roman" panose="02020603050405020304" pitchFamily="18" charset="0"/>
              </a:rPr>
              <a:t>2 biến</a:t>
            </a:r>
            <a:r>
              <a:rPr lang="vi-VN" sz="2000" dirty="0">
                <a:latin typeface="Times New Roman" panose="02020603050405020304" pitchFamily="18" charset="0"/>
                <a:cs typeface="Times New Roman" panose="02020603050405020304" pitchFamily="18" charset="0"/>
              </a:rPr>
              <a:t>:</a:t>
            </a:r>
          </a:p>
          <a:p>
            <a:pPr lvl="1"/>
            <a:r>
              <a:rPr lang="vi-VN" sz="2000" dirty="0" err="1">
                <a:latin typeface="Times New Roman" panose="02020603050405020304" pitchFamily="18" charset="0"/>
                <a:cs typeface="Times New Roman" panose="02020603050405020304" pitchFamily="18" charset="0"/>
              </a:rPr>
              <a:t>diemVan</a:t>
            </a:r>
            <a:endParaRPr lang="vi-VN" sz="2000" dirty="0">
              <a:latin typeface="Times New Roman" panose="02020603050405020304" pitchFamily="18" charset="0"/>
              <a:cs typeface="Times New Roman" panose="02020603050405020304" pitchFamily="18" charset="0"/>
            </a:endParaRPr>
          </a:p>
          <a:p>
            <a:pPr lvl="1"/>
            <a:r>
              <a:rPr lang="vi-VN" sz="2000" dirty="0" err="1">
                <a:latin typeface="Times New Roman" panose="02020603050405020304" pitchFamily="18" charset="0"/>
                <a:cs typeface="Times New Roman" panose="02020603050405020304" pitchFamily="18" charset="0"/>
              </a:rPr>
              <a:t>diemToan</a:t>
            </a:r>
            <a:br>
              <a:rPr lang="vi-VN" sz="2000" dirty="0">
                <a:latin typeface="Times New Roman" panose="02020603050405020304" pitchFamily="18" charset="0"/>
                <a:cs typeface="Times New Roman" panose="02020603050405020304" pitchFamily="18" charset="0"/>
              </a:rPr>
            </a:br>
            <a:r>
              <a:rPr lang="vi-VN" sz="2000" dirty="0">
                <a:latin typeface="Times New Roman" panose="02020603050405020304" pitchFamily="18" charset="0"/>
                <a:cs typeface="Times New Roman" panose="02020603050405020304" pitchFamily="18" charset="0"/>
              </a:rPr>
              <a:t>(kiểu </a:t>
            </a:r>
            <a:r>
              <a:rPr lang="vi-VN" sz="2000" dirty="0" err="1">
                <a:latin typeface="Times New Roman" panose="02020603050405020304" pitchFamily="18" charset="0"/>
                <a:cs typeface="Times New Roman" panose="02020603050405020304" pitchFamily="18" charset="0"/>
              </a:rPr>
              <a:t>number</a:t>
            </a:r>
            <a:r>
              <a:rPr lang="vi-VN" sz="2000" dirty="0">
                <a:latin typeface="Times New Roman" panose="02020603050405020304" pitchFamily="18" charset="0"/>
                <a:cs typeface="Times New Roman" panose="02020603050405020304" pitchFamily="18" charset="0"/>
              </a:rPr>
              <a:t>, giá trị tùy chọn)</a:t>
            </a:r>
          </a:p>
          <a:p>
            <a:pPr marL="342900" indent="-342900">
              <a:buFont typeface="Wingdings" panose="05000000000000000000" pitchFamily="2" charset="2"/>
              <a:buChar char="q"/>
            </a:pPr>
            <a:r>
              <a:rPr lang="vi-VN" sz="2000" dirty="0">
                <a:latin typeface="Times New Roman" panose="02020603050405020304" pitchFamily="18" charset="0"/>
                <a:cs typeface="Times New Roman" panose="02020603050405020304" pitchFamily="18" charset="0"/>
              </a:rPr>
              <a:t>Viết </a:t>
            </a:r>
            <a:r>
              <a:rPr lang="vi-VN" sz="2000" b="1" dirty="0" err="1">
                <a:latin typeface="Times New Roman" panose="02020603050405020304" pitchFamily="18" charset="0"/>
                <a:cs typeface="Times New Roman" panose="02020603050405020304" pitchFamily="18" charset="0"/>
              </a:rPr>
              <a:t>function</a:t>
            </a:r>
            <a:r>
              <a:rPr lang="vi-VN" sz="2000" b="1" dirty="0">
                <a:latin typeface="Times New Roman" panose="02020603050405020304" pitchFamily="18" charset="0"/>
                <a:cs typeface="Times New Roman" panose="02020603050405020304" pitchFamily="18" charset="0"/>
              </a:rPr>
              <a:t> có giá trị trả về</a:t>
            </a:r>
            <a:r>
              <a:rPr lang="vi-VN" sz="2000" dirty="0">
                <a:latin typeface="Times New Roman" panose="02020603050405020304" pitchFamily="18" charset="0"/>
                <a:cs typeface="Times New Roman" panose="02020603050405020304" pitchFamily="18" charset="0"/>
              </a:rPr>
              <a:t>:</a:t>
            </a:r>
          </a:p>
          <a:p>
            <a:pPr lvl="1"/>
            <a:r>
              <a:rPr lang="vi-VN" sz="2000" dirty="0">
                <a:latin typeface="Times New Roman" panose="02020603050405020304" pitchFamily="18" charset="0"/>
                <a:cs typeface="Times New Roman" panose="02020603050405020304" pitchFamily="18" charset="0"/>
              </a:rPr>
              <a:t>Tên: </a:t>
            </a:r>
            <a:r>
              <a:rPr lang="vi-VN" sz="2000" dirty="0" err="1">
                <a:latin typeface="Times New Roman" panose="02020603050405020304" pitchFamily="18" charset="0"/>
                <a:cs typeface="Times New Roman" panose="02020603050405020304" pitchFamily="18" charset="0"/>
              </a:rPr>
              <a:t>tinhTong</a:t>
            </a:r>
            <a:endParaRPr lang="vi-VN" sz="2000" dirty="0">
              <a:latin typeface="Times New Roman" panose="02020603050405020304" pitchFamily="18" charset="0"/>
              <a:cs typeface="Times New Roman" panose="02020603050405020304" pitchFamily="18" charset="0"/>
            </a:endParaRPr>
          </a:p>
          <a:p>
            <a:pPr lvl="1"/>
            <a:r>
              <a:rPr lang="vi-VN" sz="2000" dirty="0">
                <a:latin typeface="Times New Roman" panose="02020603050405020304" pitchFamily="18" charset="0"/>
                <a:cs typeface="Times New Roman" panose="02020603050405020304" pitchFamily="18" charset="0"/>
              </a:rPr>
              <a:t>Tham số: 2 số</a:t>
            </a:r>
          </a:p>
          <a:p>
            <a:pPr lvl="1"/>
            <a:r>
              <a:rPr lang="vi-VN" sz="2000" dirty="0">
                <a:latin typeface="Times New Roman" panose="02020603050405020304" pitchFamily="18" charset="0"/>
                <a:cs typeface="Times New Roman" panose="02020603050405020304" pitchFamily="18" charset="0"/>
              </a:rPr>
              <a:t>Trả về: tổng của 2 số</a:t>
            </a:r>
          </a:p>
          <a:p>
            <a:pPr marL="342900" indent="-342900">
              <a:buFont typeface="Wingdings" panose="05000000000000000000" pitchFamily="2" charset="2"/>
              <a:buChar char="q"/>
            </a:pPr>
            <a:r>
              <a:rPr lang="vi-VN" sz="2000" dirty="0">
                <a:latin typeface="Times New Roman" panose="02020603050405020304" pitchFamily="18" charset="0"/>
                <a:cs typeface="Times New Roman" panose="02020603050405020304" pitchFamily="18" charset="0"/>
              </a:rPr>
              <a:t>Viết </a:t>
            </a:r>
            <a:r>
              <a:rPr lang="vi-VN" sz="2000" b="1" dirty="0" err="1">
                <a:latin typeface="Times New Roman" panose="02020603050405020304" pitchFamily="18" charset="0"/>
                <a:cs typeface="Times New Roman" panose="02020603050405020304" pitchFamily="18" charset="0"/>
              </a:rPr>
              <a:t>function</a:t>
            </a:r>
            <a:r>
              <a:rPr lang="vi-VN" sz="2000" b="1" dirty="0">
                <a:latin typeface="Times New Roman" panose="02020603050405020304" pitchFamily="18" charset="0"/>
                <a:cs typeface="Times New Roman" panose="02020603050405020304" pitchFamily="18" charset="0"/>
              </a:rPr>
              <a:t> không có giá trị trả về</a:t>
            </a:r>
            <a:r>
              <a:rPr lang="vi-VN" sz="2000" dirty="0">
                <a:latin typeface="Times New Roman" panose="02020603050405020304" pitchFamily="18" charset="0"/>
                <a:cs typeface="Times New Roman" panose="02020603050405020304" pitchFamily="18" charset="0"/>
              </a:rPr>
              <a:t>:</a:t>
            </a:r>
          </a:p>
          <a:p>
            <a:pPr lvl="1"/>
            <a:r>
              <a:rPr lang="vi-VN" sz="2000" dirty="0">
                <a:latin typeface="Times New Roman" panose="02020603050405020304" pitchFamily="18" charset="0"/>
                <a:cs typeface="Times New Roman" panose="02020603050405020304" pitchFamily="18" charset="0"/>
              </a:rPr>
              <a:t>Tên: </a:t>
            </a:r>
            <a:r>
              <a:rPr lang="vi-VN" sz="2000" dirty="0" err="1">
                <a:latin typeface="Times New Roman" panose="02020603050405020304" pitchFamily="18" charset="0"/>
                <a:cs typeface="Times New Roman" panose="02020603050405020304" pitchFamily="18" charset="0"/>
              </a:rPr>
              <a:t>hienThiKetQua</a:t>
            </a:r>
            <a:endParaRPr lang="vi-VN" sz="2000" dirty="0">
              <a:latin typeface="Times New Roman" panose="02020603050405020304" pitchFamily="18" charset="0"/>
              <a:cs typeface="Times New Roman" panose="02020603050405020304" pitchFamily="18" charset="0"/>
            </a:endParaRPr>
          </a:p>
          <a:p>
            <a:pPr lvl="1"/>
            <a:r>
              <a:rPr lang="vi-VN" sz="2000" dirty="0">
                <a:latin typeface="Times New Roman" panose="02020603050405020304" pitchFamily="18" charset="0"/>
                <a:cs typeface="Times New Roman" panose="02020603050405020304" pitchFamily="18" charset="0"/>
              </a:rPr>
              <a:t>Tham số: tổng điểm</a:t>
            </a:r>
          </a:p>
          <a:p>
            <a:pPr lvl="1"/>
            <a:r>
              <a:rPr lang="vi-VN" sz="2000" dirty="0">
                <a:latin typeface="Times New Roman" panose="02020603050405020304" pitchFamily="18" charset="0"/>
                <a:cs typeface="Times New Roman" panose="02020603050405020304" pitchFamily="18" charset="0"/>
              </a:rPr>
              <a:t>Nếu tổng &gt; 10 → in ra “</a:t>
            </a:r>
            <a:r>
              <a:rPr lang="en-US" sz="2000" dirty="0" err="1">
                <a:latin typeface="Times New Roman" panose="02020603050405020304" pitchFamily="18" charset="0"/>
                <a:cs typeface="Times New Roman" panose="02020603050405020304" pitchFamily="18" charset="0"/>
              </a:rPr>
              <a:t>Chúc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mừng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vượt</a:t>
            </a:r>
            <a:r>
              <a:rPr lang="en-US" sz="2000" dirty="0">
                <a:latin typeface="Times New Roman" panose="02020603050405020304" pitchFamily="18" charset="0"/>
                <a:cs typeface="Times New Roman" panose="02020603050405020304" pitchFamily="18" charset="0"/>
              </a:rPr>
              <a:t> qua </a:t>
            </a:r>
            <a:r>
              <a:rPr lang="en-US" sz="2000" dirty="0" err="1">
                <a:latin typeface="Times New Roman" panose="02020603050405020304" pitchFamily="18" charset="0"/>
                <a:cs typeface="Times New Roman" panose="02020603050405020304" pitchFamily="18" charset="0"/>
              </a:rPr>
              <a:t>kỳ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a:t>
            </a:r>
          </a:p>
          <a:p>
            <a:pPr lvl="1"/>
            <a:r>
              <a:rPr lang="vi-VN" sz="2000" dirty="0">
                <a:latin typeface="Times New Roman" panose="02020603050405020304" pitchFamily="18" charset="0"/>
                <a:cs typeface="Times New Roman" panose="02020603050405020304" pitchFamily="18" charset="0"/>
              </a:rPr>
              <a:t>Ngược lại → in ra "</a:t>
            </a:r>
            <a:r>
              <a:rPr lang="en-US" sz="2000" dirty="0" err="1">
                <a:latin typeface="Times New Roman" panose="02020603050405020304" pitchFamily="18" charset="0"/>
                <a:cs typeface="Times New Roman" panose="02020603050405020304" pitchFamily="18" charset="0"/>
              </a:rPr>
              <a:t>Chưa</a:t>
            </a:r>
            <a:r>
              <a:rPr lang="en-US" sz="2000" dirty="0">
                <a:latin typeface="Times New Roman" panose="02020603050405020304" pitchFamily="18" charset="0"/>
                <a:cs typeface="Times New Roman" panose="02020603050405020304" pitchFamily="18" charset="0"/>
              </a:rPr>
              <a:t> Đạt, </a:t>
            </a:r>
            <a:r>
              <a:rPr lang="en-US" sz="2000" dirty="0" err="1">
                <a:latin typeface="Times New Roman" panose="02020603050405020304" pitchFamily="18" charset="0"/>
                <a:cs typeface="Times New Roman" panose="02020603050405020304" pitchFamily="18" charset="0"/>
              </a:rPr>
              <a:t>Bạn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cần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cố</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gắng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lần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sau</a:t>
            </a:r>
            <a:r>
              <a:rPr lang="vi-VN" sz="20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q"/>
            </a:pPr>
            <a:r>
              <a:rPr lang="vi-VN" sz="2000" dirty="0">
                <a:latin typeface="Times New Roman" panose="02020603050405020304" pitchFamily="18" charset="0"/>
                <a:cs typeface="Times New Roman" panose="02020603050405020304" pitchFamily="18" charset="0"/>
              </a:rPr>
              <a:t>Gọi hàm:</a:t>
            </a:r>
          </a:p>
          <a:p>
            <a:pPr lvl="1"/>
            <a:r>
              <a:rPr lang="vi-VN" sz="2000" dirty="0">
                <a:latin typeface="Times New Roman" panose="02020603050405020304" pitchFamily="18" charset="0"/>
                <a:cs typeface="Times New Roman" panose="02020603050405020304" pitchFamily="18" charset="0"/>
              </a:rPr>
              <a:t>Sử dụng hàm </a:t>
            </a:r>
            <a:r>
              <a:rPr lang="vi-VN" sz="2000" dirty="0" err="1">
                <a:latin typeface="Times New Roman" panose="02020603050405020304" pitchFamily="18" charset="0"/>
                <a:cs typeface="Times New Roman" panose="02020603050405020304" pitchFamily="18" charset="0"/>
              </a:rPr>
              <a:t>tinhTong</a:t>
            </a:r>
            <a:r>
              <a:rPr lang="vi-VN" sz="2000" dirty="0">
                <a:latin typeface="Times New Roman" panose="02020603050405020304" pitchFamily="18" charset="0"/>
                <a:cs typeface="Times New Roman" panose="02020603050405020304" pitchFamily="18" charset="0"/>
              </a:rPr>
              <a:t> để lấy tổng điểm</a:t>
            </a:r>
          </a:p>
          <a:p>
            <a:pPr lvl="1"/>
            <a:r>
              <a:rPr lang="vi-VN" sz="2000" dirty="0">
                <a:latin typeface="Times New Roman" panose="02020603050405020304" pitchFamily="18" charset="0"/>
                <a:cs typeface="Times New Roman" panose="02020603050405020304" pitchFamily="18" charset="0"/>
              </a:rPr>
              <a:t>Truyền kết quả vào hàm </a:t>
            </a:r>
            <a:r>
              <a:rPr lang="vi-VN" sz="2000" dirty="0" err="1">
                <a:latin typeface="Times New Roman" panose="02020603050405020304" pitchFamily="18" charset="0"/>
                <a:cs typeface="Times New Roman" panose="02020603050405020304" pitchFamily="18" charset="0"/>
              </a:rPr>
              <a:t>hienThiKetQua</a:t>
            </a:r>
            <a:endParaRPr lang="vi-VN" sz="2000" dirty="0">
              <a:latin typeface="Times New Roman" panose="02020603050405020304" pitchFamily="18" charset="0"/>
              <a:cs typeface="Times New Roman" panose="02020603050405020304" pitchFamily="18" charset="0"/>
            </a:endParaRPr>
          </a:p>
          <a:p>
            <a:endParaRPr lang="en-US" sz="2400" dirty="0"/>
          </a:p>
          <a:p>
            <a:pPr marL="285750" indent="-285750">
              <a:buFont typeface="Wingdings" panose="05000000000000000000" pitchFamily="2" charset="2"/>
              <a:buChar char="q"/>
            </a:pP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8008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414FA-1524-9C47-EA79-BFFB966903C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9B871C-1A2D-E494-5F53-127FEB9AD495}"/>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CA17934C-220C-4177-83BA-5CBDD3DC1915}"/>
              </a:ext>
            </a:extLst>
          </p:cNvPr>
          <p:cNvSpPr>
            <a:spLocks noGrp="1"/>
          </p:cNvSpPr>
          <p:nvPr>
            <p:ph type="sldNum" sz="quarter" idx="4"/>
          </p:nvPr>
        </p:nvSpPr>
        <p:spPr/>
        <p:txBody>
          <a:bodyPr/>
          <a:lstStyle/>
          <a:p>
            <a:fld id="{3A02590D-67BD-4DF2-8CAA-B9002293EB8E}" type="slidenum">
              <a:rPr lang="en-US" smtClean="0"/>
              <a:pPr/>
              <a:t>7</a:t>
            </a:fld>
            <a:endParaRPr lang="en-US" dirty="0"/>
          </a:p>
        </p:txBody>
      </p:sp>
      <p:sp>
        <p:nvSpPr>
          <p:cNvPr id="5" name="Title 4">
            <a:extLst>
              <a:ext uri="{FF2B5EF4-FFF2-40B4-BE49-F238E27FC236}">
                <a16:creationId xmlns:a16="http://schemas.microsoft.com/office/drawing/2014/main" id="{769F174B-DF73-F7F7-DE05-892CD896C711}"/>
              </a:ext>
            </a:extLst>
          </p:cNvPr>
          <p:cNvSpPr>
            <a:spLocks noGrp="1"/>
          </p:cNvSpPr>
          <p:nvPr>
            <p:ph type="title"/>
          </p:nvPr>
        </p:nvSpPr>
        <p:spPr/>
        <p:txBody>
          <a:bodyPr/>
          <a:lstStyle/>
          <a:p>
            <a:r>
              <a:rPr lang="en-US" dirty="0"/>
              <a:t>BÀI TẬP SỐ 1</a:t>
            </a:r>
          </a:p>
        </p:txBody>
      </p:sp>
      <p:sp>
        <p:nvSpPr>
          <p:cNvPr id="9" name="TextBox 8">
            <a:extLst>
              <a:ext uri="{FF2B5EF4-FFF2-40B4-BE49-F238E27FC236}">
                <a16:creationId xmlns:a16="http://schemas.microsoft.com/office/drawing/2014/main" id="{B8568CEC-E65D-CDD1-B61D-0D3D8C1146F0}"/>
              </a:ext>
            </a:extLst>
          </p:cNvPr>
          <p:cNvSpPr txBox="1"/>
          <p:nvPr/>
        </p:nvSpPr>
        <p:spPr>
          <a:xfrm>
            <a:off x="174974" y="879463"/>
            <a:ext cx="11842051" cy="6432530"/>
          </a:xfrm>
          <a:prstGeom prst="rect">
            <a:avLst/>
          </a:prstGeom>
          <a:noFill/>
        </p:spPr>
        <p:txBody>
          <a:bodyPr wrap="square">
            <a:spAutoFit/>
          </a:bodyPr>
          <a:lstStyle/>
          <a:p>
            <a:r>
              <a:rPr lang="vi-VN" sz="2000" dirty="0" err="1">
                <a:latin typeface="Times New Roman" panose="02020603050405020304" pitchFamily="18" charset="0"/>
                <a:cs typeface="Times New Roman" panose="02020603050405020304" pitchFamily="18" charset="0"/>
              </a:rPr>
              <a:t>let</a:t>
            </a:r>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diemVan</a:t>
            </a:r>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number</a:t>
            </a:r>
            <a:r>
              <a:rPr lang="vi-VN" sz="2000" dirty="0">
                <a:latin typeface="Times New Roman" panose="02020603050405020304" pitchFamily="18" charset="0"/>
                <a:cs typeface="Times New Roman" panose="02020603050405020304" pitchFamily="18" charset="0"/>
              </a:rPr>
              <a:t> = 6;</a:t>
            </a:r>
          </a:p>
          <a:p>
            <a:r>
              <a:rPr lang="vi-VN" sz="2000" dirty="0" err="1">
                <a:latin typeface="Times New Roman" panose="02020603050405020304" pitchFamily="18" charset="0"/>
                <a:cs typeface="Times New Roman" panose="02020603050405020304" pitchFamily="18" charset="0"/>
              </a:rPr>
              <a:t>let</a:t>
            </a:r>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diemToan</a:t>
            </a:r>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number</a:t>
            </a:r>
            <a:r>
              <a:rPr lang="vi-VN" sz="2000" dirty="0">
                <a:latin typeface="Times New Roman" panose="02020603050405020304" pitchFamily="18" charset="0"/>
                <a:cs typeface="Times New Roman" panose="02020603050405020304" pitchFamily="18" charset="0"/>
              </a:rPr>
              <a:t> = 5;</a:t>
            </a:r>
          </a:p>
          <a:p>
            <a:endParaRPr lang="vi-VN" sz="2000" dirty="0">
              <a:latin typeface="Times New Roman" panose="02020603050405020304" pitchFamily="18" charset="0"/>
              <a:cs typeface="Times New Roman" panose="02020603050405020304" pitchFamily="18" charset="0"/>
            </a:endParaRPr>
          </a:p>
          <a:p>
            <a:r>
              <a:rPr lang="vi-VN" sz="2000" dirty="0" err="1">
                <a:latin typeface="Times New Roman" panose="02020603050405020304" pitchFamily="18" charset="0"/>
                <a:cs typeface="Times New Roman" panose="02020603050405020304" pitchFamily="18" charset="0"/>
              </a:rPr>
              <a:t>function</a:t>
            </a:r>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tinhTong</a:t>
            </a:r>
            <a:r>
              <a:rPr lang="vi-VN" sz="2000" dirty="0">
                <a:latin typeface="Times New Roman" panose="02020603050405020304" pitchFamily="18" charset="0"/>
                <a:cs typeface="Times New Roman" panose="02020603050405020304" pitchFamily="18" charset="0"/>
              </a:rPr>
              <a:t>(a: </a:t>
            </a:r>
            <a:r>
              <a:rPr lang="vi-VN" sz="2000" dirty="0" err="1">
                <a:latin typeface="Times New Roman" panose="02020603050405020304" pitchFamily="18" charset="0"/>
                <a:cs typeface="Times New Roman" panose="02020603050405020304" pitchFamily="18" charset="0"/>
              </a:rPr>
              <a:t>number</a:t>
            </a:r>
            <a:r>
              <a:rPr lang="vi-VN" sz="2000" dirty="0">
                <a:latin typeface="Times New Roman" panose="02020603050405020304" pitchFamily="18" charset="0"/>
                <a:cs typeface="Times New Roman" panose="02020603050405020304" pitchFamily="18" charset="0"/>
              </a:rPr>
              <a:t>, b: </a:t>
            </a:r>
            <a:r>
              <a:rPr lang="vi-VN" sz="2000" dirty="0" err="1">
                <a:latin typeface="Times New Roman" panose="02020603050405020304" pitchFamily="18" charset="0"/>
                <a:cs typeface="Times New Roman" panose="02020603050405020304" pitchFamily="18" charset="0"/>
              </a:rPr>
              <a:t>number</a:t>
            </a:r>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number</a:t>
            </a:r>
            <a:r>
              <a:rPr lang="vi-VN" sz="2000" dirty="0">
                <a:latin typeface="Times New Roman" panose="02020603050405020304" pitchFamily="18" charset="0"/>
                <a:cs typeface="Times New Roman" panose="02020603050405020304" pitchFamily="18" charset="0"/>
              </a:rPr>
              <a:t> {</a:t>
            </a:r>
          </a:p>
          <a:p>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return</a:t>
            </a:r>
            <a:r>
              <a:rPr lang="vi-VN" sz="2000" dirty="0">
                <a:latin typeface="Times New Roman" panose="02020603050405020304" pitchFamily="18" charset="0"/>
                <a:cs typeface="Times New Roman" panose="02020603050405020304" pitchFamily="18" charset="0"/>
              </a:rPr>
              <a:t> a + b;</a:t>
            </a:r>
          </a:p>
          <a:p>
            <a:r>
              <a:rPr lang="vi-VN" sz="2000" dirty="0">
                <a:latin typeface="Times New Roman" panose="02020603050405020304" pitchFamily="18" charset="0"/>
                <a:cs typeface="Times New Roman" panose="02020603050405020304" pitchFamily="18" charset="0"/>
              </a:rPr>
              <a:t>}</a:t>
            </a:r>
          </a:p>
          <a:p>
            <a:endParaRPr lang="vi-VN" sz="2000" dirty="0">
              <a:latin typeface="Times New Roman" panose="02020603050405020304" pitchFamily="18" charset="0"/>
              <a:cs typeface="Times New Roman" panose="02020603050405020304" pitchFamily="18" charset="0"/>
            </a:endParaRPr>
          </a:p>
          <a:p>
            <a:r>
              <a:rPr lang="vi-VN" sz="2000" dirty="0" err="1">
                <a:latin typeface="Times New Roman" panose="02020603050405020304" pitchFamily="18" charset="0"/>
                <a:cs typeface="Times New Roman" panose="02020603050405020304" pitchFamily="18" charset="0"/>
              </a:rPr>
              <a:t>function</a:t>
            </a:r>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hienThiKetQua</a:t>
            </a:r>
            <a:r>
              <a:rPr lang="vi-VN" sz="2000" dirty="0">
                <a:latin typeface="Times New Roman" panose="02020603050405020304" pitchFamily="18" charset="0"/>
                <a:cs typeface="Times New Roman" panose="02020603050405020304" pitchFamily="18" charset="0"/>
              </a:rPr>
              <a:t>(tong: </a:t>
            </a:r>
            <a:r>
              <a:rPr lang="vi-VN" sz="2000" dirty="0" err="1">
                <a:latin typeface="Times New Roman" panose="02020603050405020304" pitchFamily="18" charset="0"/>
                <a:cs typeface="Times New Roman" panose="02020603050405020304" pitchFamily="18" charset="0"/>
              </a:rPr>
              <a:t>number</a:t>
            </a:r>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void</a:t>
            </a:r>
            <a:r>
              <a:rPr lang="vi-VN" sz="2000" dirty="0">
                <a:latin typeface="Times New Roman" panose="02020603050405020304" pitchFamily="18" charset="0"/>
                <a:cs typeface="Times New Roman" panose="02020603050405020304" pitchFamily="18" charset="0"/>
              </a:rPr>
              <a:t> {</a:t>
            </a:r>
          </a:p>
          <a:p>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if</a:t>
            </a:r>
            <a:r>
              <a:rPr lang="vi-VN" sz="2000" dirty="0">
                <a:latin typeface="Times New Roman" panose="02020603050405020304" pitchFamily="18" charset="0"/>
                <a:cs typeface="Times New Roman" panose="02020603050405020304" pitchFamily="18" charset="0"/>
              </a:rPr>
              <a:t> (tong &gt; 10) {</a:t>
            </a:r>
          </a:p>
          <a:p>
            <a:r>
              <a:rPr lang="vi-VN" sz="2000" dirty="0">
                <a:latin typeface="Times New Roman" panose="02020603050405020304" pitchFamily="18" charset="0"/>
                <a:cs typeface="Times New Roman" panose="02020603050405020304" pitchFamily="18" charset="0"/>
              </a:rPr>
              <a:t>    console.log("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Chúc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mừng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vượt</a:t>
            </a:r>
            <a:r>
              <a:rPr lang="en-US" sz="2000" dirty="0">
                <a:latin typeface="Times New Roman" panose="02020603050405020304" pitchFamily="18" charset="0"/>
                <a:cs typeface="Times New Roman" panose="02020603050405020304" pitchFamily="18" charset="0"/>
              </a:rPr>
              <a:t> qua </a:t>
            </a:r>
            <a:r>
              <a:rPr lang="en-US" sz="2000" dirty="0" err="1">
                <a:latin typeface="Times New Roman" panose="02020603050405020304" pitchFamily="18" charset="0"/>
                <a:cs typeface="Times New Roman" panose="02020603050405020304" pitchFamily="18" charset="0"/>
              </a:rPr>
              <a:t>kỳ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a:t>
            </a:r>
            <a:r>
              <a:rPr lang="vi-VN" sz="2000" dirty="0">
                <a:latin typeface="Times New Roman" panose="02020603050405020304" pitchFamily="18" charset="0"/>
                <a:cs typeface="Times New Roman" panose="02020603050405020304" pitchFamily="18" charset="0"/>
              </a:rPr>
              <a:t>");</a:t>
            </a:r>
          </a:p>
          <a:p>
            <a:r>
              <a:rPr lang="vi-VN" sz="2000" dirty="0">
                <a:latin typeface="Times New Roman" panose="02020603050405020304" pitchFamily="18" charset="0"/>
                <a:cs typeface="Times New Roman" panose="02020603050405020304" pitchFamily="18" charset="0"/>
              </a:rPr>
              <a:t>  } </a:t>
            </a:r>
            <a:r>
              <a:rPr lang="vi-VN" sz="2000" dirty="0" err="1">
                <a:latin typeface="Times New Roman" panose="02020603050405020304" pitchFamily="18" charset="0"/>
                <a:cs typeface="Times New Roman" panose="02020603050405020304" pitchFamily="18" charset="0"/>
              </a:rPr>
              <a:t>else</a:t>
            </a:r>
            <a:r>
              <a:rPr lang="vi-VN" sz="2000" dirty="0">
                <a:latin typeface="Times New Roman" panose="02020603050405020304" pitchFamily="18" charset="0"/>
                <a:cs typeface="Times New Roman" panose="02020603050405020304" pitchFamily="18" charset="0"/>
              </a:rPr>
              <a:t> {</a:t>
            </a:r>
          </a:p>
          <a:p>
            <a:r>
              <a:rPr lang="vi-VN" sz="2000" dirty="0">
                <a:latin typeface="Times New Roman" panose="02020603050405020304" pitchFamily="18" charset="0"/>
                <a:cs typeface="Times New Roman" panose="02020603050405020304" pitchFamily="18" charset="0"/>
              </a:rPr>
              <a:t>    console.log("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Chưa</a:t>
            </a:r>
            <a:r>
              <a:rPr lang="en-US" sz="2000" dirty="0">
                <a:latin typeface="Times New Roman" panose="02020603050405020304" pitchFamily="18" charset="0"/>
                <a:cs typeface="Times New Roman" panose="02020603050405020304" pitchFamily="18" charset="0"/>
              </a:rPr>
              <a:t> Đạt, </a:t>
            </a:r>
            <a:r>
              <a:rPr lang="en-US" sz="2000" dirty="0" err="1">
                <a:latin typeface="Times New Roman" panose="02020603050405020304" pitchFamily="18" charset="0"/>
                <a:cs typeface="Times New Roman" panose="02020603050405020304" pitchFamily="18" charset="0"/>
              </a:rPr>
              <a:t>Bạn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cần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cố</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gắng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lần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sau</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a:t>
            </a:r>
          </a:p>
          <a:p>
            <a:r>
              <a:rPr lang="vi-VN" sz="2000" dirty="0">
                <a:latin typeface="Times New Roman" panose="02020603050405020304" pitchFamily="18" charset="0"/>
                <a:cs typeface="Times New Roman" panose="02020603050405020304" pitchFamily="18" charset="0"/>
              </a:rPr>
              <a:t>  }</a:t>
            </a:r>
          </a:p>
          <a:p>
            <a:r>
              <a:rPr lang="vi-VN" sz="2000" dirty="0">
                <a:latin typeface="Times New Roman" panose="02020603050405020304" pitchFamily="18" charset="0"/>
                <a:cs typeface="Times New Roman" panose="02020603050405020304" pitchFamily="18" charset="0"/>
              </a:rPr>
              <a:t>}</a:t>
            </a:r>
          </a:p>
          <a:p>
            <a:endParaRPr lang="vi-VN" sz="2000" dirty="0">
              <a:latin typeface="Times New Roman" panose="02020603050405020304" pitchFamily="18" charset="0"/>
              <a:cs typeface="Times New Roman" panose="02020603050405020304" pitchFamily="18" charset="0"/>
            </a:endParaRPr>
          </a:p>
          <a:p>
            <a:r>
              <a:rPr lang="vi-VN" sz="2000" dirty="0" err="1">
                <a:latin typeface="Times New Roman" panose="02020603050405020304" pitchFamily="18" charset="0"/>
                <a:cs typeface="Times New Roman" panose="02020603050405020304" pitchFamily="18" charset="0"/>
              </a:rPr>
              <a:t>let</a:t>
            </a:r>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tongDiem</a:t>
            </a:r>
            <a:r>
              <a:rPr lang="vi-VN" sz="2000" dirty="0">
                <a:latin typeface="Times New Roman" panose="02020603050405020304" pitchFamily="18" charset="0"/>
                <a:cs typeface="Times New Roman" panose="02020603050405020304" pitchFamily="18" charset="0"/>
              </a:rPr>
              <a:t> = </a:t>
            </a:r>
            <a:r>
              <a:rPr lang="vi-VN" sz="2000" dirty="0" err="1">
                <a:latin typeface="Times New Roman" panose="02020603050405020304" pitchFamily="18" charset="0"/>
                <a:cs typeface="Times New Roman" panose="02020603050405020304" pitchFamily="18" charset="0"/>
              </a:rPr>
              <a:t>tinhTong</a:t>
            </a:r>
            <a:r>
              <a:rPr lang="vi-VN" sz="2000" dirty="0">
                <a:latin typeface="Times New Roman" panose="02020603050405020304" pitchFamily="18" charset="0"/>
                <a:cs typeface="Times New Roman" panose="02020603050405020304" pitchFamily="18" charset="0"/>
              </a:rPr>
              <a:t>(</a:t>
            </a:r>
            <a:r>
              <a:rPr lang="vi-VN" sz="2000" dirty="0" err="1">
                <a:latin typeface="Times New Roman" panose="02020603050405020304" pitchFamily="18" charset="0"/>
                <a:cs typeface="Times New Roman" panose="02020603050405020304" pitchFamily="18" charset="0"/>
              </a:rPr>
              <a:t>diemVan</a:t>
            </a:r>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diemToan</a:t>
            </a:r>
            <a:r>
              <a:rPr lang="vi-VN" sz="2000" dirty="0">
                <a:latin typeface="Times New Roman" panose="02020603050405020304" pitchFamily="18" charset="0"/>
                <a:cs typeface="Times New Roman" panose="02020603050405020304" pitchFamily="18" charset="0"/>
              </a:rPr>
              <a:t>);</a:t>
            </a:r>
          </a:p>
          <a:p>
            <a:r>
              <a:rPr lang="vi-VN" sz="2000" dirty="0" err="1">
                <a:latin typeface="Times New Roman" panose="02020603050405020304" pitchFamily="18" charset="0"/>
                <a:cs typeface="Times New Roman" panose="02020603050405020304" pitchFamily="18" charset="0"/>
              </a:rPr>
              <a:t>hienThiKetQua</a:t>
            </a:r>
            <a:r>
              <a:rPr lang="vi-VN" sz="2000" dirty="0">
                <a:latin typeface="Times New Roman" panose="02020603050405020304" pitchFamily="18" charset="0"/>
                <a:cs typeface="Times New Roman" panose="02020603050405020304" pitchFamily="18" charset="0"/>
              </a:rPr>
              <a:t>(</a:t>
            </a:r>
            <a:r>
              <a:rPr lang="vi-VN" sz="2000" dirty="0" err="1">
                <a:latin typeface="Times New Roman" panose="02020603050405020304" pitchFamily="18" charset="0"/>
                <a:cs typeface="Times New Roman" panose="02020603050405020304" pitchFamily="18" charset="0"/>
              </a:rPr>
              <a:t>tongDiem</a:t>
            </a:r>
            <a:r>
              <a:rPr lang="vi-VN" sz="20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q"/>
            </a:pPr>
            <a:endParaRPr lang="vi-VN"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8462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860738-C1FB-20B8-9119-4691F459A09B}"/>
              </a:ext>
            </a:extLst>
          </p:cNvPr>
          <p:cNvSpPr>
            <a:spLocks noGrp="1"/>
          </p:cNvSpPr>
          <p:nvPr>
            <p:ph idx="1"/>
          </p:nvPr>
        </p:nvSpPr>
        <p:spPr>
          <a:xfrm>
            <a:off x="202019" y="833364"/>
            <a:ext cx="11855301" cy="5234152"/>
          </a:xfrm>
        </p:spPr>
        <p:txBody>
          <a:bodyPr>
            <a:normAutofit lnSpcReduction="10000"/>
          </a:bodyPr>
          <a:lstStyle/>
          <a:p>
            <a:r>
              <a:rPr lang="vi-VN" b="1" dirty="0"/>
              <a:t>Bước 1: Cài </a:t>
            </a:r>
            <a:r>
              <a:rPr lang="vi-VN" b="1" dirty="0" err="1"/>
              <a:t>dependencies</a:t>
            </a:r>
            <a:endParaRPr lang="vi-VN" b="1" dirty="0"/>
          </a:p>
          <a:p>
            <a:pPr marL="0" indent="0">
              <a:buNone/>
            </a:pPr>
            <a:r>
              <a:rPr lang="vi-VN" dirty="0" err="1"/>
              <a:t>npm</a:t>
            </a:r>
            <a:r>
              <a:rPr lang="vi-VN" dirty="0"/>
              <a:t> </a:t>
            </a:r>
            <a:r>
              <a:rPr lang="vi-VN" dirty="0" err="1"/>
              <a:t>install</a:t>
            </a:r>
            <a:r>
              <a:rPr lang="vi-VN" dirty="0"/>
              <a:t> -D </a:t>
            </a:r>
            <a:r>
              <a:rPr lang="vi-VN" dirty="0" err="1"/>
              <a:t>typescript</a:t>
            </a:r>
            <a:r>
              <a:rPr lang="vi-VN" dirty="0"/>
              <a:t> </a:t>
            </a:r>
            <a:r>
              <a:rPr lang="vi-VN" dirty="0" err="1"/>
              <a:t>ts-node</a:t>
            </a:r>
            <a:endParaRPr lang="vi-VN" dirty="0"/>
          </a:p>
          <a:p>
            <a:r>
              <a:rPr lang="vi-VN" b="1" dirty="0"/>
              <a:t>Bước 2: Cập nhật </a:t>
            </a:r>
            <a:r>
              <a:rPr lang="vi-VN" b="1" dirty="0" err="1"/>
              <a:t>tsconfig.json</a:t>
            </a:r>
            <a:endParaRPr lang="vi-VN" b="1" dirty="0"/>
          </a:p>
          <a:p>
            <a:pPr marL="0" indent="0">
              <a:buNone/>
            </a:pPr>
            <a:r>
              <a:rPr lang="vi-VN" dirty="0"/>
              <a:t>{</a:t>
            </a:r>
            <a:br>
              <a:rPr lang="vi-VN" dirty="0"/>
            </a:br>
            <a:r>
              <a:rPr lang="vi-VN" dirty="0"/>
              <a:t>  "</a:t>
            </a:r>
            <a:r>
              <a:rPr lang="vi-VN" dirty="0" err="1"/>
              <a:t>compilerOptions</a:t>
            </a:r>
            <a:r>
              <a:rPr lang="vi-VN" dirty="0"/>
              <a:t>": {</a:t>
            </a:r>
            <a:br>
              <a:rPr lang="vi-VN" dirty="0"/>
            </a:br>
            <a:r>
              <a:rPr lang="vi-VN" dirty="0"/>
              <a:t>    "</a:t>
            </a:r>
            <a:r>
              <a:rPr lang="vi-VN" dirty="0" err="1"/>
              <a:t>target</a:t>
            </a:r>
            <a:r>
              <a:rPr lang="vi-VN" dirty="0"/>
              <a:t>": "ES2017",</a:t>
            </a:r>
            <a:br>
              <a:rPr lang="vi-VN" dirty="0"/>
            </a:br>
            <a:r>
              <a:rPr lang="vi-VN" dirty="0"/>
              <a:t>    "</a:t>
            </a:r>
            <a:r>
              <a:rPr lang="vi-VN" dirty="0" err="1"/>
              <a:t>module</a:t>
            </a:r>
            <a:r>
              <a:rPr lang="vi-VN" dirty="0"/>
              <a:t>": "</a:t>
            </a:r>
            <a:r>
              <a:rPr lang="vi-VN" dirty="0" err="1"/>
              <a:t>commonjs</a:t>
            </a:r>
            <a:r>
              <a:rPr lang="vi-VN" dirty="0"/>
              <a:t>",</a:t>
            </a:r>
            <a:br>
              <a:rPr lang="vi-VN" dirty="0"/>
            </a:br>
            <a:r>
              <a:rPr lang="vi-VN" dirty="0"/>
              <a:t>    "</a:t>
            </a:r>
            <a:r>
              <a:rPr lang="vi-VN" dirty="0" err="1"/>
              <a:t>rootDir</a:t>
            </a:r>
            <a:r>
              <a:rPr lang="vi-VN" dirty="0"/>
              <a:t>": "</a:t>
            </a:r>
            <a:r>
              <a:rPr lang="vi-VN" dirty="0" err="1"/>
              <a:t>src</a:t>
            </a:r>
            <a:r>
              <a:rPr lang="vi-VN" dirty="0"/>
              <a:t>",</a:t>
            </a:r>
            <a:br>
              <a:rPr lang="vi-VN" dirty="0"/>
            </a:br>
            <a:r>
              <a:rPr lang="vi-VN" dirty="0"/>
              <a:t>    "</a:t>
            </a:r>
            <a:r>
              <a:rPr lang="vi-VN" dirty="0" err="1"/>
              <a:t>outDir</a:t>
            </a:r>
            <a:r>
              <a:rPr lang="vi-VN" dirty="0"/>
              <a:t>": "</a:t>
            </a:r>
            <a:r>
              <a:rPr lang="vi-VN" dirty="0" err="1"/>
              <a:t>dist</a:t>
            </a:r>
            <a:r>
              <a:rPr lang="vi-VN" dirty="0"/>
              <a:t>",</a:t>
            </a:r>
            <a:br>
              <a:rPr lang="vi-VN" dirty="0"/>
            </a:br>
            <a:r>
              <a:rPr lang="vi-VN" dirty="0"/>
              <a:t>    </a:t>
            </a:r>
            <a:r>
              <a:rPr lang="vi-VN" dirty="0">
                <a:solidFill>
                  <a:srgbClr val="FF0000"/>
                </a:solidFill>
              </a:rPr>
              <a:t>"</a:t>
            </a:r>
            <a:r>
              <a:rPr lang="vi-VN" dirty="0" err="1">
                <a:solidFill>
                  <a:srgbClr val="FF0000"/>
                </a:solidFill>
              </a:rPr>
              <a:t>sourceMap</a:t>
            </a:r>
            <a:r>
              <a:rPr lang="vi-VN" dirty="0">
                <a:solidFill>
                  <a:srgbClr val="FF0000"/>
                </a:solidFill>
              </a:rPr>
              <a:t>": </a:t>
            </a:r>
            <a:r>
              <a:rPr lang="vi-VN" dirty="0" err="1">
                <a:solidFill>
                  <a:srgbClr val="FF0000"/>
                </a:solidFill>
              </a:rPr>
              <a:t>true</a:t>
            </a:r>
            <a:r>
              <a:rPr lang="vi-VN" dirty="0">
                <a:solidFill>
                  <a:srgbClr val="FF0000"/>
                </a:solidFill>
              </a:rPr>
              <a:t>,</a:t>
            </a:r>
            <a:br>
              <a:rPr lang="vi-VN" dirty="0"/>
            </a:br>
            <a:r>
              <a:rPr lang="vi-VN" dirty="0"/>
              <a:t>    "</a:t>
            </a:r>
            <a:r>
              <a:rPr lang="vi-VN" dirty="0" err="1"/>
              <a:t>strict</a:t>
            </a:r>
            <a:r>
              <a:rPr lang="vi-VN" dirty="0"/>
              <a:t>": </a:t>
            </a:r>
            <a:r>
              <a:rPr lang="vi-VN" dirty="0" err="1"/>
              <a:t>true</a:t>
            </a:r>
            <a:br>
              <a:rPr lang="vi-VN" dirty="0"/>
            </a:br>
            <a:r>
              <a:rPr lang="vi-VN" dirty="0"/>
              <a:t>  }</a:t>
            </a:r>
            <a:br>
              <a:rPr lang="vi-VN" dirty="0"/>
            </a:br>
            <a:r>
              <a:rPr lang="vi-VN" dirty="0"/>
              <a:t>}</a:t>
            </a:r>
            <a:endParaRPr lang="en-US" dirty="0"/>
          </a:p>
          <a:p>
            <a:pPr marL="0" indent="0">
              <a:buNone/>
            </a:pPr>
            <a:endParaRPr lang="vi-VN" dirty="0"/>
          </a:p>
          <a:p>
            <a:pPr marL="0" indent="0">
              <a:buNone/>
            </a:pPr>
            <a:endParaRPr lang="vi-VN" dirty="0"/>
          </a:p>
        </p:txBody>
      </p:sp>
      <p:sp>
        <p:nvSpPr>
          <p:cNvPr id="3" name="Footer Placeholder 2">
            <a:extLst>
              <a:ext uri="{FF2B5EF4-FFF2-40B4-BE49-F238E27FC236}">
                <a16:creationId xmlns:a16="http://schemas.microsoft.com/office/drawing/2014/main" id="{84E0B4B5-2C4F-9A77-83CE-530A04E636DB}"/>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B38B120C-9995-C026-9249-1AD4B32BCFF4}"/>
              </a:ext>
            </a:extLst>
          </p:cNvPr>
          <p:cNvSpPr>
            <a:spLocks noGrp="1"/>
          </p:cNvSpPr>
          <p:nvPr>
            <p:ph type="sldNum" sz="quarter" idx="4"/>
          </p:nvPr>
        </p:nvSpPr>
        <p:spPr/>
        <p:txBody>
          <a:bodyPr/>
          <a:lstStyle/>
          <a:p>
            <a:fld id="{3A02590D-67BD-4DF2-8CAA-B9002293EB8E}" type="slidenum">
              <a:rPr lang="en-US" smtClean="0"/>
              <a:pPr/>
              <a:t>8</a:t>
            </a:fld>
            <a:endParaRPr lang="en-US" dirty="0"/>
          </a:p>
        </p:txBody>
      </p:sp>
      <p:sp>
        <p:nvSpPr>
          <p:cNvPr id="5" name="Title 4">
            <a:extLst>
              <a:ext uri="{FF2B5EF4-FFF2-40B4-BE49-F238E27FC236}">
                <a16:creationId xmlns:a16="http://schemas.microsoft.com/office/drawing/2014/main" id="{A53AEFAC-6F42-E78F-8F9E-E7B994CEB701}"/>
              </a:ext>
            </a:extLst>
          </p:cNvPr>
          <p:cNvSpPr>
            <a:spLocks noGrp="1"/>
          </p:cNvSpPr>
          <p:nvPr>
            <p:ph type="title"/>
          </p:nvPr>
        </p:nvSpPr>
        <p:spPr/>
        <p:txBody>
          <a:bodyPr/>
          <a:lstStyle/>
          <a:p>
            <a:r>
              <a:rPr lang="en-US" dirty="0"/>
              <a:t>HƯỚNG DẪN ĐẶT DEBUG</a:t>
            </a:r>
          </a:p>
        </p:txBody>
      </p:sp>
    </p:spTree>
    <p:extLst>
      <p:ext uri="{BB962C8B-B14F-4D97-AF65-F5344CB8AC3E}">
        <p14:creationId xmlns:p14="http://schemas.microsoft.com/office/powerpoint/2010/main" val="3167215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F4072-8557-3F53-93F9-4432BDCC6B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0A2A7E-38F4-78BB-251C-0A643A9AB9BC}"/>
              </a:ext>
            </a:extLst>
          </p:cNvPr>
          <p:cNvSpPr>
            <a:spLocks noGrp="1"/>
          </p:cNvSpPr>
          <p:nvPr>
            <p:ph idx="1"/>
          </p:nvPr>
        </p:nvSpPr>
        <p:spPr>
          <a:xfrm>
            <a:off x="202019" y="833364"/>
            <a:ext cx="11855301" cy="5570284"/>
          </a:xfrm>
        </p:spPr>
        <p:txBody>
          <a:bodyPr>
            <a:normAutofit fontScale="62500" lnSpcReduction="20000"/>
          </a:bodyPr>
          <a:lstStyle/>
          <a:p>
            <a:pPr marL="0" indent="0">
              <a:buNone/>
            </a:pPr>
            <a:r>
              <a:rPr lang="vi-VN" sz="4900" b="1" baseline="-25000" dirty="0"/>
              <a:t>Bước 3: Tạo </a:t>
            </a:r>
            <a:r>
              <a:rPr lang="vi-VN" sz="4900" b="1" baseline="-25000" dirty="0" err="1"/>
              <a:t>file</a:t>
            </a:r>
            <a:r>
              <a:rPr lang="vi-VN" sz="4900" b="1" baseline="-25000" dirty="0"/>
              <a:t> </a:t>
            </a:r>
            <a:r>
              <a:rPr lang="vi-VN" sz="4900" b="1" baseline="-25000" dirty="0" err="1"/>
              <a:t>debug</a:t>
            </a:r>
            <a:r>
              <a:rPr lang="vi-VN" sz="4900" b="1" baseline="-25000" dirty="0"/>
              <a:t> </a:t>
            </a:r>
            <a:r>
              <a:rPr lang="vi-VN" sz="4900" b="1" baseline="-25000" dirty="0" err="1"/>
              <a:t>config</a:t>
            </a:r>
            <a:endParaRPr lang="vi-VN" sz="4900" b="1" baseline="-25000" dirty="0"/>
          </a:p>
          <a:p>
            <a:r>
              <a:rPr lang="vi-VN" sz="4900" baseline="-25000" dirty="0"/>
              <a:t>Vào VS </a:t>
            </a:r>
            <a:r>
              <a:rPr lang="vi-VN" sz="4900" baseline="-25000" dirty="0" err="1"/>
              <a:t>Code</a:t>
            </a:r>
            <a:r>
              <a:rPr lang="vi-VN" sz="4900" baseline="-25000" dirty="0"/>
              <a:t>:</a:t>
            </a:r>
            <a:r>
              <a:rPr lang="en-US" sz="4900" baseline="-25000" dirty="0"/>
              <a:t> </a:t>
            </a:r>
            <a:r>
              <a:rPr lang="vi-VN" sz="4900" baseline="-25000" dirty="0"/>
              <a:t>→ </a:t>
            </a:r>
            <a:r>
              <a:rPr lang="vi-VN" sz="4900" b="1" baseline="-25000" dirty="0"/>
              <a:t>Run </a:t>
            </a:r>
            <a:r>
              <a:rPr lang="vi-VN" sz="4900" b="1" baseline="-25000" dirty="0" err="1"/>
              <a:t>and</a:t>
            </a:r>
            <a:r>
              <a:rPr lang="vi-VN" sz="4900" b="1" baseline="-25000" dirty="0"/>
              <a:t> </a:t>
            </a:r>
            <a:r>
              <a:rPr lang="vi-VN" sz="4900" b="1" baseline="-25000" dirty="0" err="1"/>
              <a:t>Debug</a:t>
            </a:r>
            <a:r>
              <a:rPr lang="vi-VN" sz="4900" b="1" baseline="-25000" dirty="0"/>
              <a:t> (</a:t>
            </a:r>
            <a:r>
              <a:rPr lang="vi-VN" sz="4900" b="1" baseline="-25000" dirty="0" err="1"/>
              <a:t>Ctrl</a:t>
            </a:r>
            <a:r>
              <a:rPr lang="vi-VN" sz="4900" b="1" baseline="-25000" dirty="0"/>
              <a:t> + </a:t>
            </a:r>
            <a:r>
              <a:rPr lang="vi-VN" sz="4900" b="1" baseline="-25000" dirty="0" err="1"/>
              <a:t>Shift</a:t>
            </a:r>
            <a:r>
              <a:rPr lang="vi-VN" sz="4900" b="1" baseline="-25000" dirty="0"/>
              <a:t> + D)</a:t>
            </a:r>
            <a:r>
              <a:rPr lang="vi-VN" sz="4900" baseline="-25000" dirty="0"/>
              <a:t> → </a:t>
            </a:r>
            <a:r>
              <a:rPr lang="vi-VN" sz="4900" b="1" baseline="-25000" dirty="0" err="1"/>
              <a:t>create</a:t>
            </a:r>
            <a:r>
              <a:rPr lang="vi-VN" sz="4900" b="1" baseline="-25000" dirty="0"/>
              <a:t> a </a:t>
            </a:r>
            <a:r>
              <a:rPr lang="vi-VN" sz="4900" b="1" baseline="-25000" dirty="0" err="1"/>
              <a:t>launch.json</a:t>
            </a:r>
            <a:r>
              <a:rPr lang="vi-VN" sz="4900" baseline="-25000" dirty="0"/>
              <a:t> →</a:t>
            </a:r>
            <a:r>
              <a:rPr lang="vi-VN" sz="4900" b="1" baseline="-25000" dirty="0"/>
              <a:t>Node.js</a:t>
            </a:r>
            <a:r>
              <a:rPr lang="en-US" sz="4900" b="1" baseline="-25000" dirty="0"/>
              <a:t>, </a:t>
            </a:r>
            <a:r>
              <a:rPr lang="en-US" sz="4900" baseline="-25000" dirty="0"/>
              <a:t>s</a:t>
            </a:r>
            <a:r>
              <a:rPr lang="vi-VN" sz="4900" baseline="-25000" dirty="0"/>
              <a:t>au đó sửa thành:</a:t>
            </a:r>
            <a:endParaRPr lang="en-US" sz="4900" baseline="-25000" dirty="0"/>
          </a:p>
          <a:p>
            <a:pPr marL="0" indent="0">
              <a:buNone/>
            </a:pPr>
            <a:r>
              <a:rPr lang="vi-VN" sz="4900" baseline="-25000" dirty="0"/>
              <a:t>{</a:t>
            </a:r>
          </a:p>
          <a:p>
            <a:pPr marL="0" indent="0">
              <a:buNone/>
            </a:pPr>
            <a:r>
              <a:rPr lang="vi-VN" sz="4900" baseline="-25000" dirty="0"/>
              <a:t>  "</a:t>
            </a:r>
            <a:r>
              <a:rPr lang="vi-VN" sz="4900" baseline="-25000" dirty="0" err="1"/>
              <a:t>version</a:t>
            </a:r>
            <a:r>
              <a:rPr lang="vi-VN" sz="4900" baseline="-25000" dirty="0"/>
              <a:t>": "0.2.0",</a:t>
            </a:r>
          </a:p>
          <a:p>
            <a:pPr marL="0" indent="0">
              <a:buNone/>
            </a:pPr>
            <a:r>
              <a:rPr lang="vi-VN" sz="4900" baseline="-25000" dirty="0"/>
              <a:t>  "</a:t>
            </a:r>
            <a:r>
              <a:rPr lang="vi-VN" sz="4900" baseline="-25000" dirty="0" err="1"/>
              <a:t>configurations</a:t>
            </a:r>
            <a:r>
              <a:rPr lang="vi-VN" sz="4900" baseline="-25000" dirty="0"/>
              <a:t>": [</a:t>
            </a:r>
          </a:p>
          <a:p>
            <a:pPr marL="0" indent="0">
              <a:buNone/>
            </a:pPr>
            <a:r>
              <a:rPr lang="vi-VN" sz="4900" baseline="-25000" dirty="0"/>
              <a:t>    {</a:t>
            </a:r>
          </a:p>
          <a:p>
            <a:pPr marL="0" indent="0">
              <a:buNone/>
            </a:pPr>
            <a:r>
              <a:rPr lang="vi-VN" sz="4900" baseline="-25000" dirty="0"/>
              <a:t>      "</a:t>
            </a:r>
            <a:r>
              <a:rPr lang="vi-VN" sz="4900" baseline="-25000" dirty="0" err="1"/>
              <a:t>type</a:t>
            </a:r>
            <a:r>
              <a:rPr lang="vi-VN" sz="4900" baseline="-25000" dirty="0"/>
              <a:t>": "</a:t>
            </a:r>
            <a:r>
              <a:rPr lang="vi-VN" sz="4900" baseline="-25000" dirty="0" err="1"/>
              <a:t>node</a:t>
            </a:r>
            <a:r>
              <a:rPr lang="vi-VN" sz="4900" baseline="-25000" dirty="0"/>
              <a:t>",</a:t>
            </a:r>
          </a:p>
          <a:p>
            <a:pPr marL="0" indent="0">
              <a:buNone/>
            </a:pPr>
            <a:r>
              <a:rPr lang="vi-VN" sz="4900" baseline="-25000" dirty="0"/>
              <a:t>      "</a:t>
            </a:r>
            <a:r>
              <a:rPr lang="vi-VN" sz="4900" baseline="-25000" dirty="0" err="1"/>
              <a:t>request</a:t>
            </a:r>
            <a:r>
              <a:rPr lang="vi-VN" sz="4900" baseline="-25000" dirty="0"/>
              <a:t>": "</a:t>
            </a:r>
            <a:r>
              <a:rPr lang="vi-VN" sz="4900" baseline="-25000" dirty="0" err="1"/>
              <a:t>launch</a:t>
            </a:r>
            <a:r>
              <a:rPr lang="vi-VN" sz="4900" baseline="-25000" dirty="0"/>
              <a:t>",</a:t>
            </a:r>
          </a:p>
          <a:p>
            <a:pPr marL="0" indent="0">
              <a:buNone/>
            </a:pPr>
            <a:r>
              <a:rPr lang="vi-VN" sz="4900" baseline="-25000" dirty="0"/>
              <a:t>      "</a:t>
            </a:r>
            <a:r>
              <a:rPr lang="vi-VN" sz="4900" baseline="-25000" dirty="0" err="1"/>
              <a:t>name</a:t>
            </a:r>
            <a:r>
              <a:rPr lang="vi-VN" sz="4900" baseline="-25000" dirty="0"/>
              <a:t>": "</a:t>
            </a:r>
            <a:r>
              <a:rPr lang="vi-VN" sz="4900" baseline="-25000" dirty="0" err="1"/>
              <a:t>Debug</a:t>
            </a:r>
            <a:r>
              <a:rPr lang="vi-VN" sz="4900" baseline="-25000" dirty="0"/>
              <a:t> </a:t>
            </a:r>
            <a:r>
              <a:rPr lang="vi-VN" sz="4900" baseline="-25000" dirty="0" err="1"/>
              <a:t>TypeScript</a:t>
            </a:r>
            <a:r>
              <a:rPr lang="vi-VN" sz="4900" baseline="-25000" dirty="0"/>
              <a:t>",</a:t>
            </a:r>
          </a:p>
          <a:p>
            <a:pPr marL="0" indent="0">
              <a:buNone/>
            </a:pPr>
            <a:r>
              <a:rPr lang="vi-VN" sz="4900" baseline="-25000" dirty="0"/>
              <a:t>      "</a:t>
            </a:r>
            <a:r>
              <a:rPr lang="vi-VN" sz="4900" baseline="-25000" dirty="0" err="1"/>
              <a:t>runtimeArgs</a:t>
            </a:r>
            <a:r>
              <a:rPr lang="vi-VN" sz="4900" baseline="-25000" dirty="0"/>
              <a:t>": ["-r", "</a:t>
            </a:r>
            <a:r>
              <a:rPr lang="vi-VN" sz="4900" baseline="-25000" dirty="0" err="1"/>
              <a:t>ts-node</a:t>
            </a:r>
            <a:r>
              <a:rPr lang="vi-VN" sz="4900" baseline="-25000" dirty="0"/>
              <a:t>/</a:t>
            </a:r>
            <a:r>
              <a:rPr lang="vi-VN" sz="4900" baseline="-25000" dirty="0" err="1"/>
              <a:t>register</a:t>
            </a:r>
            <a:r>
              <a:rPr lang="vi-VN" sz="4900" baseline="-25000" dirty="0"/>
              <a:t>"],</a:t>
            </a:r>
          </a:p>
          <a:p>
            <a:pPr marL="0" indent="0">
              <a:buNone/>
            </a:pPr>
            <a:r>
              <a:rPr lang="vi-VN" sz="4900" baseline="-25000" dirty="0"/>
              <a:t>      "</a:t>
            </a:r>
            <a:r>
              <a:rPr lang="vi-VN" sz="4900" baseline="-25000" dirty="0" err="1"/>
              <a:t>args</a:t>
            </a:r>
            <a:r>
              <a:rPr lang="vi-VN" sz="4900" baseline="-25000" dirty="0"/>
              <a:t>": ["${</a:t>
            </a:r>
            <a:r>
              <a:rPr lang="vi-VN" sz="4900" baseline="-25000" dirty="0" err="1"/>
              <a:t>workspaceFolder</a:t>
            </a:r>
            <a:r>
              <a:rPr lang="vi-VN" sz="4900" baseline="-25000" dirty="0"/>
              <a:t>}/</a:t>
            </a:r>
            <a:r>
              <a:rPr lang="vi-VN" sz="4900" baseline="-25000" dirty="0" err="1"/>
              <a:t>src</a:t>
            </a:r>
            <a:r>
              <a:rPr lang="vi-VN" sz="4900" baseline="-25000" dirty="0"/>
              <a:t>/</a:t>
            </a:r>
            <a:r>
              <a:rPr lang="vi-VN" sz="4900" baseline="-25000" dirty="0" err="1"/>
              <a:t>index.ts</a:t>
            </a:r>
            <a:r>
              <a:rPr lang="vi-VN" sz="4900" baseline="-25000" dirty="0"/>
              <a:t>"],</a:t>
            </a:r>
          </a:p>
          <a:p>
            <a:pPr marL="0" indent="0">
              <a:buNone/>
            </a:pPr>
            <a:r>
              <a:rPr lang="vi-VN" sz="4900" baseline="-25000" dirty="0"/>
              <a:t>      "</a:t>
            </a:r>
            <a:r>
              <a:rPr lang="vi-VN" sz="4900" baseline="-25000" dirty="0" err="1"/>
              <a:t>cwd</a:t>
            </a:r>
            <a:r>
              <a:rPr lang="vi-VN" sz="4900" baseline="-25000" dirty="0"/>
              <a:t>": "${</a:t>
            </a:r>
            <a:r>
              <a:rPr lang="vi-VN" sz="4900" baseline="-25000" dirty="0" err="1"/>
              <a:t>workspaceFolder</a:t>
            </a:r>
            <a:r>
              <a:rPr lang="vi-VN" sz="4900" baseline="-25000" dirty="0"/>
              <a:t>}",</a:t>
            </a:r>
          </a:p>
          <a:p>
            <a:pPr marL="0" indent="0">
              <a:buNone/>
            </a:pPr>
            <a:r>
              <a:rPr lang="vi-VN" sz="4900" baseline="-25000" dirty="0"/>
              <a:t>      "</a:t>
            </a:r>
            <a:r>
              <a:rPr lang="vi-VN" sz="4900" baseline="-25000" dirty="0" err="1"/>
              <a:t>skipFiles</a:t>
            </a:r>
            <a:r>
              <a:rPr lang="vi-VN" sz="4900" baseline="-25000" dirty="0"/>
              <a:t>": ["&lt;</a:t>
            </a:r>
            <a:r>
              <a:rPr lang="vi-VN" sz="4900" baseline="-25000" dirty="0" err="1"/>
              <a:t>node_internals</a:t>
            </a:r>
            <a:r>
              <a:rPr lang="vi-VN" sz="4900" baseline="-25000" dirty="0"/>
              <a:t>&gt;/**"]</a:t>
            </a:r>
          </a:p>
          <a:p>
            <a:pPr marL="0" indent="0">
              <a:buNone/>
            </a:pPr>
            <a:r>
              <a:rPr lang="vi-VN" sz="4900" baseline="-25000" dirty="0"/>
              <a:t>    }</a:t>
            </a:r>
          </a:p>
          <a:p>
            <a:pPr marL="0" indent="0">
              <a:buNone/>
            </a:pPr>
            <a:r>
              <a:rPr lang="vi-VN" sz="4900" baseline="-25000" dirty="0"/>
              <a:t>  ]</a:t>
            </a:r>
          </a:p>
          <a:p>
            <a:pPr marL="0" indent="0">
              <a:buNone/>
            </a:pPr>
            <a:r>
              <a:rPr lang="vi-VN" sz="4900" baseline="-25000" dirty="0"/>
              <a:t>}</a:t>
            </a:r>
          </a:p>
          <a:p>
            <a:pPr marL="0" indent="0">
              <a:buNone/>
            </a:pPr>
            <a:endParaRPr lang="vi-VN" dirty="0"/>
          </a:p>
        </p:txBody>
      </p:sp>
      <p:sp>
        <p:nvSpPr>
          <p:cNvPr id="3" name="Footer Placeholder 2">
            <a:extLst>
              <a:ext uri="{FF2B5EF4-FFF2-40B4-BE49-F238E27FC236}">
                <a16:creationId xmlns:a16="http://schemas.microsoft.com/office/drawing/2014/main" id="{0BAC282B-4EF3-2C5A-33B5-5D608D9B818F}"/>
              </a:ext>
            </a:extLst>
          </p:cNvPr>
          <p:cNvSpPr>
            <a:spLocks noGrp="1"/>
          </p:cNvSpPr>
          <p:nvPr>
            <p:ph type="ftr" sz="quarter" idx="3"/>
          </p:nvPr>
        </p:nvSpPr>
        <p:spPr/>
        <p:txBody>
          <a:bodyPr/>
          <a:lstStyle/>
          <a:p>
            <a:r>
              <a:rPr lang="en-US" dirty="0"/>
              <a:t>KHOA CÔNG NGHỆ THÔNG TIN – LẬP TRÌNH TYPESCRIPT</a:t>
            </a:r>
          </a:p>
        </p:txBody>
      </p:sp>
      <p:sp>
        <p:nvSpPr>
          <p:cNvPr id="4" name="Slide Number Placeholder 3">
            <a:extLst>
              <a:ext uri="{FF2B5EF4-FFF2-40B4-BE49-F238E27FC236}">
                <a16:creationId xmlns:a16="http://schemas.microsoft.com/office/drawing/2014/main" id="{0A8F47EE-2A55-0EB9-94FE-D20533990989}"/>
              </a:ext>
            </a:extLst>
          </p:cNvPr>
          <p:cNvSpPr>
            <a:spLocks noGrp="1"/>
          </p:cNvSpPr>
          <p:nvPr>
            <p:ph type="sldNum" sz="quarter" idx="4"/>
          </p:nvPr>
        </p:nvSpPr>
        <p:spPr/>
        <p:txBody>
          <a:bodyPr/>
          <a:lstStyle/>
          <a:p>
            <a:fld id="{3A02590D-67BD-4DF2-8CAA-B9002293EB8E}" type="slidenum">
              <a:rPr lang="en-US" smtClean="0"/>
              <a:pPr/>
              <a:t>9</a:t>
            </a:fld>
            <a:endParaRPr lang="en-US" dirty="0"/>
          </a:p>
        </p:txBody>
      </p:sp>
      <p:sp>
        <p:nvSpPr>
          <p:cNvPr id="5" name="Title 4">
            <a:extLst>
              <a:ext uri="{FF2B5EF4-FFF2-40B4-BE49-F238E27FC236}">
                <a16:creationId xmlns:a16="http://schemas.microsoft.com/office/drawing/2014/main" id="{624F160F-CE44-0E48-EF5B-2499F4841AF0}"/>
              </a:ext>
            </a:extLst>
          </p:cNvPr>
          <p:cNvSpPr>
            <a:spLocks noGrp="1"/>
          </p:cNvSpPr>
          <p:nvPr>
            <p:ph type="title"/>
          </p:nvPr>
        </p:nvSpPr>
        <p:spPr/>
        <p:txBody>
          <a:bodyPr/>
          <a:lstStyle/>
          <a:p>
            <a:r>
              <a:rPr lang="en-US" dirty="0"/>
              <a:t>HƯỚNG DẪN ĐẶT DEBUG</a:t>
            </a:r>
          </a:p>
        </p:txBody>
      </p:sp>
    </p:spTree>
    <p:extLst>
      <p:ext uri="{BB962C8B-B14F-4D97-AF65-F5344CB8AC3E}">
        <p14:creationId xmlns:p14="http://schemas.microsoft.com/office/powerpoint/2010/main" val="4242234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7E514-FED7-FEA6-C0A3-A0CF68ECCD7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9F2A19-C787-2ADD-5F5A-7D3767392B80}"/>
              </a:ext>
            </a:extLst>
          </p:cNvPr>
          <p:cNvSpPr>
            <a:spLocks noGrp="1"/>
          </p:cNvSpPr>
          <p:nvPr>
            <p:ph idx="1"/>
          </p:nvPr>
        </p:nvSpPr>
        <p:spPr>
          <a:xfrm>
            <a:off x="202019" y="833364"/>
            <a:ext cx="11855301" cy="5570284"/>
          </a:xfrm>
        </p:spPr>
        <p:txBody>
          <a:bodyPr>
            <a:normAutofit/>
          </a:bodyPr>
          <a:lstStyle/>
          <a:p>
            <a:pPr marL="0" indent="0">
              <a:buNone/>
            </a:pPr>
            <a:r>
              <a:rPr lang="en-US" b="1" dirty="0" err="1"/>
              <a:t>Bước</a:t>
            </a:r>
            <a:r>
              <a:rPr lang="en-US" b="1" dirty="0"/>
              <a:t> 4:</a:t>
            </a:r>
          </a:p>
          <a:p>
            <a:r>
              <a:rPr lang="en-US" dirty="0" err="1"/>
              <a:t>Đặt</a:t>
            </a:r>
            <a:r>
              <a:rPr lang="en-US" dirty="0"/>
              <a:t> breakpoint </a:t>
            </a:r>
            <a:r>
              <a:rPr lang="en-US" dirty="0" err="1"/>
              <a:t>trong</a:t>
            </a:r>
            <a:r>
              <a:rPr lang="en-US" dirty="0"/>
              <a:t> </a:t>
            </a:r>
            <a:r>
              <a:rPr lang="en-US" dirty="0" err="1"/>
              <a:t>index.ts</a:t>
            </a:r>
            <a:endParaRPr lang="en-US" dirty="0"/>
          </a:p>
          <a:p>
            <a:r>
              <a:rPr lang="en-US" dirty="0" err="1"/>
              <a:t>Nhấn</a:t>
            </a:r>
            <a:r>
              <a:rPr lang="en-US" dirty="0"/>
              <a:t> </a:t>
            </a:r>
            <a:r>
              <a:rPr lang="en-US" b="1" dirty="0"/>
              <a:t>F5</a:t>
            </a:r>
            <a:endParaRPr lang="en-US" dirty="0"/>
          </a:p>
          <a:p>
            <a:r>
              <a:rPr lang="en-US" dirty="0"/>
              <a:t>Debug </a:t>
            </a:r>
            <a:r>
              <a:rPr lang="en-US" dirty="0" err="1"/>
              <a:t>chạy</a:t>
            </a:r>
            <a:r>
              <a:rPr lang="en-US" dirty="0"/>
              <a:t> </a:t>
            </a:r>
            <a:r>
              <a:rPr lang="en-US" dirty="0" err="1"/>
              <a:t>bình</a:t>
            </a:r>
            <a:r>
              <a:rPr lang="en-US" dirty="0"/>
              <a:t> </a:t>
            </a:r>
            <a:r>
              <a:rPr lang="en-US" dirty="0" err="1"/>
              <a:t>thường</a:t>
            </a:r>
            <a:r>
              <a:rPr lang="en-US" dirty="0"/>
              <a:t> ✅</a:t>
            </a:r>
          </a:p>
          <a:p>
            <a:pPr marL="0" indent="0">
              <a:buNone/>
            </a:pPr>
            <a:endParaRPr lang="vi-VN" dirty="0"/>
          </a:p>
        </p:txBody>
      </p:sp>
      <p:sp>
        <p:nvSpPr>
          <p:cNvPr id="3" name="Footer Placeholder 2">
            <a:extLst>
              <a:ext uri="{FF2B5EF4-FFF2-40B4-BE49-F238E27FC236}">
                <a16:creationId xmlns:a16="http://schemas.microsoft.com/office/drawing/2014/main" id="{B4D0A101-E415-8D8A-49C2-FC26B90833D5}"/>
              </a:ext>
            </a:extLst>
          </p:cNvPr>
          <p:cNvSpPr>
            <a:spLocks noGrp="1"/>
          </p:cNvSpPr>
          <p:nvPr>
            <p:ph type="ftr" sz="quarter" idx="3"/>
          </p:nvPr>
        </p:nvSpPr>
        <p:spPr/>
        <p:txBody>
          <a:bodyPr/>
          <a:lstStyle/>
          <a:p>
            <a:r>
              <a:rPr lang="en-US" dirty="0"/>
              <a:t>KHOA CÔNG NGHỆ THÔNG TIN – LẬP TRÌNH TYPESCRIPT</a:t>
            </a:r>
          </a:p>
        </p:txBody>
      </p:sp>
      <p:sp>
        <p:nvSpPr>
          <p:cNvPr id="4" name="Slide Number Placeholder 3">
            <a:extLst>
              <a:ext uri="{FF2B5EF4-FFF2-40B4-BE49-F238E27FC236}">
                <a16:creationId xmlns:a16="http://schemas.microsoft.com/office/drawing/2014/main" id="{99B73D3C-546E-4217-06FF-DB2DFDBE690A}"/>
              </a:ext>
            </a:extLst>
          </p:cNvPr>
          <p:cNvSpPr>
            <a:spLocks noGrp="1"/>
          </p:cNvSpPr>
          <p:nvPr>
            <p:ph type="sldNum" sz="quarter" idx="4"/>
          </p:nvPr>
        </p:nvSpPr>
        <p:spPr/>
        <p:txBody>
          <a:bodyPr/>
          <a:lstStyle/>
          <a:p>
            <a:fld id="{3A02590D-67BD-4DF2-8CAA-B9002293EB8E}" type="slidenum">
              <a:rPr lang="en-US" smtClean="0"/>
              <a:pPr/>
              <a:t>10</a:t>
            </a:fld>
            <a:endParaRPr lang="en-US" dirty="0"/>
          </a:p>
        </p:txBody>
      </p:sp>
      <p:sp>
        <p:nvSpPr>
          <p:cNvPr id="5" name="Title 4">
            <a:extLst>
              <a:ext uri="{FF2B5EF4-FFF2-40B4-BE49-F238E27FC236}">
                <a16:creationId xmlns:a16="http://schemas.microsoft.com/office/drawing/2014/main" id="{1256A404-F50A-2983-F345-A2BE1C10A00C}"/>
              </a:ext>
            </a:extLst>
          </p:cNvPr>
          <p:cNvSpPr>
            <a:spLocks noGrp="1"/>
          </p:cNvSpPr>
          <p:nvPr>
            <p:ph type="title"/>
          </p:nvPr>
        </p:nvSpPr>
        <p:spPr/>
        <p:txBody>
          <a:bodyPr/>
          <a:lstStyle/>
          <a:p>
            <a:r>
              <a:rPr lang="en-US" dirty="0"/>
              <a:t>HƯỚNG DẪN ĐẶT DEBUG</a:t>
            </a:r>
          </a:p>
        </p:txBody>
      </p:sp>
    </p:spTree>
    <p:extLst>
      <p:ext uri="{BB962C8B-B14F-4D97-AF65-F5344CB8AC3E}">
        <p14:creationId xmlns:p14="http://schemas.microsoft.com/office/powerpoint/2010/main" val="258692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DF2EDB-71CF-DE66-CAEC-6005453E7A95}"/>
              </a:ext>
            </a:extLst>
          </p:cNvPr>
          <p:cNvSpPr>
            <a:spLocks noGrp="1"/>
          </p:cNvSpPr>
          <p:nvPr>
            <p:ph idx="1"/>
          </p:nvPr>
        </p:nvSpPr>
        <p:spPr>
          <a:xfrm>
            <a:off x="201168" y="1024758"/>
            <a:ext cx="11591437" cy="5234152"/>
          </a:xfrm>
        </p:spPr>
        <p:txBody>
          <a:bodyPr/>
          <a:lstStyle/>
          <a:p>
            <a:r>
              <a:rPr lang="vi-VN" b="1" dirty="0" err="1"/>
              <a:t>Arrow</a:t>
            </a:r>
            <a:r>
              <a:rPr lang="vi-VN" b="1" dirty="0"/>
              <a:t> </a:t>
            </a:r>
            <a:r>
              <a:rPr lang="vi-VN" b="1" dirty="0" err="1"/>
              <a:t>Function</a:t>
            </a:r>
            <a:r>
              <a:rPr lang="vi-VN" dirty="0"/>
              <a:t> là cách viết hàm ngắn gọn hơn trong </a:t>
            </a:r>
            <a:r>
              <a:rPr lang="vi-VN" dirty="0" err="1"/>
              <a:t>JavaScript</a:t>
            </a:r>
            <a:r>
              <a:rPr lang="vi-VN" dirty="0"/>
              <a:t>/</a:t>
            </a:r>
            <a:r>
              <a:rPr lang="vi-VN" dirty="0" err="1"/>
              <a:t>TypeScript</a:t>
            </a:r>
            <a:r>
              <a:rPr lang="vi-VN" dirty="0"/>
              <a:t>, được giới thiệu từ ES6.</a:t>
            </a:r>
            <a:endParaRPr lang="en-US" dirty="0"/>
          </a:p>
          <a:p>
            <a:pPr lvl="1"/>
            <a:r>
              <a:rPr lang="en-US" dirty="0" err="1"/>
              <a:t>Không</a:t>
            </a:r>
            <a:r>
              <a:rPr lang="en-US" dirty="0"/>
              <a:t> </a:t>
            </a:r>
            <a:r>
              <a:rPr lang="en-US" dirty="0" err="1"/>
              <a:t>dùng</a:t>
            </a:r>
            <a:r>
              <a:rPr lang="en-US" dirty="0"/>
              <a:t> </a:t>
            </a:r>
            <a:r>
              <a:rPr lang="en-US" dirty="0" err="1"/>
              <a:t>từ</a:t>
            </a:r>
            <a:r>
              <a:rPr lang="en-US" dirty="0"/>
              <a:t> </a:t>
            </a:r>
            <a:r>
              <a:rPr lang="en-US" dirty="0" err="1"/>
              <a:t>khóa</a:t>
            </a:r>
            <a:r>
              <a:rPr lang="en-US" dirty="0"/>
              <a:t> </a:t>
            </a:r>
            <a:r>
              <a:rPr lang="en-US" b="1" dirty="0"/>
              <a:t>function</a:t>
            </a:r>
          </a:p>
          <a:p>
            <a:pPr lvl="1"/>
            <a:r>
              <a:rPr lang="en-US" dirty="0" err="1"/>
              <a:t>Ngắn</a:t>
            </a:r>
            <a:r>
              <a:rPr lang="en-US" dirty="0"/>
              <a:t> </a:t>
            </a:r>
            <a:r>
              <a:rPr lang="en-US" dirty="0" err="1"/>
              <a:t>gọn</a:t>
            </a:r>
            <a:r>
              <a:rPr lang="en-US" dirty="0"/>
              <a:t>, </a:t>
            </a:r>
            <a:r>
              <a:rPr lang="en-US" dirty="0" err="1"/>
              <a:t>dễ</a:t>
            </a:r>
            <a:r>
              <a:rPr lang="en-US" dirty="0"/>
              <a:t> </a:t>
            </a:r>
            <a:r>
              <a:rPr lang="en-US" dirty="0" err="1"/>
              <a:t>đọc</a:t>
            </a:r>
            <a:endParaRPr lang="en-US" dirty="0"/>
          </a:p>
          <a:p>
            <a:pPr lvl="1"/>
            <a:r>
              <a:rPr lang="en-US" i="1" dirty="0" err="1"/>
              <a:t>Không</a:t>
            </a:r>
            <a:r>
              <a:rPr lang="en-US" i="1" dirty="0"/>
              <a:t> </a:t>
            </a:r>
            <a:r>
              <a:rPr lang="en-US" i="1" dirty="0" err="1"/>
              <a:t>có</a:t>
            </a:r>
            <a:r>
              <a:rPr lang="en-US" i="1" dirty="0"/>
              <a:t> </a:t>
            </a:r>
            <a:r>
              <a:rPr lang="en-US" i="1" dirty="0" err="1"/>
              <a:t>từ</a:t>
            </a:r>
            <a:r>
              <a:rPr lang="en-US" i="1" dirty="0"/>
              <a:t> </a:t>
            </a:r>
            <a:r>
              <a:rPr lang="en-US" i="1" dirty="0" err="1"/>
              <a:t>khóa</a:t>
            </a:r>
            <a:r>
              <a:rPr lang="en-US" i="1" dirty="0"/>
              <a:t> this </a:t>
            </a:r>
            <a:r>
              <a:rPr lang="en-US" i="1" dirty="0" err="1"/>
              <a:t>riêng</a:t>
            </a:r>
            <a:endParaRPr lang="en-US" i="1" dirty="0"/>
          </a:p>
          <a:p>
            <a:pPr marL="457200" lvl="1" indent="0">
              <a:buNone/>
            </a:pPr>
            <a:endParaRPr lang="en-US" b="1" dirty="0"/>
          </a:p>
        </p:txBody>
      </p:sp>
      <p:sp>
        <p:nvSpPr>
          <p:cNvPr id="3" name="Footer Placeholder 2">
            <a:extLst>
              <a:ext uri="{FF2B5EF4-FFF2-40B4-BE49-F238E27FC236}">
                <a16:creationId xmlns:a16="http://schemas.microsoft.com/office/drawing/2014/main" id="{38F88749-D5E4-95A6-F7EA-C55C5803B718}"/>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2E6E8D0E-45C7-EF03-0AB6-27BDD3B81DB4}"/>
              </a:ext>
            </a:extLst>
          </p:cNvPr>
          <p:cNvSpPr>
            <a:spLocks noGrp="1"/>
          </p:cNvSpPr>
          <p:nvPr>
            <p:ph type="sldNum" sz="quarter" idx="4"/>
          </p:nvPr>
        </p:nvSpPr>
        <p:spPr/>
        <p:txBody>
          <a:bodyPr/>
          <a:lstStyle/>
          <a:p>
            <a:fld id="{3A02590D-67BD-4DF2-8CAA-B9002293EB8E}" type="slidenum">
              <a:rPr lang="en-US" smtClean="0"/>
              <a:pPr/>
              <a:t>11</a:t>
            </a:fld>
            <a:endParaRPr lang="en-US" dirty="0"/>
          </a:p>
        </p:txBody>
      </p:sp>
      <p:sp>
        <p:nvSpPr>
          <p:cNvPr id="5" name="Title 4">
            <a:extLst>
              <a:ext uri="{FF2B5EF4-FFF2-40B4-BE49-F238E27FC236}">
                <a16:creationId xmlns:a16="http://schemas.microsoft.com/office/drawing/2014/main" id="{1E42B56D-99A2-B4AA-6DD1-B4F9CB646257}"/>
              </a:ext>
            </a:extLst>
          </p:cNvPr>
          <p:cNvSpPr>
            <a:spLocks noGrp="1"/>
          </p:cNvSpPr>
          <p:nvPr>
            <p:ph type="title"/>
          </p:nvPr>
        </p:nvSpPr>
        <p:spPr/>
        <p:txBody>
          <a:bodyPr/>
          <a:lstStyle/>
          <a:p>
            <a:r>
              <a:rPr lang="en-US"/>
              <a:t>ARROW FUNCTION</a:t>
            </a:r>
          </a:p>
        </p:txBody>
      </p:sp>
      <p:pic>
        <p:nvPicPr>
          <p:cNvPr id="7" name="Picture 6">
            <a:extLst>
              <a:ext uri="{FF2B5EF4-FFF2-40B4-BE49-F238E27FC236}">
                <a16:creationId xmlns:a16="http://schemas.microsoft.com/office/drawing/2014/main" id="{EA71C599-4C20-6017-2516-FA9191955517}"/>
              </a:ext>
            </a:extLst>
          </p:cNvPr>
          <p:cNvPicPr>
            <a:picLocks noChangeAspect="1"/>
          </p:cNvPicPr>
          <p:nvPr/>
        </p:nvPicPr>
        <p:blipFill>
          <a:blip r:embed="rId2"/>
          <a:stretch>
            <a:fillRect/>
          </a:stretch>
        </p:blipFill>
        <p:spPr>
          <a:xfrm>
            <a:off x="577179" y="3999409"/>
            <a:ext cx="4924595" cy="1383892"/>
          </a:xfrm>
          <a:prstGeom prst="rect">
            <a:avLst/>
          </a:prstGeom>
        </p:spPr>
      </p:pic>
      <p:sp>
        <p:nvSpPr>
          <p:cNvPr id="8" name="TextBox 7">
            <a:extLst>
              <a:ext uri="{FF2B5EF4-FFF2-40B4-BE49-F238E27FC236}">
                <a16:creationId xmlns:a16="http://schemas.microsoft.com/office/drawing/2014/main" id="{4A57C413-DE4E-C6C1-5D61-1E2F21D4567E}"/>
              </a:ext>
            </a:extLst>
          </p:cNvPr>
          <p:cNvSpPr txBox="1"/>
          <p:nvPr/>
        </p:nvSpPr>
        <p:spPr>
          <a:xfrm>
            <a:off x="201168" y="3301334"/>
            <a:ext cx="1484376" cy="954107"/>
          </a:xfrm>
          <a:prstGeom prst="rect">
            <a:avLst/>
          </a:prstGeom>
          <a:noFill/>
        </p:spPr>
        <p:txBody>
          <a:bodyPr wrap="square">
            <a:spAutoFit/>
          </a:bodyPr>
          <a:lstStyle/>
          <a:p>
            <a:r>
              <a:rPr lang="en-US" sz="2800">
                <a:latin typeface="Times New Roman" panose="02020603050405020304" pitchFamily="18" charset="0"/>
                <a:cs typeface="Times New Roman" panose="02020603050405020304" pitchFamily="18" charset="0"/>
              </a:rPr>
              <a:t>  Ví dụ:</a:t>
            </a: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5172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17F0C-1C56-A7BF-DAEB-93449DCB6A6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605950-D41A-5789-77FC-9AEF30BAF8F5}"/>
              </a:ext>
            </a:extLst>
          </p:cNvPr>
          <p:cNvSpPr>
            <a:spLocks noGrp="1"/>
          </p:cNvSpPr>
          <p:nvPr>
            <p:ph idx="1"/>
          </p:nvPr>
        </p:nvSpPr>
        <p:spPr>
          <a:xfrm>
            <a:off x="174274" y="945133"/>
            <a:ext cx="11591437" cy="5234152"/>
          </a:xfrm>
        </p:spPr>
        <p:txBody>
          <a:bodyPr>
            <a:normAutofit fontScale="92500" lnSpcReduction="20000"/>
          </a:bodyPr>
          <a:lstStyle/>
          <a:p>
            <a:pPr marL="457200" lvl="1" indent="0">
              <a:buNone/>
            </a:pPr>
            <a:r>
              <a:rPr lang="vi-VN" dirty="0" err="1"/>
              <a:t>let</a:t>
            </a:r>
            <a:r>
              <a:rPr lang="vi-VN" dirty="0"/>
              <a:t> </a:t>
            </a:r>
            <a:r>
              <a:rPr lang="vi-VN" dirty="0" err="1"/>
              <a:t>diemVan</a:t>
            </a:r>
            <a:r>
              <a:rPr lang="vi-VN" dirty="0"/>
              <a:t>: </a:t>
            </a:r>
            <a:r>
              <a:rPr lang="vi-VN" dirty="0" err="1"/>
              <a:t>number</a:t>
            </a:r>
            <a:r>
              <a:rPr lang="vi-VN" dirty="0"/>
              <a:t> = 6;</a:t>
            </a:r>
          </a:p>
          <a:p>
            <a:pPr marL="457200" lvl="1" indent="0">
              <a:buNone/>
            </a:pPr>
            <a:r>
              <a:rPr lang="vi-VN" dirty="0" err="1"/>
              <a:t>let</a:t>
            </a:r>
            <a:r>
              <a:rPr lang="vi-VN" dirty="0"/>
              <a:t> </a:t>
            </a:r>
            <a:r>
              <a:rPr lang="vi-VN" dirty="0" err="1"/>
              <a:t>diemToan</a:t>
            </a:r>
            <a:r>
              <a:rPr lang="vi-VN" dirty="0"/>
              <a:t>: </a:t>
            </a:r>
            <a:r>
              <a:rPr lang="vi-VN" dirty="0" err="1"/>
              <a:t>number</a:t>
            </a:r>
            <a:r>
              <a:rPr lang="vi-VN" dirty="0"/>
              <a:t> = 5;</a:t>
            </a:r>
          </a:p>
          <a:p>
            <a:pPr marL="457200" lvl="1" indent="0">
              <a:buNone/>
            </a:pPr>
            <a:endParaRPr lang="vi-VN" dirty="0"/>
          </a:p>
          <a:p>
            <a:pPr marL="457200" lvl="1" indent="0">
              <a:buNone/>
            </a:pPr>
            <a:r>
              <a:rPr lang="vi-VN" dirty="0" err="1"/>
              <a:t>const</a:t>
            </a:r>
            <a:r>
              <a:rPr lang="vi-VN" dirty="0"/>
              <a:t> </a:t>
            </a:r>
            <a:r>
              <a:rPr lang="vi-VN" dirty="0" err="1"/>
              <a:t>tinhTong</a:t>
            </a:r>
            <a:r>
              <a:rPr lang="vi-VN" dirty="0"/>
              <a:t> = (a: </a:t>
            </a:r>
            <a:r>
              <a:rPr lang="vi-VN" dirty="0" err="1"/>
              <a:t>number</a:t>
            </a:r>
            <a:r>
              <a:rPr lang="vi-VN" dirty="0"/>
              <a:t>, b: </a:t>
            </a:r>
            <a:r>
              <a:rPr lang="vi-VN" dirty="0" err="1"/>
              <a:t>number</a:t>
            </a:r>
            <a:r>
              <a:rPr lang="vi-VN" dirty="0"/>
              <a:t>): </a:t>
            </a:r>
            <a:r>
              <a:rPr lang="vi-VN" dirty="0" err="1"/>
              <a:t>number</a:t>
            </a:r>
            <a:r>
              <a:rPr lang="vi-VN" dirty="0"/>
              <a:t> =&gt; {</a:t>
            </a:r>
          </a:p>
          <a:p>
            <a:pPr marL="457200" lvl="1" indent="0">
              <a:buNone/>
            </a:pPr>
            <a:r>
              <a:rPr lang="vi-VN" dirty="0"/>
              <a:t>  </a:t>
            </a:r>
            <a:r>
              <a:rPr lang="vi-VN" dirty="0" err="1"/>
              <a:t>return</a:t>
            </a:r>
            <a:r>
              <a:rPr lang="vi-VN" dirty="0"/>
              <a:t> a + b;</a:t>
            </a:r>
          </a:p>
          <a:p>
            <a:pPr marL="457200" lvl="1" indent="0">
              <a:buNone/>
            </a:pPr>
            <a:r>
              <a:rPr lang="vi-VN" dirty="0"/>
              <a:t>};</a:t>
            </a:r>
          </a:p>
          <a:p>
            <a:pPr marL="457200" lvl="1" indent="0">
              <a:buNone/>
            </a:pPr>
            <a:endParaRPr lang="vi-VN" dirty="0"/>
          </a:p>
          <a:p>
            <a:pPr marL="457200" lvl="1" indent="0">
              <a:buNone/>
            </a:pPr>
            <a:r>
              <a:rPr lang="vi-VN" dirty="0" err="1"/>
              <a:t>const</a:t>
            </a:r>
            <a:r>
              <a:rPr lang="vi-VN" dirty="0"/>
              <a:t> </a:t>
            </a:r>
            <a:r>
              <a:rPr lang="vi-VN" dirty="0" err="1"/>
              <a:t>hienThiKetQua</a:t>
            </a:r>
            <a:r>
              <a:rPr lang="vi-VN" dirty="0"/>
              <a:t> = (tong: </a:t>
            </a:r>
            <a:r>
              <a:rPr lang="vi-VN" dirty="0" err="1"/>
              <a:t>number</a:t>
            </a:r>
            <a:r>
              <a:rPr lang="vi-VN" dirty="0"/>
              <a:t>): </a:t>
            </a:r>
            <a:r>
              <a:rPr lang="vi-VN" dirty="0" err="1"/>
              <a:t>void</a:t>
            </a:r>
            <a:r>
              <a:rPr lang="vi-VN" dirty="0"/>
              <a:t> =&gt; {</a:t>
            </a:r>
          </a:p>
          <a:p>
            <a:pPr marL="457200" lvl="1" indent="0">
              <a:buNone/>
            </a:pPr>
            <a:r>
              <a:rPr lang="vi-VN" dirty="0"/>
              <a:t>  </a:t>
            </a:r>
            <a:r>
              <a:rPr lang="vi-VN" dirty="0" err="1"/>
              <a:t>if</a:t>
            </a:r>
            <a:r>
              <a:rPr lang="vi-VN" dirty="0"/>
              <a:t> (tong &gt; 10) {</a:t>
            </a:r>
          </a:p>
          <a:p>
            <a:pPr marL="457200" lvl="1" indent="0">
              <a:buNone/>
            </a:pPr>
            <a:r>
              <a:rPr lang="vi-VN" dirty="0"/>
              <a:t>    console.log("</a:t>
            </a:r>
            <a:r>
              <a:rPr lang="en-US" dirty="0"/>
              <a:t> </a:t>
            </a:r>
            <a:r>
              <a:rPr lang="en-US" dirty="0" err="1"/>
              <a:t>Chúc</a:t>
            </a:r>
            <a:r>
              <a:rPr lang="en-US" dirty="0"/>
              <a:t> </a:t>
            </a:r>
            <a:r>
              <a:rPr lang="en-US" dirty="0" err="1"/>
              <a:t>mừng</a:t>
            </a:r>
            <a:r>
              <a:rPr lang="en-US" dirty="0"/>
              <a:t>, </a:t>
            </a:r>
            <a:r>
              <a:rPr lang="en-US" dirty="0" err="1"/>
              <a:t>bạn</a:t>
            </a:r>
            <a:r>
              <a:rPr lang="en-US" dirty="0"/>
              <a:t> </a:t>
            </a:r>
            <a:r>
              <a:rPr lang="en-US" dirty="0" err="1"/>
              <a:t>đã</a:t>
            </a:r>
            <a:r>
              <a:rPr lang="en-US" dirty="0"/>
              <a:t> </a:t>
            </a:r>
            <a:r>
              <a:rPr lang="en-US" dirty="0" err="1"/>
              <a:t>vượt</a:t>
            </a:r>
            <a:r>
              <a:rPr lang="en-US" dirty="0"/>
              <a:t> qua </a:t>
            </a:r>
            <a:r>
              <a:rPr lang="en-US" dirty="0" err="1"/>
              <a:t>kỳ</a:t>
            </a:r>
            <a:r>
              <a:rPr lang="en-US" dirty="0"/>
              <a:t> </a:t>
            </a:r>
            <a:r>
              <a:rPr lang="en-US" dirty="0" err="1"/>
              <a:t>thi</a:t>
            </a:r>
            <a:r>
              <a:rPr lang="en-US" dirty="0"/>
              <a:t> </a:t>
            </a:r>
            <a:r>
              <a:rPr lang="vi-VN" dirty="0"/>
              <a:t>");</a:t>
            </a:r>
          </a:p>
          <a:p>
            <a:pPr marL="457200" lvl="1" indent="0">
              <a:buNone/>
            </a:pPr>
            <a:r>
              <a:rPr lang="vi-VN" dirty="0"/>
              <a:t>  } </a:t>
            </a:r>
            <a:r>
              <a:rPr lang="vi-VN" dirty="0" err="1"/>
              <a:t>else</a:t>
            </a:r>
            <a:r>
              <a:rPr lang="vi-VN" dirty="0"/>
              <a:t> {</a:t>
            </a:r>
          </a:p>
          <a:p>
            <a:pPr marL="457200" lvl="1" indent="0">
              <a:buNone/>
            </a:pPr>
            <a:r>
              <a:rPr lang="vi-VN" dirty="0"/>
              <a:t>    console.log("</a:t>
            </a:r>
            <a:r>
              <a:rPr lang="en-US" dirty="0"/>
              <a:t> </a:t>
            </a:r>
            <a:r>
              <a:rPr lang="en-US" dirty="0" err="1"/>
              <a:t>Chưa</a:t>
            </a:r>
            <a:r>
              <a:rPr lang="en-US" dirty="0"/>
              <a:t> Đạt, </a:t>
            </a:r>
            <a:r>
              <a:rPr lang="en-US" dirty="0" err="1"/>
              <a:t>Bạn</a:t>
            </a:r>
            <a:r>
              <a:rPr lang="en-US" dirty="0"/>
              <a:t> </a:t>
            </a:r>
            <a:r>
              <a:rPr lang="en-US" dirty="0" err="1"/>
              <a:t>cần</a:t>
            </a:r>
            <a:r>
              <a:rPr lang="en-US" dirty="0"/>
              <a:t> </a:t>
            </a:r>
            <a:r>
              <a:rPr lang="en-US" dirty="0" err="1"/>
              <a:t>cố</a:t>
            </a:r>
            <a:r>
              <a:rPr lang="en-US" dirty="0"/>
              <a:t> </a:t>
            </a:r>
            <a:r>
              <a:rPr lang="en-US" dirty="0" err="1"/>
              <a:t>gắng</a:t>
            </a:r>
            <a:r>
              <a:rPr lang="en-US" dirty="0"/>
              <a:t> </a:t>
            </a:r>
            <a:r>
              <a:rPr lang="en-US" dirty="0" err="1"/>
              <a:t>lần</a:t>
            </a:r>
            <a:r>
              <a:rPr lang="en-US" dirty="0"/>
              <a:t> </a:t>
            </a:r>
            <a:r>
              <a:rPr lang="en-US" dirty="0" err="1"/>
              <a:t>sau</a:t>
            </a:r>
            <a:r>
              <a:rPr lang="en-US" dirty="0"/>
              <a:t> </a:t>
            </a:r>
            <a:r>
              <a:rPr lang="vi-VN" dirty="0"/>
              <a:t>");</a:t>
            </a:r>
          </a:p>
          <a:p>
            <a:pPr marL="457200" lvl="1" indent="0">
              <a:buNone/>
            </a:pPr>
            <a:r>
              <a:rPr lang="vi-VN" dirty="0"/>
              <a:t>  }</a:t>
            </a:r>
          </a:p>
          <a:p>
            <a:pPr marL="457200" lvl="1" indent="0">
              <a:buNone/>
            </a:pPr>
            <a:r>
              <a:rPr lang="vi-VN" dirty="0"/>
              <a:t>};</a:t>
            </a:r>
          </a:p>
          <a:p>
            <a:pPr marL="457200" lvl="1" indent="0">
              <a:buNone/>
            </a:pPr>
            <a:endParaRPr lang="vi-VN" dirty="0"/>
          </a:p>
          <a:p>
            <a:pPr marL="457200" lvl="1" indent="0">
              <a:buNone/>
            </a:pPr>
            <a:r>
              <a:rPr lang="vi-VN" dirty="0" err="1"/>
              <a:t>let</a:t>
            </a:r>
            <a:r>
              <a:rPr lang="vi-VN" dirty="0"/>
              <a:t> </a:t>
            </a:r>
            <a:r>
              <a:rPr lang="vi-VN" dirty="0" err="1"/>
              <a:t>tongDiem</a:t>
            </a:r>
            <a:r>
              <a:rPr lang="vi-VN" dirty="0"/>
              <a:t> = </a:t>
            </a:r>
            <a:r>
              <a:rPr lang="vi-VN" dirty="0" err="1"/>
              <a:t>tinhTong</a:t>
            </a:r>
            <a:r>
              <a:rPr lang="vi-VN" dirty="0"/>
              <a:t>(</a:t>
            </a:r>
            <a:r>
              <a:rPr lang="vi-VN" dirty="0" err="1"/>
              <a:t>diemVan</a:t>
            </a:r>
            <a:r>
              <a:rPr lang="vi-VN" dirty="0"/>
              <a:t>, </a:t>
            </a:r>
            <a:r>
              <a:rPr lang="vi-VN" dirty="0" err="1"/>
              <a:t>diemToan</a:t>
            </a:r>
            <a:r>
              <a:rPr lang="vi-VN" dirty="0"/>
              <a:t>);</a:t>
            </a:r>
          </a:p>
          <a:p>
            <a:pPr marL="457200" lvl="1" indent="0">
              <a:buNone/>
            </a:pPr>
            <a:r>
              <a:rPr lang="vi-VN" dirty="0" err="1"/>
              <a:t>hienThiKetQua</a:t>
            </a:r>
            <a:r>
              <a:rPr lang="vi-VN" dirty="0"/>
              <a:t>(</a:t>
            </a:r>
            <a:r>
              <a:rPr lang="vi-VN" dirty="0" err="1"/>
              <a:t>tongDiem</a:t>
            </a:r>
            <a:r>
              <a:rPr lang="vi-VN" dirty="0"/>
              <a:t>);</a:t>
            </a:r>
          </a:p>
          <a:p>
            <a:pPr marL="457200" lvl="1" indent="0">
              <a:buNone/>
            </a:pPr>
            <a:endParaRPr lang="en-US" b="1" dirty="0"/>
          </a:p>
        </p:txBody>
      </p:sp>
      <p:sp>
        <p:nvSpPr>
          <p:cNvPr id="3" name="Footer Placeholder 2">
            <a:extLst>
              <a:ext uri="{FF2B5EF4-FFF2-40B4-BE49-F238E27FC236}">
                <a16:creationId xmlns:a16="http://schemas.microsoft.com/office/drawing/2014/main" id="{5E6D312A-E1E3-BC99-3408-D078D1E04634}"/>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3C2F462E-B1D5-4252-3345-45C2498951A0}"/>
              </a:ext>
            </a:extLst>
          </p:cNvPr>
          <p:cNvSpPr>
            <a:spLocks noGrp="1"/>
          </p:cNvSpPr>
          <p:nvPr>
            <p:ph type="sldNum" sz="quarter" idx="4"/>
          </p:nvPr>
        </p:nvSpPr>
        <p:spPr/>
        <p:txBody>
          <a:bodyPr/>
          <a:lstStyle/>
          <a:p>
            <a:fld id="{3A02590D-67BD-4DF2-8CAA-B9002293EB8E}" type="slidenum">
              <a:rPr lang="en-US" smtClean="0"/>
              <a:pPr/>
              <a:t>12</a:t>
            </a:fld>
            <a:endParaRPr lang="en-US" dirty="0"/>
          </a:p>
        </p:txBody>
      </p:sp>
      <p:sp>
        <p:nvSpPr>
          <p:cNvPr id="5" name="Title 4">
            <a:extLst>
              <a:ext uri="{FF2B5EF4-FFF2-40B4-BE49-F238E27FC236}">
                <a16:creationId xmlns:a16="http://schemas.microsoft.com/office/drawing/2014/main" id="{DE659133-CD8F-3975-9830-256B7E2A6C21}"/>
              </a:ext>
            </a:extLst>
          </p:cNvPr>
          <p:cNvSpPr>
            <a:spLocks noGrp="1"/>
          </p:cNvSpPr>
          <p:nvPr>
            <p:ph type="title"/>
          </p:nvPr>
        </p:nvSpPr>
        <p:spPr/>
        <p:txBody>
          <a:bodyPr/>
          <a:lstStyle/>
          <a:p>
            <a:r>
              <a:rPr lang="en-US"/>
              <a:t>ARROW FUNCTION</a:t>
            </a:r>
          </a:p>
        </p:txBody>
      </p:sp>
    </p:spTree>
    <p:extLst>
      <p:ext uri="{BB962C8B-B14F-4D97-AF65-F5344CB8AC3E}">
        <p14:creationId xmlns:p14="http://schemas.microsoft.com/office/powerpoint/2010/main" val="1687685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C03F163-42D1-B0FD-4024-25B7460BF8DB}"/>
              </a:ext>
            </a:extLst>
          </p:cNvPr>
          <p:cNvGraphicFramePr>
            <a:graphicFrameLocks noGrp="1"/>
          </p:cNvGraphicFramePr>
          <p:nvPr>
            <p:ph idx="1"/>
            <p:extLst>
              <p:ext uri="{D42A27DB-BD31-4B8C-83A1-F6EECF244321}">
                <p14:modId xmlns:p14="http://schemas.microsoft.com/office/powerpoint/2010/main" val="2311968184"/>
              </p:ext>
            </p:extLst>
          </p:nvPr>
        </p:nvGraphicFramePr>
        <p:xfrm>
          <a:off x="493776" y="1331119"/>
          <a:ext cx="11183080" cy="4206240"/>
        </p:xfrm>
        <a:graphic>
          <a:graphicData uri="http://schemas.openxmlformats.org/drawingml/2006/table">
            <a:tbl>
              <a:tblPr>
                <a:tableStyleId>{5940675A-B579-460E-94D1-54222C63F5DA}</a:tableStyleId>
              </a:tblPr>
              <a:tblGrid>
                <a:gridCol w="3741938">
                  <a:extLst>
                    <a:ext uri="{9D8B030D-6E8A-4147-A177-3AD203B41FA5}">
                      <a16:colId xmlns:a16="http://schemas.microsoft.com/office/drawing/2014/main" val="202978105"/>
                    </a:ext>
                  </a:extLst>
                </a:gridCol>
                <a:gridCol w="3720571">
                  <a:extLst>
                    <a:ext uri="{9D8B030D-6E8A-4147-A177-3AD203B41FA5}">
                      <a16:colId xmlns:a16="http://schemas.microsoft.com/office/drawing/2014/main" val="3404889060"/>
                    </a:ext>
                  </a:extLst>
                </a:gridCol>
                <a:gridCol w="3720571">
                  <a:extLst>
                    <a:ext uri="{9D8B030D-6E8A-4147-A177-3AD203B41FA5}">
                      <a16:colId xmlns:a16="http://schemas.microsoft.com/office/drawing/2014/main" val="3330386984"/>
                    </a:ext>
                  </a:extLst>
                </a:gridCol>
              </a:tblGrid>
              <a:tr h="0">
                <a:tc>
                  <a:txBody>
                    <a:bodyPr/>
                    <a:lstStyle/>
                    <a:p>
                      <a:pPr>
                        <a:buNone/>
                      </a:pPr>
                      <a:r>
                        <a:rPr lang="en-US" b="1"/>
                        <a:t>Tiêu chí</a:t>
                      </a:r>
                    </a:p>
                  </a:txBody>
                  <a:tcPr anchor="ctr">
                    <a:solidFill>
                      <a:schemeClr val="accent5"/>
                    </a:solidFill>
                  </a:tcPr>
                </a:tc>
                <a:tc>
                  <a:txBody>
                    <a:bodyPr/>
                    <a:lstStyle/>
                    <a:p>
                      <a:pPr>
                        <a:buNone/>
                      </a:pPr>
                      <a:r>
                        <a:rPr lang="en-US" b="1"/>
                        <a:t>Arrow Function</a:t>
                      </a:r>
                    </a:p>
                  </a:txBody>
                  <a:tcPr anchor="ctr">
                    <a:solidFill>
                      <a:schemeClr val="accent5"/>
                    </a:solidFill>
                  </a:tcPr>
                </a:tc>
                <a:tc>
                  <a:txBody>
                    <a:bodyPr/>
                    <a:lstStyle/>
                    <a:p>
                      <a:pPr>
                        <a:buNone/>
                      </a:pPr>
                      <a:r>
                        <a:rPr lang="vi-VN" b="1"/>
                        <a:t>Function Thường</a:t>
                      </a:r>
                    </a:p>
                  </a:txBody>
                  <a:tcPr anchor="ctr">
                    <a:solidFill>
                      <a:schemeClr val="accent5"/>
                    </a:solidFill>
                  </a:tcPr>
                </a:tc>
                <a:extLst>
                  <a:ext uri="{0D108BD9-81ED-4DB2-BD59-A6C34878D82A}">
                    <a16:rowId xmlns:a16="http://schemas.microsoft.com/office/drawing/2014/main" val="535066312"/>
                  </a:ext>
                </a:extLst>
              </a:tr>
              <a:tr h="0">
                <a:tc>
                  <a:txBody>
                    <a:bodyPr/>
                    <a:lstStyle/>
                    <a:p>
                      <a:pPr>
                        <a:buNone/>
                      </a:pPr>
                      <a:r>
                        <a:rPr lang="en-US"/>
                        <a:t>Cú pháp</a:t>
                      </a:r>
                    </a:p>
                  </a:txBody>
                  <a:tcPr anchor="ctr"/>
                </a:tc>
                <a:tc>
                  <a:txBody>
                    <a:bodyPr/>
                    <a:lstStyle/>
                    <a:p>
                      <a:pPr>
                        <a:buNone/>
                      </a:pPr>
                      <a:r>
                        <a:rPr lang="en-US"/>
                        <a:t>Ngắn gọn</a:t>
                      </a:r>
                    </a:p>
                  </a:txBody>
                  <a:tcPr anchor="ctr"/>
                </a:tc>
                <a:tc>
                  <a:txBody>
                    <a:bodyPr/>
                    <a:lstStyle/>
                    <a:p>
                      <a:pPr>
                        <a:buNone/>
                      </a:pPr>
                      <a:r>
                        <a:rPr lang="vi-VN"/>
                        <a:t>Dài hơn</a:t>
                      </a:r>
                    </a:p>
                  </a:txBody>
                  <a:tcPr anchor="ctr"/>
                </a:tc>
                <a:extLst>
                  <a:ext uri="{0D108BD9-81ED-4DB2-BD59-A6C34878D82A}">
                    <a16:rowId xmlns:a16="http://schemas.microsoft.com/office/drawing/2014/main" val="3612541530"/>
                  </a:ext>
                </a:extLst>
              </a:tr>
              <a:tr h="0">
                <a:tc>
                  <a:txBody>
                    <a:bodyPr/>
                    <a:lstStyle/>
                    <a:p>
                      <a:pPr>
                        <a:buNone/>
                      </a:pPr>
                      <a:r>
                        <a:rPr lang="en-US"/>
                        <a:t>Từ khóa this</a:t>
                      </a:r>
                    </a:p>
                  </a:txBody>
                  <a:tcPr anchor="ctr">
                    <a:solidFill>
                      <a:schemeClr val="bg2"/>
                    </a:solidFill>
                  </a:tcPr>
                </a:tc>
                <a:tc>
                  <a:txBody>
                    <a:bodyPr/>
                    <a:lstStyle/>
                    <a:p>
                      <a:pPr>
                        <a:buNone/>
                      </a:pPr>
                      <a:r>
                        <a:rPr lang="en-US"/>
                        <a:t> Không có this riêng (kế thừa từ ngoài)</a:t>
                      </a:r>
                    </a:p>
                  </a:txBody>
                  <a:tcPr anchor="ctr">
                    <a:solidFill>
                      <a:schemeClr val="bg2"/>
                    </a:solidFill>
                  </a:tcPr>
                </a:tc>
                <a:tc>
                  <a:txBody>
                    <a:bodyPr/>
                    <a:lstStyle/>
                    <a:p>
                      <a:pPr>
                        <a:buNone/>
                      </a:pPr>
                      <a:r>
                        <a:rPr lang="en-US"/>
                        <a:t> Có this riêng</a:t>
                      </a:r>
                    </a:p>
                  </a:txBody>
                  <a:tcPr anchor="ctr">
                    <a:solidFill>
                      <a:schemeClr val="bg2"/>
                    </a:solidFill>
                  </a:tcPr>
                </a:tc>
                <a:extLst>
                  <a:ext uri="{0D108BD9-81ED-4DB2-BD59-A6C34878D82A}">
                    <a16:rowId xmlns:a16="http://schemas.microsoft.com/office/drawing/2014/main" val="2077405975"/>
                  </a:ext>
                </a:extLst>
              </a:tr>
              <a:tr h="0">
                <a:tc>
                  <a:txBody>
                    <a:bodyPr/>
                    <a:lstStyle/>
                    <a:p>
                      <a:pPr>
                        <a:buNone/>
                      </a:pPr>
                      <a:r>
                        <a:rPr lang="en-US" dirty="0" err="1"/>
                        <a:t>Dùng</a:t>
                      </a:r>
                      <a:r>
                        <a:rPr lang="en-US" dirty="0"/>
                        <a:t> </a:t>
                      </a:r>
                      <a:r>
                        <a:rPr lang="en-US" dirty="0" err="1"/>
                        <a:t>làm</a:t>
                      </a:r>
                      <a:r>
                        <a:rPr lang="en-US" dirty="0"/>
                        <a:t> constructor</a:t>
                      </a:r>
                    </a:p>
                  </a:txBody>
                  <a:tcPr anchor="ctr"/>
                </a:tc>
                <a:tc>
                  <a:txBody>
                    <a:bodyPr/>
                    <a:lstStyle/>
                    <a:p>
                      <a:pPr>
                        <a:buNone/>
                      </a:pPr>
                      <a:r>
                        <a:rPr lang="en-US"/>
                        <a:t> </a:t>
                      </a:r>
                      <a:r>
                        <a:rPr lang="vi-VN"/>
                        <a:t>Không dùng được</a:t>
                      </a:r>
                    </a:p>
                  </a:txBody>
                  <a:tcPr anchor="ctr"/>
                </a:tc>
                <a:tc>
                  <a:txBody>
                    <a:bodyPr/>
                    <a:lstStyle/>
                    <a:p>
                      <a:pPr>
                        <a:buNone/>
                      </a:pPr>
                      <a:r>
                        <a:rPr lang="vi-VN"/>
                        <a:t>Dùng được</a:t>
                      </a:r>
                    </a:p>
                  </a:txBody>
                  <a:tcPr anchor="ctr"/>
                </a:tc>
                <a:extLst>
                  <a:ext uri="{0D108BD9-81ED-4DB2-BD59-A6C34878D82A}">
                    <a16:rowId xmlns:a16="http://schemas.microsoft.com/office/drawing/2014/main" val="2114791391"/>
                  </a:ext>
                </a:extLst>
              </a:tr>
              <a:tr h="0">
                <a:tc>
                  <a:txBody>
                    <a:bodyPr/>
                    <a:lstStyle/>
                    <a:p>
                      <a:pPr>
                        <a:buNone/>
                      </a:pPr>
                      <a:r>
                        <a:rPr lang="en-US" dirty="0" err="1"/>
                        <a:t>Dùng</a:t>
                      </a:r>
                      <a:r>
                        <a:rPr lang="en-US" dirty="0"/>
                        <a:t> </a:t>
                      </a:r>
                      <a:r>
                        <a:rPr lang="en-US" dirty="0" err="1"/>
                        <a:t>làm</a:t>
                      </a:r>
                      <a:r>
                        <a:rPr lang="en-US" dirty="0"/>
                        <a:t> method </a:t>
                      </a:r>
                      <a:r>
                        <a:rPr lang="en-US" dirty="0" err="1"/>
                        <a:t>trong</a:t>
                      </a:r>
                      <a:r>
                        <a:rPr lang="en-US" dirty="0"/>
                        <a:t> object</a:t>
                      </a:r>
                    </a:p>
                  </a:txBody>
                  <a:tcPr anchor="ctr">
                    <a:solidFill>
                      <a:schemeClr val="bg2"/>
                    </a:solidFill>
                  </a:tcPr>
                </a:tc>
                <a:tc>
                  <a:txBody>
                    <a:bodyPr/>
                    <a:lstStyle/>
                    <a:p>
                      <a:pPr>
                        <a:buNone/>
                      </a:pPr>
                      <a:r>
                        <a:rPr lang="en-US"/>
                        <a:t>Không phù hợp (vì this không trỏ object)</a:t>
                      </a:r>
                    </a:p>
                  </a:txBody>
                  <a:tcPr anchor="ctr">
                    <a:solidFill>
                      <a:schemeClr val="bg2"/>
                    </a:solidFill>
                  </a:tcPr>
                </a:tc>
                <a:tc>
                  <a:txBody>
                    <a:bodyPr/>
                    <a:lstStyle/>
                    <a:p>
                      <a:pPr>
                        <a:buNone/>
                      </a:pPr>
                      <a:r>
                        <a:rPr lang="en-US"/>
                        <a:t>Phù hợp</a:t>
                      </a:r>
                    </a:p>
                  </a:txBody>
                  <a:tcPr anchor="ctr">
                    <a:solidFill>
                      <a:schemeClr val="bg2"/>
                    </a:solidFill>
                  </a:tcPr>
                </a:tc>
                <a:extLst>
                  <a:ext uri="{0D108BD9-81ED-4DB2-BD59-A6C34878D82A}">
                    <a16:rowId xmlns:a16="http://schemas.microsoft.com/office/drawing/2014/main" val="173180277"/>
                  </a:ext>
                </a:extLst>
              </a:tr>
              <a:tr h="0">
                <a:tc>
                  <a:txBody>
                    <a:bodyPr/>
                    <a:lstStyle/>
                    <a:p>
                      <a:pPr>
                        <a:buNone/>
                      </a:pPr>
                      <a:r>
                        <a:rPr lang="en-US"/>
                        <a:t>Tự bind this</a:t>
                      </a:r>
                    </a:p>
                  </a:txBody>
                  <a:tcPr anchor="ctr"/>
                </a:tc>
                <a:tc>
                  <a:txBody>
                    <a:bodyPr/>
                    <a:lstStyle/>
                    <a:p>
                      <a:pPr>
                        <a:buNone/>
                      </a:pPr>
                      <a:r>
                        <a:rPr lang="en-US"/>
                        <a:t>Mặc định bind từ ngoài</a:t>
                      </a:r>
                    </a:p>
                  </a:txBody>
                  <a:tcPr anchor="ctr"/>
                </a:tc>
                <a:tc>
                  <a:txBody>
                    <a:bodyPr/>
                    <a:lstStyle/>
                    <a:p>
                      <a:pPr>
                        <a:buNone/>
                      </a:pPr>
                      <a:r>
                        <a:rPr lang="en-US"/>
                        <a:t>Không tự bind</a:t>
                      </a:r>
                    </a:p>
                  </a:txBody>
                  <a:tcPr anchor="ctr"/>
                </a:tc>
                <a:extLst>
                  <a:ext uri="{0D108BD9-81ED-4DB2-BD59-A6C34878D82A}">
                    <a16:rowId xmlns:a16="http://schemas.microsoft.com/office/drawing/2014/main" val="563508022"/>
                  </a:ext>
                </a:extLst>
              </a:tr>
              <a:tr h="0">
                <a:tc>
                  <a:txBody>
                    <a:bodyPr/>
                    <a:lstStyle/>
                    <a:p>
                      <a:pPr>
                        <a:buNone/>
                      </a:pPr>
                      <a:r>
                        <a:rPr lang="en-US" dirty="0" err="1"/>
                        <a:t>Sử</a:t>
                      </a:r>
                      <a:r>
                        <a:rPr lang="en-US" dirty="0"/>
                        <a:t> </a:t>
                      </a:r>
                      <a:r>
                        <a:rPr lang="en-US" dirty="0" err="1"/>
                        <a:t>dụng</a:t>
                      </a:r>
                      <a:r>
                        <a:rPr lang="en-US" dirty="0"/>
                        <a:t> </a:t>
                      </a:r>
                      <a:r>
                        <a:rPr lang="en-US" dirty="0" err="1"/>
                        <a:t>trong</a:t>
                      </a:r>
                      <a:r>
                        <a:rPr lang="en-US" dirty="0"/>
                        <a:t> callback</a:t>
                      </a:r>
                    </a:p>
                  </a:txBody>
                  <a:tcPr anchor="ctr">
                    <a:solidFill>
                      <a:schemeClr val="bg2"/>
                    </a:solidFill>
                  </a:tcPr>
                </a:tc>
                <a:tc>
                  <a:txBody>
                    <a:bodyPr/>
                    <a:lstStyle/>
                    <a:p>
                      <a:pPr>
                        <a:buNone/>
                      </a:pPr>
                      <a:r>
                        <a:rPr lang="en-US"/>
                        <a:t>Rất phù hợp</a:t>
                      </a:r>
                    </a:p>
                  </a:txBody>
                  <a:tcPr anchor="ctr">
                    <a:solidFill>
                      <a:schemeClr val="bg2"/>
                    </a:solidFill>
                  </a:tcPr>
                </a:tc>
                <a:tc>
                  <a:txBody>
                    <a:bodyPr/>
                    <a:lstStyle/>
                    <a:p>
                      <a:pPr>
                        <a:buNone/>
                      </a:pPr>
                      <a:r>
                        <a:rPr lang="vi-VN"/>
                        <a:t>Thường phải .bind(this)</a:t>
                      </a:r>
                    </a:p>
                  </a:txBody>
                  <a:tcPr anchor="ctr">
                    <a:solidFill>
                      <a:schemeClr val="bg2"/>
                    </a:solidFill>
                  </a:tcPr>
                </a:tc>
                <a:extLst>
                  <a:ext uri="{0D108BD9-81ED-4DB2-BD59-A6C34878D82A}">
                    <a16:rowId xmlns:a16="http://schemas.microsoft.com/office/drawing/2014/main" val="3040719120"/>
                  </a:ext>
                </a:extLst>
              </a:tr>
              <a:tr h="0">
                <a:tc>
                  <a:txBody>
                    <a:bodyPr/>
                    <a:lstStyle/>
                    <a:p>
                      <a:pPr>
                        <a:buNone/>
                      </a:pPr>
                      <a:r>
                        <a:rPr lang="en-US"/>
                        <a:t>Có arguments</a:t>
                      </a:r>
                    </a:p>
                  </a:txBody>
                  <a:tcPr anchor="ctr"/>
                </a:tc>
                <a:tc>
                  <a:txBody>
                    <a:bodyPr/>
                    <a:lstStyle/>
                    <a:p>
                      <a:pPr>
                        <a:buNone/>
                      </a:pPr>
                      <a:r>
                        <a:rPr lang="en-US"/>
                        <a:t>Không có</a:t>
                      </a:r>
                    </a:p>
                  </a:txBody>
                  <a:tcPr anchor="ctr"/>
                </a:tc>
                <a:tc>
                  <a:txBody>
                    <a:bodyPr/>
                    <a:lstStyle/>
                    <a:p>
                      <a:pPr>
                        <a:buNone/>
                      </a:pPr>
                      <a:r>
                        <a:rPr lang="en-US"/>
                        <a:t> Có</a:t>
                      </a:r>
                    </a:p>
                  </a:txBody>
                  <a:tcPr anchor="ctr"/>
                </a:tc>
                <a:extLst>
                  <a:ext uri="{0D108BD9-81ED-4DB2-BD59-A6C34878D82A}">
                    <a16:rowId xmlns:a16="http://schemas.microsoft.com/office/drawing/2014/main" val="141376375"/>
                  </a:ext>
                </a:extLst>
              </a:tr>
              <a:tr h="0">
                <a:tc>
                  <a:txBody>
                    <a:bodyPr/>
                    <a:lstStyle/>
                    <a:p>
                      <a:pPr>
                        <a:buNone/>
                      </a:pPr>
                      <a:r>
                        <a:rPr lang="en-US"/>
                        <a:t>Hoisting</a:t>
                      </a:r>
                    </a:p>
                  </a:txBody>
                  <a:tcPr anchor="ctr">
                    <a:solidFill>
                      <a:schemeClr val="bg2"/>
                    </a:solidFill>
                  </a:tcPr>
                </a:tc>
                <a:tc>
                  <a:txBody>
                    <a:bodyPr/>
                    <a:lstStyle/>
                    <a:p>
                      <a:pPr>
                        <a:buNone/>
                      </a:pPr>
                      <a:r>
                        <a:rPr lang="vi-VN"/>
                        <a:t>Không được hoisting</a:t>
                      </a:r>
                    </a:p>
                  </a:txBody>
                  <a:tcPr anchor="ctr">
                    <a:solidFill>
                      <a:schemeClr val="bg2"/>
                    </a:solidFill>
                  </a:tcPr>
                </a:tc>
                <a:tc>
                  <a:txBody>
                    <a:bodyPr/>
                    <a:lstStyle/>
                    <a:p>
                      <a:pPr>
                        <a:buNone/>
                      </a:pPr>
                      <a:r>
                        <a:rPr lang="vi-VN"/>
                        <a:t>Được hoisting</a:t>
                      </a:r>
                    </a:p>
                  </a:txBody>
                  <a:tcPr anchor="ctr">
                    <a:solidFill>
                      <a:schemeClr val="bg2"/>
                    </a:solidFill>
                  </a:tcPr>
                </a:tc>
                <a:extLst>
                  <a:ext uri="{0D108BD9-81ED-4DB2-BD59-A6C34878D82A}">
                    <a16:rowId xmlns:a16="http://schemas.microsoft.com/office/drawing/2014/main" val="2473153707"/>
                  </a:ext>
                </a:extLst>
              </a:tr>
              <a:tr h="0">
                <a:tc>
                  <a:txBody>
                    <a:bodyPr/>
                    <a:lstStyle/>
                    <a:p>
                      <a:pPr>
                        <a:buNone/>
                      </a:pPr>
                      <a:r>
                        <a:rPr lang="en-US"/>
                        <a:t>Tính ngắn gọn</a:t>
                      </a:r>
                    </a:p>
                  </a:txBody>
                  <a:tcPr anchor="ctr"/>
                </a:tc>
                <a:tc>
                  <a:txBody>
                    <a:bodyPr/>
                    <a:lstStyle/>
                    <a:p>
                      <a:pPr>
                        <a:buNone/>
                      </a:pPr>
                      <a:r>
                        <a:rPr lang="en-US"/>
                        <a:t>Rất ngắn</a:t>
                      </a:r>
                    </a:p>
                  </a:txBody>
                  <a:tcPr anchor="ctr"/>
                </a:tc>
                <a:tc>
                  <a:txBody>
                    <a:bodyPr/>
                    <a:lstStyle/>
                    <a:p>
                      <a:pPr>
                        <a:buNone/>
                      </a:pPr>
                      <a:r>
                        <a:rPr lang="vi-VN" dirty="0"/>
                        <a:t>Bình thường</a:t>
                      </a:r>
                    </a:p>
                  </a:txBody>
                  <a:tcPr anchor="ctr"/>
                </a:tc>
                <a:extLst>
                  <a:ext uri="{0D108BD9-81ED-4DB2-BD59-A6C34878D82A}">
                    <a16:rowId xmlns:a16="http://schemas.microsoft.com/office/drawing/2014/main" val="2045319130"/>
                  </a:ext>
                </a:extLst>
              </a:tr>
            </a:tbl>
          </a:graphicData>
        </a:graphic>
      </p:graphicFrame>
      <p:sp>
        <p:nvSpPr>
          <p:cNvPr id="3" name="Footer Placeholder 2">
            <a:extLst>
              <a:ext uri="{FF2B5EF4-FFF2-40B4-BE49-F238E27FC236}">
                <a16:creationId xmlns:a16="http://schemas.microsoft.com/office/drawing/2014/main" id="{17D424BB-5FA2-4F74-2F01-E5425F7A9C68}"/>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5FA6BECA-E052-39E3-03C3-D307C8E8A98D}"/>
              </a:ext>
            </a:extLst>
          </p:cNvPr>
          <p:cNvSpPr>
            <a:spLocks noGrp="1"/>
          </p:cNvSpPr>
          <p:nvPr>
            <p:ph type="sldNum" sz="quarter" idx="4"/>
          </p:nvPr>
        </p:nvSpPr>
        <p:spPr/>
        <p:txBody>
          <a:bodyPr/>
          <a:lstStyle/>
          <a:p>
            <a:fld id="{3A02590D-67BD-4DF2-8CAA-B9002293EB8E}" type="slidenum">
              <a:rPr lang="en-US" smtClean="0"/>
              <a:pPr/>
              <a:t>13</a:t>
            </a:fld>
            <a:endParaRPr lang="en-US" dirty="0"/>
          </a:p>
        </p:txBody>
      </p:sp>
      <p:sp>
        <p:nvSpPr>
          <p:cNvPr id="5" name="Title 4">
            <a:extLst>
              <a:ext uri="{FF2B5EF4-FFF2-40B4-BE49-F238E27FC236}">
                <a16:creationId xmlns:a16="http://schemas.microsoft.com/office/drawing/2014/main" id="{929F11EB-0767-0F42-BD41-A0CA39CD5EB3}"/>
              </a:ext>
            </a:extLst>
          </p:cNvPr>
          <p:cNvSpPr>
            <a:spLocks noGrp="1"/>
          </p:cNvSpPr>
          <p:nvPr>
            <p:ph type="title"/>
          </p:nvPr>
        </p:nvSpPr>
        <p:spPr/>
        <p:txBody>
          <a:bodyPr>
            <a:normAutofit/>
          </a:bodyPr>
          <a:lstStyle/>
          <a:p>
            <a:r>
              <a:rPr lang="en-US"/>
              <a:t>So sánh Arrow Function với Function thường</a:t>
            </a:r>
          </a:p>
        </p:txBody>
      </p:sp>
    </p:spTree>
    <p:extLst>
      <p:ext uri="{BB962C8B-B14F-4D97-AF65-F5344CB8AC3E}">
        <p14:creationId xmlns:p14="http://schemas.microsoft.com/office/powerpoint/2010/main" val="1764227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D60D17-F5EF-9235-D0E4-1266E79781C9}"/>
              </a:ext>
            </a:extLst>
          </p:cNvPr>
          <p:cNvSpPr>
            <a:spLocks noGrp="1"/>
          </p:cNvSpPr>
          <p:nvPr>
            <p:ph idx="1"/>
          </p:nvPr>
        </p:nvSpPr>
        <p:spPr>
          <a:xfrm>
            <a:off x="138224" y="1024758"/>
            <a:ext cx="11897832" cy="5234152"/>
          </a:xfrm>
        </p:spPr>
        <p:txBody>
          <a:bodyPr/>
          <a:lstStyle/>
          <a:p>
            <a:r>
              <a:rPr lang="en-US" b="1" dirty="0" err="1"/>
              <a:t>Khái</a:t>
            </a:r>
            <a:r>
              <a:rPr lang="en-US" b="1" dirty="0"/>
              <a:t> </a:t>
            </a:r>
            <a:r>
              <a:rPr lang="en-US" b="1" dirty="0" err="1"/>
              <a:t>niệm</a:t>
            </a:r>
            <a:r>
              <a:rPr lang="en-US" dirty="0"/>
              <a:t>:</a:t>
            </a:r>
          </a:p>
          <a:p>
            <a:pPr lvl="1"/>
            <a:r>
              <a:rPr lang="en-US" sz="2800" b="1" dirty="0" err="1">
                <a:solidFill>
                  <a:srgbClr val="FF0000"/>
                </a:solidFill>
              </a:rPr>
              <a:t>Luồng</a:t>
            </a:r>
            <a:r>
              <a:rPr lang="en-US" sz="2800" b="1" dirty="0">
                <a:solidFill>
                  <a:srgbClr val="FF0000"/>
                </a:solidFill>
              </a:rPr>
              <a:t> </a:t>
            </a:r>
            <a:r>
              <a:rPr lang="en-US" sz="2800" b="1" dirty="0" err="1">
                <a:solidFill>
                  <a:srgbClr val="FF0000"/>
                </a:solidFill>
              </a:rPr>
              <a:t>điều</a:t>
            </a:r>
            <a:r>
              <a:rPr lang="en-US" sz="2800" b="1" dirty="0">
                <a:solidFill>
                  <a:srgbClr val="FF0000"/>
                </a:solidFill>
              </a:rPr>
              <a:t> </a:t>
            </a:r>
            <a:r>
              <a:rPr lang="en-US" sz="2800" b="1" dirty="0" err="1">
                <a:solidFill>
                  <a:srgbClr val="FF0000"/>
                </a:solidFill>
              </a:rPr>
              <a:t>khiển</a:t>
            </a:r>
            <a:r>
              <a:rPr lang="vi-VN" sz="2800" b="1" dirty="0"/>
              <a:t>(</a:t>
            </a:r>
            <a:r>
              <a:rPr lang="vi-VN" sz="2800" b="1" dirty="0" err="1"/>
              <a:t>Control</a:t>
            </a:r>
            <a:r>
              <a:rPr lang="vi-VN" sz="2800" b="1" dirty="0"/>
              <a:t> </a:t>
            </a:r>
            <a:r>
              <a:rPr lang="vi-VN" sz="2800" b="1" dirty="0" err="1"/>
              <a:t>Flow</a:t>
            </a:r>
            <a:r>
              <a:rPr lang="vi-VN" sz="2800" b="1" dirty="0"/>
              <a:t>)</a:t>
            </a:r>
            <a:r>
              <a:rPr lang="vi-VN" sz="2800" dirty="0"/>
              <a:t> là thứ tự và cách thức mà chương trình được thực thi, tức là các câu lệnh trong chương trình sẽ được chạy theo hướng nào, trước hay sau, có rẽ nhánh hay lặp lại hay không.</a:t>
            </a:r>
            <a:endParaRPr lang="en-US" sz="2800" dirty="0"/>
          </a:p>
          <a:p>
            <a:r>
              <a:rPr lang="vi-VN" b="1" dirty="0"/>
              <a:t>Nói đơn giản</a:t>
            </a:r>
            <a:r>
              <a:rPr lang="en-US" b="1" dirty="0"/>
              <a:t>: </a:t>
            </a:r>
            <a:r>
              <a:rPr lang="en-US" dirty="0"/>
              <a:t> </a:t>
            </a:r>
            <a:r>
              <a:rPr lang="vi-VN" b="1" dirty="0">
                <a:solidFill>
                  <a:srgbClr val="FF0000"/>
                </a:solidFill>
              </a:rPr>
              <a:t>Luồng điều khiển </a:t>
            </a:r>
            <a:r>
              <a:rPr lang="vi-VN" b="1" dirty="0"/>
              <a:t>= </a:t>
            </a:r>
            <a:r>
              <a:rPr lang="vi-VN" b="1" dirty="0">
                <a:solidFill>
                  <a:srgbClr val="FF0000"/>
                </a:solidFill>
              </a:rPr>
              <a:t>đường đi của chương trình</a:t>
            </a:r>
            <a:endParaRPr lang="vi-VN" dirty="0">
              <a:solidFill>
                <a:srgbClr val="FF0000"/>
              </a:solidFill>
            </a:endParaRPr>
          </a:p>
          <a:p>
            <a:r>
              <a:rPr lang="en-US" b="1" dirty="0" err="1"/>
              <a:t>Có</a:t>
            </a:r>
            <a:r>
              <a:rPr lang="en-US" b="1" dirty="0"/>
              <a:t> 3 </a:t>
            </a:r>
            <a:r>
              <a:rPr lang="en-US" b="1" dirty="0" err="1"/>
              <a:t>loại</a:t>
            </a:r>
            <a:r>
              <a:rPr lang="en-US" b="1" dirty="0"/>
              <a:t> </a:t>
            </a:r>
            <a:r>
              <a:rPr lang="en-US" b="1" dirty="0" err="1"/>
              <a:t>luồng</a:t>
            </a:r>
            <a:r>
              <a:rPr lang="en-US" b="1" dirty="0"/>
              <a:t> </a:t>
            </a:r>
            <a:r>
              <a:rPr lang="en-US" b="1" dirty="0" err="1"/>
              <a:t>điều</a:t>
            </a:r>
            <a:r>
              <a:rPr lang="en-US" b="1" dirty="0"/>
              <a:t> </a:t>
            </a:r>
            <a:r>
              <a:rPr lang="en-US" b="1" dirty="0" err="1"/>
              <a:t>khiển</a:t>
            </a:r>
            <a:r>
              <a:rPr lang="en-US" dirty="0"/>
              <a:t>:</a:t>
            </a:r>
          </a:p>
          <a:p>
            <a:pPr marL="0" indent="0">
              <a:buNone/>
            </a:pPr>
            <a:r>
              <a:rPr lang="en-US" dirty="0"/>
              <a:t> </a:t>
            </a:r>
            <a:br>
              <a:rPr lang="en-US" dirty="0"/>
            </a:br>
            <a:r>
              <a:rPr lang="en-US" dirty="0"/>
              <a:t>      1. </a:t>
            </a:r>
            <a:r>
              <a:rPr lang="en-US" dirty="0" err="1"/>
              <a:t>Luồng</a:t>
            </a:r>
            <a:r>
              <a:rPr lang="en-US" dirty="0"/>
              <a:t> </a:t>
            </a:r>
            <a:r>
              <a:rPr lang="en-US" dirty="0" err="1"/>
              <a:t>điều</a:t>
            </a:r>
            <a:r>
              <a:rPr lang="en-US" dirty="0"/>
              <a:t> </a:t>
            </a:r>
            <a:r>
              <a:rPr lang="en-US" dirty="0" err="1"/>
              <a:t>khiển</a:t>
            </a:r>
            <a:r>
              <a:rPr lang="en-US" dirty="0"/>
              <a:t> </a:t>
            </a:r>
            <a:r>
              <a:rPr lang="en-US" dirty="0" err="1"/>
              <a:t>tuần</a:t>
            </a:r>
            <a:r>
              <a:rPr lang="en-US" dirty="0"/>
              <a:t> </a:t>
            </a:r>
            <a:r>
              <a:rPr lang="en-US" dirty="0" err="1"/>
              <a:t>tự</a:t>
            </a:r>
            <a:r>
              <a:rPr lang="en-US" dirty="0"/>
              <a:t> </a:t>
            </a:r>
          </a:p>
          <a:p>
            <a:pPr marL="0" indent="0">
              <a:buNone/>
            </a:pPr>
            <a:r>
              <a:rPr lang="en-US" dirty="0"/>
              <a:t>      2. </a:t>
            </a:r>
            <a:r>
              <a:rPr lang="en-US" dirty="0" err="1"/>
              <a:t>Luồng</a:t>
            </a:r>
            <a:r>
              <a:rPr lang="en-US" dirty="0"/>
              <a:t> </a:t>
            </a:r>
            <a:r>
              <a:rPr lang="en-US" dirty="0" err="1"/>
              <a:t>điều</a:t>
            </a:r>
            <a:r>
              <a:rPr lang="en-US" dirty="0"/>
              <a:t> </a:t>
            </a:r>
            <a:r>
              <a:rPr lang="en-US" dirty="0" err="1"/>
              <a:t>khiển</a:t>
            </a:r>
            <a:r>
              <a:rPr lang="en-US" dirty="0"/>
              <a:t> </a:t>
            </a:r>
            <a:r>
              <a:rPr lang="en-US" dirty="0" err="1"/>
              <a:t>rẽ</a:t>
            </a:r>
            <a:r>
              <a:rPr lang="en-US" dirty="0"/>
              <a:t> </a:t>
            </a:r>
            <a:r>
              <a:rPr lang="en-US" dirty="0" err="1"/>
              <a:t>nhánh</a:t>
            </a:r>
            <a:endParaRPr lang="en-US" dirty="0"/>
          </a:p>
          <a:p>
            <a:pPr marL="0" indent="0">
              <a:buNone/>
            </a:pPr>
            <a:r>
              <a:rPr lang="en-US" dirty="0"/>
              <a:t>      3. </a:t>
            </a:r>
            <a:r>
              <a:rPr lang="en-US" dirty="0" err="1"/>
              <a:t>Luồng</a:t>
            </a:r>
            <a:r>
              <a:rPr lang="en-US" dirty="0"/>
              <a:t> </a:t>
            </a:r>
            <a:r>
              <a:rPr lang="en-US" dirty="0" err="1"/>
              <a:t>điều</a:t>
            </a:r>
            <a:r>
              <a:rPr lang="en-US" dirty="0"/>
              <a:t> </a:t>
            </a:r>
            <a:r>
              <a:rPr lang="en-US" dirty="0" err="1"/>
              <a:t>khiển</a:t>
            </a:r>
            <a:r>
              <a:rPr lang="en-US" dirty="0"/>
              <a:t> </a:t>
            </a:r>
            <a:r>
              <a:rPr lang="en-US" dirty="0" err="1"/>
              <a:t>lặp</a:t>
            </a:r>
            <a:endParaRPr lang="en-US" dirty="0"/>
          </a:p>
        </p:txBody>
      </p:sp>
      <p:sp>
        <p:nvSpPr>
          <p:cNvPr id="3" name="Footer Placeholder 2">
            <a:extLst>
              <a:ext uri="{FF2B5EF4-FFF2-40B4-BE49-F238E27FC236}">
                <a16:creationId xmlns:a16="http://schemas.microsoft.com/office/drawing/2014/main" id="{EB93202C-4233-FCEA-0990-3B0C5E675A5C}"/>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B887E3A3-0DF1-D058-77A2-7F9C773EAE48}"/>
              </a:ext>
            </a:extLst>
          </p:cNvPr>
          <p:cNvSpPr>
            <a:spLocks noGrp="1"/>
          </p:cNvSpPr>
          <p:nvPr>
            <p:ph type="sldNum" sz="quarter" idx="4"/>
          </p:nvPr>
        </p:nvSpPr>
        <p:spPr/>
        <p:txBody>
          <a:bodyPr/>
          <a:lstStyle/>
          <a:p>
            <a:fld id="{3A02590D-67BD-4DF2-8CAA-B9002293EB8E}" type="slidenum">
              <a:rPr lang="en-US" smtClean="0"/>
              <a:pPr/>
              <a:t>14</a:t>
            </a:fld>
            <a:endParaRPr lang="en-US" dirty="0"/>
          </a:p>
        </p:txBody>
      </p:sp>
      <p:sp>
        <p:nvSpPr>
          <p:cNvPr id="5" name="Title 4">
            <a:extLst>
              <a:ext uri="{FF2B5EF4-FFF2-40B4-BE49-F238E27FC236}">
                <a16:creationId xmlns:a16="http://schemas.microsoft.com/office/drawing/2014/main" id="{CA143B30-6F44-2676-EABF-D6981B0EA6F4}"/>
              </a:ext>
            </a:extLst>
          </p:cNvPr>
          <p:cNvSpPr>
            <a:spLocks noGrp="1"/>
          </p:cNvSpPr>
          <p:nvPr>
            <p:ph type="title"/>
          </p:nvPr>
        </p:nvSpPr>
        <p:spPr/>
        <p:txBody>
          <a:bodyPr/>
          <a:lstStyle/>
          <a:p>
            <a:r>
              <a:rPr lang="en-US" dirty="0"/>
              <a:t>ĐIỀU KHIỂN LUỒNG</a:t>
            </a:r>
          </a:p>
        </p:txBody>
      </p:sp>
    </p:spTree>
    <p:extLst>
      <p:ext uri="{BB962C8B-B14F-4D97-AF65-F5344CB8AC3E}">
        <p14:creationId xmlns:p14="http://schemas.microsoft.com/office/powerpoint/2010/main" val="1573912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E93C6-D917-97CA-E9E7-BFD81357510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4A4D96-00B4-4CD1-625C-02797D5B928B}"/>
              </a:ext>
            </a:extLst>
          </p:cNvPr>
          <p:cNvSpPr>
            <a:spLocks noGrp="1"/>
          </p:cNvSpPr>
          <p:nvPr>
            <p:ph idx="1"/>
          </p:nvPr>
        </p:nvSpPr>
        <p:spPr>
          <a:xfrm>
            <a:off x="138224" y="1024758"/>
            <a:ext cx="11897832" cy="5234152"/>
          </a:xfrm>
        </p:spPr>
        <p:txBody>
          <a:bodyPr/>
          <a:lstStyle/>
          <a:p>
            <a:r>
              <a:rPr lang="en-US" b="1" dirty="0" err="1">
                <a:solidFill>
                  <a:srgbClr val="FF0000"/>
                </a:solidFill>
              </a:rPr>
              <a:t>Luồng</a:t>
            </a:r>
            <a:r>
              <a:rPr lang="en-US" b="1" dirty="0">
                <a:solidFill>
                  <a:srgbClr val="FF0000"/>
                </a:solidFill>
              </a:rPr>
              <a:t> </a:t>
            </a:r>
            <a:r>
              <a:rPr lang="en-US" b="1" dirty="0" err="1">
                <a:solidFill>
                  <a:srgbClr val="FF0000"/>
                </a:solidFill>
              </a:rPr>
              <a:t>điều</a:t>
            </a:r>
            <a:r>
              <a:rPr lang="en-US" b="1" dirty="0">
                <a:solidFill>
                  <a:srgbClr val="FF0000"/>
                </a:solidFill>
              </a:rPr>
              <a:t> </a:t>
            </a:r>
            <a:r>
              <a:rPr lang="en-US" b="1" dirty="0" err="1">
                <a:solidFill>
                  <a:srgbClr val="FF0000"/>
                </a:solidFill>
              </a:rPr>
              <a:t>khiển</a:t>
            </a:r>
            <a:r>
              <a:rPr lang="en-US" b="1" dirty="0">
                <a:solidFill>
                  <a:srgbClr val="FF0000"/>
                </a:solidFill>
              </a:rPr>
              <a:t> </a:t>
            </a:r>
            <a:r>
              <a:rPr lang="en-US" b="1" dirty="0" err="1">
                <a:solidFill>
                  <a:srgbClr val="FF0000"/>
                </a:solidFill>
              </a:rPr>
              <a:t>tuần</a:t>
            </a:r>
            <a:r>
              <a:rPr lang="en-US" b="1" dirty="0">
                <a:solidFill>
                  <a:srgbClr val="FF0000"/>
                </a:solidFill>
              </a:rPr>
              <a:t> </a:t>
            </a:r>
            <a:r>
              <a:rPr lang="en-US" b="1" dirty="0" err="1">
                <a:solidFill>
                  <a:srgbClr val="FF0000"/>
                </a:solidFill>
              </a:rPr>
              <a:t>tự</a:t>
            </a:r>
            <a:r>
              <a:rPr lang="en-US" b="1" dirty="0">
                <a:solidFill>
                  <a:srgbClr val="FF0000"/>
                </a:solidFill>
              </a:rPr>
              <a:t>:</a:t>
            </a:r>
          </a:p>
          <a:p>
            <a:pPr marL="0" indent="0">
              <a:buNone/>
            </a:pPr>
            <a:r>
              <a:rPr lang="en-US" b="1" dirty="0"/>
              <a:t>   </a:t>
            </a:r>
            <a:r>
              <a:rPr lang="vi-VN" b="1" dirty="0"/>
              <a:t>Luồng điều khiển tuần tự</a:t>
            </a:r>
            <a:r>
              <a:rPr lang="vi-VN" dirty="0"/>
              <a:t> là luồng thực thi mặc định của chương trình, trong đó các câu lệnh được thực hiện </a:t>
            </a:r>
            <a:r>
              <a:rPr lang="vi-VN" b="1" dirty="0"/>
              <a:t>tuần tự, câu sau chỉ được thực thi khi câu trước đã hoàn thành</a:t>
            </a:r>
            <a:r>
              <a:rPr lang="vi-VN" dirty="0"/>
              <a:t>.</a:t>
            </a:r>
            <a:endParaRPr lang="en-US" dirty="0"/>
          </a:p>
          <a:p>
            <a:r>
              <a:rPr lang="en-US" dirty="0" err="1"/>
              <a:t>Ví</a:t>
            </a:r>
            <a:r>
              <a:rPr lang="en-US" dirty="0"/>
              <a:t> </a:t>
            </a:r>
            <a:r>
              <a:rPr lang="en-US" dirty="0" err="1"/>
              <a:t>dụ</a:t>
            </a:r>
            <a:r>
              <a:rPr lang="en-US" dirty="0"/>
              <a:t>:</a:t>
            </a:r>
          </a:p>
          <a:p>
            <a:pPr marL="457200" lvl="1" indent="0">
              <a:buNone/>
            </a:pPr>
            <a:r>
              <a:rPr lang="en-US" dirty="0"/>
              <a:t>let a = 5;</a:t>
            </a:r>
          </a:p>
          <a:p>
            <a:pPr marL="457200" lvl="1" indent="0">
              <a:buNone/>
            </a:pPr>
            <a:r>
              <a:rPr lang="en-US" dirty="0"/>
              <a:t>let b = 3;</a:t>
            </a:r>
          </a:p>
          <a:p>
            <a:pPr marL="457200" lvl="1" indent="0">
              <a:buNone/>
            </a:pPr>
            <a:r>
              <a:rPr lang="en-US" dirty="0"/>
              <a:t>let sum = a + b;</a:t>
            </a:r>
          </a:p>
          <a:p>
            <a:pPr marL="457200" lvl="1" indent="0">
              <a:buNone/>
            </a:pPr>
            <a:r>
              <a:rPr lang="en-US" dirty="0"/>
              <a:t>console.log(sum);</a:t>
            </a:r>
          </a:p>
          <a:p>
            <a:pPr marL="0" indent="0">
              <a:buNone/>
            </a:pPr>
            <a:endParaRPr lang="en-US" dirty="0"/>
          </a:p>
        </p:txBody>
      </p:sp>
      <p:sp>
        <p:nvSpPr>
          <p:cNvPr id="3" name="Footer Placeholder 2">
            <a:extLst>
              <a:ext uri="{FF2B5EF4-FFF2-40B4-BE49-F238E27FC236}">
                <a16:creationId xmlns:a16="http://schemas.microsoft.com/office/drawing/2014/main" id="{8FF8D5FE-12FD-A8F0-CF63-AAB6672EA378}"/>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C60035AE-0065-626A-45A4-BE4797A290D8}"/>
              </a:ext>
            </a:extLst>
          </p:cNvPr>
          <p:cNvSpPr>
            <a:spLocks noGrp="1"/>
          </p:cNvSpPr>
          <p:nvPr>
            <p:ph type="sldNum" sz="quarter" idx="4"/>
          </p:nvPr>
        </p:nvSpPr>
        <p:spPr/>
        <p:txBody>
          <a:bodyPr/>
          <a:lstStyle/>
          <a:p>
            <a:fld id="{3A02590D-67BD-4DF2-8CAA-B9002293EB8E}" type="slidenum">
              <a:rPr lang="en-US" smtClean="0"/>
              <a:pPr/>
              <a:t>15</a:t>
            </a:fld>
            <a:endParaRPr lang="en-US" dirty="0"/>
          </a:p>
        </p:txBody>
      </p:sp>
      <p:sp>
        <p:nvSpPr>
          <p:cNvPr id="5" name="Title 4">
            <a:extLst>
              <a:ext uri="{FF2B5EF4-FFF2-40B4-BE49-F238E27FC236}">
                <a16:creationId xmlns:a16="http://schemas.microsoft.com/office/drawing/2014/main" id="{2F1DA44B-AE70-159F-D245-8A46319CBDF6}"/>
              </a:ext>
            </a:extLst>
          </p:cNvPr>
          <p:cNvSpPr>
            <a:spLocks noGrp="1"/>
          </p:cNvSpPr>
          <p:nvPr>
            <p:ph type="title"/>
          </p:nvPr>
        </p:nvSpPr>
        <p:spPr/>
        <p:txBody>
          <a:bodyPr/>
          <a:lstStyle/>
          <a:p>
            <a:r>
              <a:rPr lang="en-US" dirty="0"/>
              <a:t>ĐIỀU KHIỂN LUỒNG</a:t>
            </a:r>
          </a:p>
        </p:txBody>
      </p:sp>
    </p:spTree>
    <p:extLst>
      <p:ext uri="{BB962C8B-B14F-4D97-AF65-F5344CB8AC3E}">
        <p14:creationId xmlns:p14="http://schemas.microsoft.com/office/powerpoint/2010/main" val="2338633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D9908-B3DE-6B29-0BE9-273330E42E6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4FD1CB-C1D6-1FDC-7F8D-93555A457E66}"/>
              </a:ext>
            </a:extLst>
          </p:cNvPr>
          <p:cNvSpPr>
            <a:spLocks noGrp="1"/>
          </p:cNvSpPr>
          <p:nvPr>
            <p:ph idx="1"/>
          </p:nvPr>
        </p:nvSpPr>
        <p:spPr>
          <a:xfrm>
            <a:off x="138224" y="893135"/>
            <a:ext cx="11897832" cy="5365775"/>
          </a:xfrm>
        </p:spPr>
        <p:txBody>
          <a:bodyPr>
            <a:normAutofit lnSpcReduction="10000"/>
          </a:bodyPr>
          <a:lstStyle/>
          <a:p>
            <a:r>
              <a:rPr lang="en-US" b="1" dirty="0" err="1">
                <a:solidFill>
                  <a:srgbClr val="FF0000"/>
                </a:solidFill>
              </a:rPr>
              <a:t>Luồng</a:t>
            </a:r>
            <a:r>
              <a:rPr lang="en-US" b="1" dirty="0">
                <a:solidFill>
                  <a:srgbClr val="FF0000"/>
                </a:solidFill>
              </a:rPr>
              <a:t> </a:t>
            </a:r>
            <a:r>
              <a:rPr lang="en-US" b="1" dirty="0" err="1">
                <a:solidFill>
                  <a:srgbClr val="FF0000"/>
                </a:solidFill>
              </a:rPr>
              <a:t>điều</a:t>
            </a:r>
            <a:r>
              <a:rPr lang="en-US" b="1" dirty="0">
                <a:solidFill>
                  <a:srgbClr val="FF0000"/>
                </a:solidFill>
              </a:rPr>
              <a:t> </a:t>
            </a:r>
            <a:r>
              <a:rPr lang="en-US" b="1" dirty="0" err="1">
                <a:solidFill>
                  <a:srgbClr val="FF0000"/>
                </a:solidFill>
              </a:rPr>
              <a:t>khiển</a:t>
            </a:r>
            <a:r>
              <a:rPr lang="en-US" b="1" dirty="0">
                <a:solidFill>
                  <a:srgbClr val="FF0000"/>
                </a:solidFill>
              </a:rPr>
              <a:t> </a:t>
            </a:r>
            <a:r>
              <a:rPr lang="en-US" b="1" dirty="0" err="1">
                <a:solidFill>
                  <a:srgbClr val="FF0000"/>
                </a:solidFill>
              </a:rPr>
              <a:t>rẻ</a:t>
            </a:r>
            <a:r>
              <a:rPr lang="en-US" b="1" dirty="0">
                <a:solidFill>
                  <a:srgbClr val="FF0000"/>
                </a:solidFill>
              </a:rPr>
              <a:t> </a:t>
            </a:r>
            <a:r>
              <a:rPr lang="en-US" b="1" dirty="0" err="1">
                <a:solidFill>
                  <a:srgbClr val="FF0000"/>
                </a:solidFill>
              </a:rPr>
              <a:t>nhánh</a:t>
            </a:r>
            <a:r>
              <a:rPr lang="en-US" b="1" dirty="0">
                <a:solidFill>
                  <a:srgbClr val="FF0000"/>
                </a:solidFill>
              </a:rPr>
              <a:t>:</a:t>
            </a:r>
          </a:p>
          <a:p>
            <a:pPr marL="0" indent="0">
              <a:buNone/>
            </a:pPr>
            <a:r>
              <a:rPr lang="en-US" b="1" dirty="0"/>
              <a:t>   </a:t>
            </a:r>
            <a:r>
              <a:rPr lang="en-US" dirty="0"/>
              <a:t>L</a:t>
            </a:r>
            <a:r>
              <a:rPr lang="vi-VN" dirty="0"/>
              <a:t>à cơ chế cho phép chương trình thay đổi hướng thực thi bằng cách kiểm tra điều kiện; tùy kết quả đúng/sai mà chỉ một nhánh được thực hiện.</a:t>
            </a:r>
            <a:endParaRPr lang="en-US" dirty="0"/>
          </a:p>
          <a:p>
            <a:r>
              <a:rPr lang="en-US" b="1" dirty="0">
                <a:solidFill>
                  <a:srgbClr val="FF0000"/>
                </a:solidFill>
              </a:rPr>
              <a:t>Các </a:t>
            </a:r>
            <a:r>
              <a:rPr lang="en-US" b="1" dirty="0" err="1">
                <a:solidFill>
                  <a:srgbClr val="FF0000"/>
                </a:solidFill>
              </a:rPr>
              <a:t>dạng</a:t>
            </a:r>
            <a:r>
              <a:rPr lang="en-US" b="1" dirty="0">
                <a:solidFill>
                  <a:srgbClr val="FF0000"/>
                </a:solidFill>
              </a:rPr>
              <a:t> </a:t>
            </a:r>
            <a:r>
              <a:rPr lang="en-US" b="1" dirty="0" err="1">
                <a:solidFill>
                  <a:srgbClr val="FF0000"/>
                </a:solidFill>
              </a:rPr>
              <a:t>luồng</a:t>
            </a:r>
            <a:r>
              <a:rPr lang="en-US" b="1" dirty="0">
                <a:solidFill>
                  <a:srgbClr val="FF0000"/>
                </a:solidFill>
              </a:rPr>
              <a:t> </a:t>
            </a:r>
            <a:r>
              <a:rPr lang="en-US" b="1" dirty="0" err="1">
                <a:solidFill>
                  <a:srgbClr val="FF0000"/>
                </a:solidFill>
              </a:rPr>
              <a:t>rẻ</a:t>
            </a:r>
            <a:r>
              <a:rPr lang="en-US" b="1" dirty="0">
                <a:solidFill>
                  <a:srgbClr val="FF0000"/>
                </a:solidFill>
              </a:rPr>
              <a:t> </a:t>
            </a:r>
            <a:r>
              <a:rPr lang="en-US" b="1" dirty="0" err="1">
                <a:solidFill>
                  <a:srgbClr val="FF0000"/>
                </a:solidFill>
              </a:rPr>
              <a:t>nhánh</a:t>
            </a:r>
            <a:r>
              <a:rPr lang="en-US" b="1" dirty="0">
                <a:solidFill>
                  <a:srgbClr val="FF0000"/>
                </a:solidFill>
              </a:rPr>
              <a:t> </a:t>
            </a:r>
            <a:r>
              <a:rPr lang="en-US" b="1" dirty="0" err="1">
                <a:solidFill>
                  <a:srgbClr val="FF0000"/>
                </a:solidFill>
              </a:rPr>
              <a:t>phổ</a:t>
            </a:r>
            <a:r>
              <a:rPr lang="en-US" b="1" dirty="0">
                <a:solidFill>
                  <a:srgbClr val="FF0000"/>
                </a:solidFill>
              </a:rPr>
              <a:t> </a:t>
            </a:r>
            <a:r>
              <a:rPr lang="en-US" b="1" dirty="0" err="1">
                <a:solidFill>
                  <a:srgbClr val="FF0000"/>
                </a:solidFill>
              </a:rPr>
              <a:t>biến</a:t>
            </a:r>
            <a:endParaRPr lang="en-US" b="1" dirty="0">
              <a:solidFill>
                <a:srgbClr val="FF0000"/>
              </a:solidFill>
            </a:endParaRPr>
          </a:p>
          <a:p>
            <a:pPr lvl="1"/>
            <a:r>
              <a:rPr lang="en-US" sz="2800" b="1" dirty="0" err="1"/>
              <a:t>Rẻ</a:t>
            </a:r>
            <a:r>
              <a:rPr lang="en-US" sz="2800" b="1" dirty="0"/>
              <a:t> </a:t>
            </a:r>
            <a:r>
              <a:rPr lang="en-US" sz="2800" b="1" dirty="0" err="1"/>
              <a:t>nhánh</a:t>
            </a:r>
            <a:r>
              <a:rPr lang="en-US" sz="2800" b="1" dirty="0"/>
              <a:t> </a:t>
            </a:r>
            <a:r>
              <a:rPr lang="en-US" sz="2800" b="1" dirty="0" err="1"/>
              <a:t>đơn</a:t>
            </a:r>
            <a:r>
              <a:rPr lang="en-US" sz="2800" b="1" dirty="0"/>
              <a:t> </a:t>
            </a:r>
          </a:p>
          <a:p>
            <a:pPr lvl="2"/>
            <a:r>
              <a:rPr lang="en-US" sz="2800" dirty="0" err="1"/>
              <a:t>Sử</a:t>
            </a:r>
            <a:r>
              <a:rPr lang="en-US" sz="2800" dirty="0"/>
              <a:t> </a:t>
            </a:r>
            <a:r>
              <a:rPr lang="en-US" sz="2800" dirty="0" err="1"/>
              <a:t>dụng</a:t>
            </a:r>
            <a:r>
              <a:rPr lang="en-US" sz="2800" dirty="0"/>
              <a:t> </a:t>
            </a:r>
            <a:r>
              <a:rPr lang="en-US" sz="2800" dirty="0" err="1"/>
              <a:t>câu</a:t>
            </a:r>
            <a:r>
              <a:rPr lang="en-US" sz="2800" dirty="0"/>
              <a:t> </a:t>
            </a:r>
            <a:r>
              <a:rPr lang="en-US" sz="2800" dirty="0" err="1"/>
              <a:t>lệnh</a:t>
            </a:r>
            <a:r>
              <a:rPr lang="en-US" sz="2800" dirty="0"/>
              <a:t> </a:t>
            </a:r>
            <a:r>
              <a:rPr lang="en-US" sz="2800" b="1" dirty="0">
                <a:solidFill>
                  <a:srgbClr val="CC0099"/>
                </a:solidFill>
              </a:rPr>
              <a:t>if</a:t>
            </a:r>
          </a:p>
          <a:p>
            <a:pPr lvl="1"/>
            <a:r>
              <a:rPr lang="en-US" sz="2800" b="1" dirty="0" err="1"/>
              <a:t>Rẻ</a:t>
            </a:r>
            <a:r>
              <a:rPr lang="en-US" sz="2800" b="1" dirty="0"/>
              <a:t> </a:t>
            </a:r>
            <a:r>
              <a:rPr lang="en-US" sz="2800" b="1" dirty="0" err="1"/>
              <a:t>nhánh</a:t>
            </a:r>
            <a:r>
              <a:rPr lang="en-US" sz="2800" b="1" dirty="0"/>
              <a:t> </a:t>
            </a:r>
            <a:r>
              <a:rPr lang="en-US" sz="2800" b="1" dirty="0" err="1"/>
              <a:t>đầy</a:t>
            </a:r>
            <a:r>
              <a:rPr lang="en-US" sz="2800" b="1" dirty="0"/>
              <a:t> </a:t>
            </a:r>
            <a:r>
              <a:rPr lang="en-US" sz="2800" b="1" dirty="0" err="1"/>
              <a:t>đủ</a:t>
            </a:r>
            <a:r>
              <a:rPr lang="en-US" sz="2800" b="1" dirty="0"/>
              <a:t> </a:t>
            </a:r>
          </a:p>
          <a:p>
            <a:pPr lvl="2"/>
            <a:r>
              <a:rPr lang="en-US" sz="2800" dirty="0" err="1"/>
              <a:t>Sử</a:t>
            </a:r>
            <a:r>
              <a:rPr lang="en-US" sz="2800" dirty="0"/>
              <a:t> </a:t>
            </a:r>
            <a:r>
              <a:rPr lang="en-US" sz="2800" dirty="0" err="1"/>
              <a:t>dụng</a:t>
            </a:r>
            <a:r>
              <a:rPr lang="en-US" sz="2800" dirty="0"/>
              <a:t> </a:t>
            </a:r>
            <a:r>
              <a:rPr lang="en-US" sz="2800" dirty="0" err="1"/>
              <a:t>câu</a:t>
            </a:r>
            <a:r>
              <a:rPr lang="en-US" sz="2800" dirty="0"/>
              <a:t> </a:t>
            </a:r>
            <a:r>
              <a:rPr lang="en-US" sz="2800" dirty="0" err="1"/>
              <a:t>lệnh</a:t>
            </a:r>
            <a:r>
              <a:rPr lang="en-US" sz="2800" dirty="0"/>
              <a:t> </a:t>
            </a:r>
            <a:r>
              <a:rPr lang="en-US" sz="2800" b="1" dirty="0">
                <a:solidFill>
                  <a:srgbClr val="CC0099"/>
                </a:solidFill>
              </a:rPr>
              <a:t>if/else</a:t>
            </a:r>
          </a:p>
          <a:p>
            <a:pPr lvl="1"/>
            <a:r>
              <a:rPr lang="en-US" sz="2800" b="1" dirty="0" err="1"/>
              <a:t>Rẻ</a:t>
            </a:r>
            <a:r>
              <a:rPr lang="en-US" sz="2800" b="1" dirty="0"/>
              <a:t> </a:t>
            </a:r>
            <a:r>
              <a:rPr lang="en-US" sz="2800" b="1" dirty="0" err="1"/>
              <a:t>nhánh</a:t>
            </a:r>
            <a:r>
              <a:rPr lang="en-US" sz="2800" b="1" dirty="0"/>
              <a:t> </a:t>
            </a:r>
            <a:r>
              <a:rPr lang="en-US" sz="2800" b="1" dirty="0" err="1"/>
              <a:t>nhiều</a:t>
            </a:r>
            <a:r>
              <a:rPr lang="en-US" sz="2800" b="1" dirty="0"/>
              <a:t> </a:t>
            </a:r>
            <a:r>
              <a:rPr lang="en-US" sz="2800" b="1" dirty="0" err="1"/>
              <a:t>lựa</a:t>
            </a:r>
            <a:r>
              <a:rPr lang="en-US" sz="2800" b="1" dirty="0"/>
              <a:t> </a:t>
            </a:r>
            <a:r>
              <a:rPr lang="en-US" sz="2800" b="1" dirty="0" err="1"/>
              <a:t>chọn</a:t>
            </a:r>
            <a:r>
              <a:rPr lang="en-US" sz="2800" b="1" dirty="0"/>
              <a:t> </a:t>
            </a:r>
          </a:p>
          <a:p>
            <a:pPr lvl="2"/>
            <a:r>
              <a:rPr lang="en-US" sz="2800" dirty="0" err="1"/>
              <a:t>Sử</a:t>
            </a:r>
            <a:r>
              <a:rPr lang="en-US" sz="2800" dirty="0"/>
              <a:t> </a:t>
            </a:r>
            <a:r>
              <a:rPr lang="en-US" sz="2800" dirty="0" err="1"/>
              <a:t>dụng</a:t>
            </a:r>
            <a:r>
              <a:rPr lang="en-US" sz="2800" dirty="0"/>
              <a:t> </a:t>
            </a:r>
            <a:r>
              <a:rPr lang="en-US" sz="2800" dirty="0" err="1"/>
              <a:t>câu</a:t>
            </a:r>
            <a:r>
              <a:rPr lang="en-US" sz="2800" dirty="0"/>
              <a:t> </a:t>
            </a:r>
            <a:r>
              <a:rPr lang="en-US" sz="2800" dirty="0" err="1"/>
              <a:t>lệnh</a:t>
            </a:r>
            <a:r>
              <a:rPr lang="en-US" sz="2800" dirty="0"/>
              <a:t> </a:t>
            </a:r>
            <a:r>
              <a:rPr lang="en-US" sz="2800" b="1" dirty="0">
                <a:solidFill>
                  <a:srgbClr val="CC0099"/>
                </a:solidFill>
              </a:rPr>
              <a:t>else/if</a:t>
            </a:r>
          </a:p>
          <a:p>
            <a:pPr lvl="1"/>
            <a:r>
              <a:rPr lang="en-US" sz="2800" b="1" dirty="0" err="1"/>
              <a:t>Rẻ</a:t>
            </a:r>
            <a:r>
              <a:rPr lang="en-US" sz="2800" b="1" dirty="0"/>
              <a:t> </a:t>
            </a:r>
            <a:r>
              <a:rPr lang="en-US" sz="2800" b="1" dirty="0" err="1"/>
              <a:t>nhánh</a:t>
            </a:r>
            <a:r>
              <a:rPr lang="en-US" sz="2800" b="1" dirty="0"/>
              <a:t> </a:t>
            </a:r>
            <a:r>
              <a:rPr lang="en-US" sz="2800" b="1" dirty="0" err="1"/>
              <a:t>theo</a:t>
            </a:r>
            <a:r>
              <a:rPr lang="en-US" sz="2800" b="1" dirty="0"/>
              <a:t> </a:t>
            </a:r>
            <a:r>
              <a:rPr lang="en-US" sz="2800" b="1" dirty="0" err="1"/>
              <a:t>giá</a:t>
            </a:r>
            <a:r>
              <a:rPr lang="en-US" sz="2800" b="1" dirty="0"/>
              <a:t> </a:t>
            </a:r>
            <a:r>
              <a:rPr lang="en-US" sz="2800" b="1" dirty="0" err="1"/>
              <a:t>trị</a:t>
            </a:r>
            <a:endParaRPr lang="en-US" sz="2800" b="1" dirty="0"/>
          </a:p>
          <a:p>
            <a:pPr lvl="2"/>
            <a:r>
              <a:rPr lang="en-US" sz="2800" dirty="0" err="1"/>
              <a:t>Sử</a:t>
            </a:r>
            <a:r>
              <a:rPr lang="en-US" sz="2800" dirty="0"/>
              <a:t> </a:t>
            </a:r>
            <a:r>
              <a:rPr lang="en-US" sz="2800" dirty="0" err="1"/>
              <a:t>dụng</a:t>
            </a:r>
            <a:r>
              <a:rPr lang="en-US" sz="2800" dirty="0"/>
              <a:t> </a:t>
            </a:r>
            <a:r>
              <a:rPr lang="en-US" sz="2800" dirty="0" err="1"/>
              <a:t>câu</a:t>
            </a:r>
            <a:r>
              <a:rPr lang="en-US" sz="2800" dirty="0"/>
              <a:t> </a:t>
            </a:r>
            <a:r>
              <a:rPr lang="en-US" sz="2800" dirty="0" err="1"/>
              <a:t>lệnh</a:t>
            </a:r>
            <a:r>
              <a:rPr lang="en-US" sz="2800" dirty="0"/>
              <a:t> </a:t>
            </a:r>
            <a:r>
              <a:rPr lang="en-US" sz="2800" b="1" dirty="0">
                <a:solidFill>
                  <a:srgbClr val="CC0099"/>
                </a:solidFill>
              </a:rPr>
              <a:t>switch-case</a:t>
            </a:r>
          </a:p>
        </p:txBody>
      </p:sp>
      <p:sp>
        <p:nvSpPr>
          <p:cNvPr id="3" name="Footer Placeholder 2">
            <a:extLst>
              <a:ext uri="{FF2B5EF4-FFF2-40B4-BE49-F238E27FC236}">
                <a16:creationId xmlns:a16="http://schemas.microsoft.com/office/drawing/2014/main" id="{B5F48DC7-CE3F-7C30-37AE-6EA90C8CCDBC}"/>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5D2E6D54-27D6-FEEA-037D-4696A705262C}"/>
              </a:ext>
            </a:extLst>
          </p:cNvPr>
          <p:cNvSpPr>
            <a:spLocks noGrp="1"/>
          </p:cNvSpPr>
          <p:nvPr>
            <p:ph type="sldNum" sz="quarter" idx="4"/>
          </p:nvPr>
        </p:nvSpPr>
        <p:spPr/>
        <p:txBody>
          <a:bodyPr/>
          <a:lstStyle/>
          <a:p>
            <a:fld id="{3A02590D-67BD-4DF2-8CAA-B9002293EB8E}" type="slidenum">
              <a:rPr lang="en-US" smtClean="0"/>
              <a:pPr/>
              <a:t>16</a:t>
            </a:fld>
            <a:endParaRPr lang="en-US" dirty="0"/>
          </a:p>
        </p:txBody>
      </p:sp>
      <p:sp>
        <p:nvSpPr>
          <p:cNvPr id="5" name="Title 4">
            <a:extLst>
              <a:ext uri="{FF2B5EF4-FFF2-40B4-BE49-F238E27FC236}">
                <a16:creationId xmlns:a16="http://schemas.microsoft.com/office/drawing/2014/main" id="{569DACBA-0C69-68E2-F1B6-6672A32B4A14}"/>
              </a:ext>
            </a:extLst>
          </p:cNvPr>
          <p:cNvSpPr>
            <a:spLocks noGrp="1"/>
          </p:cNvSpPr>
          <p:nvPr>
            <p:ph type="title"/>
          </p:nvPr>
        </p:nvSpPr>
        <p:spPr/>
        <p:txBody>
          <a:bodyPr/>
          <a:lstStyle/>
          <a:p>
            <a:r>
              <a:rPr lang="en-US" dirty="0"/>
              <a:t>ĐIỀU KHIỂN LUỒNG</a:t>
            </a:r>
          </a:p>
        </p:txBody>
      </p:sp>
    </p:spTree>
    <p:extLst>
      <p:ext uri="{BB962C8B-B14F-4D97-AF65-F5344CB8AC3E}">
        <p14:creationId xmlns:p14="http://schemas.microsoft.com/office/powerpoint/2010/main" val="1583333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01409-BDA3-11D8-CCAD-15C5DAC110C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C9B1EA-10AA-4BA0-CD00-25D0027EA1CB}"/>
              </a:ext>
            </a:extLst>
          </p:cNvPr>
          <p:cNvSpPr>
            <a:spLocks noGrp="1"/>
          </p:cNvSpPr>
          <p:nvPr>
            <p:ph idx="1"/>
          </p:nvPr>
        </p:nvSpPr>
        <p:spPr>
          <a:xfrm>
            <a:off x="138224" y="893135"/>
            <a:ext cx="11897832" cy="5365775"/>
          </a:xfrm>
        </p:spPr>
        <p:txBody>
          <a:bodyPr>
            <a:normAutofit/>
          </a:bodyPr>
          <a:lstStyle/>
          <a:p>
            <a:r>
              <a:rPr lang="en-US" b="1" dirty="0" err="1">
                <a:solidFill>
                  <a:srgbClr val="FF0000"/>
                </a:solidFill>
              </a:rPr>
              <a:t>Rẻ</a:t>
            </a:r>
            <a:r>
              <a:rPr lang="en-US" b="1" dirty="0">
                <a:solidFill>
                  <a:srgbClr val="FF0000"/>
                </a:solidFill>
              </a:rPr>
              <a:t> </a:t>
            </a:r>
            <a:r>
              <a:rPr lang="en-US" b="1" dirty="0" err="1">
                <a:solidFill>
                  <a:srgbClr val="FF0000"/>
                </a:solidFill>
              </a:rPr>
              <a:t>nhánh</a:t>
            </a:r>
            <a:r>
              <a:rPr lang="en-US" b="1" dirty="0">
                <a:solidFill>
                  <a:srgbClr val="FF0000"/>
                </a:solidFill>
              </a:rPr>
              <a:t> </a:t>
            </a:r>
            <a:r>
              <a:rPr lang="en-US" b="1" dirty="0" err="1">
                <a:solidFill>
                  <a:srgbClr val="FF0000"/>
                </a:solidFill>
              </a:rPr>
              <a:t>đơn</a:t>
            </a:r>
            <a:r>
              <a:rPr lang="en-US" b="1" dirty="0">
                <a:solidFill>
                  <a:srgbClr val="FF0000"/>
                </a:solidFill>
              </a:rPr>
              <a:t>(if)</a:t>
            </a:r>
          </a:p>
          <a:p>
            <a:pPr marL="457200" lvl="1" indent="0">
              <a:buNone/>
            </a:pPr>
            <a:r>
              <a:rPr lang="en-US" dirty="0"/>
              <a:t>let </a:t>
            </a:r>
            <a:r>
              <a:rPr lang="en-US" dirty="0" err="1"/>
              <a:t>tuoi</a:t>
            </a:r>
            <a:r>
              <a:rPr lang="en-US" dirty="0"/>
              <a:t>: number = 14;</a:t>
            </a:r>
          </a:p>
          <a:p>
            <a:pPr marL="457200" lvl="1" indent="0">
              <a:buNone/>
            </a:pPr>
            <a:r>
              <a:rPr lang="en-US" dirty="0"/>
              <a:t>let </a:t>
            </a:r>
            <a:r>
              <a:rPr lang="en-US" dirty="0" err="1"/>
              <a:t>quyenhan</a:t>
            </a:r>
            <a:r>
              <a:rPr lang="en-US" dirty="0"/>
              <a:t>: string = "Chua du </a:t>
            </a:r>
            <a:r>
              <a:rPr lang="en-US" dirty="0" err="1"/>
              <a:t>tuoi</a:t>
            </a:r>
            <a:r>
              <a:rPr lang="en-US" dirty="0"/>
              <a:t> </a:t>
            </a:r>
            <a:r>
              <a:rPr lang="en-US" dirty="0" err="1"/>
              <a:t>su</a:t>
            </a:r>
            <a:r>
              <a:rPr lang="en-US" dirty="0"/>
              <a:t> dung </a:t>
            </a:r>
            <a:r>
              <a:rPr lang="en-US" dirty="0" err="1"/>
              <a:t>ruou</a:t>
            </a:r>
            <a:r>
              <a:rPr lang="en-US" dirty="0"/>
              <a:t> </a:t>
            </a:r>
            <a:r>
              <a:rPr lang="en-US" dirty="0" err="1"/>
              <a:t>bia</a:t>
            </a:r>
            <a:r>
              <a:rPr lang="en-US" dirty="0"/>
              <a:t>";</a:t>
            </a:r>
          </a:p>
          <a:p>
            <a:pPr marL="457200" lvl="1" indent="0">
              <a:buNone/>
            </a:pPr>
            <a:br>
              <a:rPr lang="en-US" dirty="0"/>
            </a:br>
            <a:endParaRPr lang="en-US" dirty="0"/>
          </a:p>
          <a:p>
            <a:pPr marL="457200" lvl="1" indent="0">
              <a:buNone/>
            </a:pPr>
            <a:r>
              <a:rPr lang="en-US" dirty="0"/>
              <a:t>if (</a:t>
            </a:r>
            <a:r>
              <a:rPr lang="en-US" dirty="0" err="1"/>
              <a:t>tuoi</a:t>
            </a:r>
            <a:r>
              <a:rPr lang="en-US" dirty="0"/>
              <a:t> &gt;= 18) {</a:t>
            </a:r>
          </a:p>
          <a:p>
            <a:pPr marL="457200" lvl="1" indent="0">
              <a:buNone/>
            </a:pPr>
            <a:r>
              <a:rPr lang="en-US" dirty="0"/>
              <a:t>  </a:t>
            </a:r>
            <a:r>
              <a:rPr lang="en-US" dirty="0" err="1"/>
              <a:t>quyenhan</a:t>
            </a:r>
            <a:r>
              <a:rPr lang="en-US" dirty="0"/>
              <a:t> = "Duoc </a:t>
            </a:r>
            <a:r>
              <a:rPr lang="en-US" dirty="0" err="1"/>
              <a:t>phep</a:t>
            </a:r>
            <a:r>
              <a:rPr lang="en-US" dirty="0"/>
              <a:t> </a:t>
            </a:r>
            <a:r>
              <a:rPr lang="en-US" dirty="0" err="1"/>
              <a:t>su</a:t>
            </a:r>
            <a:r>
              <a:rPr lang="en-US" dirty="0"/>
              <a:t> dung </a:t>
            </a:r>
            <a:r>
              <a:rPr lang="en-US" dirty="0" err="1"/>
              <a:t>ruou</a:t>
            </a:r>
            <a:r>
              <a:rPr lang="en-US" dirty="0"/>
              <a:t> </a:t>
            </a:r>
            <a:r>
              <a:rPr lang="en-US" dirty="0" err="1"/>
              <a:t>bia</a:t>
            </a:r>
            <a:r>
              <a:rPr lang="en-US" dirty="0"/>
              <a:t>"</a:t>
            </a:r>
          </a:p>
          <a:p>
            <a:pPr marL="457200" lvl="1" indent="0">
              <a:buNone/>
            </a:pPr>
            <a:r>
              <a:rPr lang="en-US" dirty="0"/>
              <a:t>}</a:t>
            </a:r>
          </a:p>
          <a:p>
            <a:pPr marL="457200" lvl="1" indent="0">
              <a:buNone/>
            </a:pPr>
            <a:br>
              <a:rPr lang="en-US" dirty="0"/>
            </a:br>
            <a:endParaRPr lang="en-US" dirty="0"/>
          </a:p>
          <a:p>
            <a:pPr marL="457200" lvl="1" indent="0">
              <a:buNone/>
            </a:pPr>
            <a:r>
              <a:rPr lang="en-US" dirty="0"/>
              <a:t>console.log(</a:t>
            </a:r>
            <a:r>
              <a:rPr lang="en-US" dirty="0" err="1"/>
              <a:t>quyenhan</a:t>
            </a:r>
            <a:r>
              <a:rPr lang="en-US" dirty="0"/>
              <a:t>);</a:t>
            </a:r>
          </a:p>
          <a:p>
            <a:pPr marL="457200" lvl="1" indent="0">
              <a:buNone/>
            </a:pPr>
            <a:endParaRPr lang="en-US" b="1" dirty="0"/>
          </a:p>
          <a:p>
            <a:pPr marL="457200" lvl="1" indent="0">
              <a:buNone/>
            </a:pPr>
            <a:r>
              <a:rPr lang="en-US" dirty="0"/>
              <a:t>👉</a:t>
            </a:r>
            <a:r>
              <a:rPr lang="en-US" b="1" dirty="0" err="1"/>
              <a:t>Chỉ</a:t>
            </a:r>
            <a:r>
              <a:rPr lang="en-US" b="1" dirty="0"/>
              <a:t> </a:t>
            </a:r>
            <a:r>
              <a:rPr lang="en-US" b="1" dirty="0" err="1"/>
              <a:t>chạy</a:t>
            </a:r>
            <a:r>
              <a:rPr lang="en-US" b="1" dirty="0"/>
              <a:t> </a:t>
            </a:r>
            <a:r>
              <a:rPr lang="en-US" b="1" dirty="0" err="1"/>
              <a:t>khi</a:t>
            </a:r>
            <a:r>
              <a:rPr lang="en-US" b="1" dirty="0"/>
              <a:t> </a:t>
            </a:r>
            <a:r>
              <a:rPr lang="en-US" b="1" dirty="0" err="1"/>
              <a:t>điều</a:t>
            </a:r>
            <a:r>
              <a:rPr lang="en-US" b="1" dirty="0"/>
              <a:t> </a:t>
            </a:r>
            <a:r>
              <a:rPr lang="en-US" b="1" dirty="0" err="1"/>
              <a:t>kiện</a:t>
            </a:r>
            <a:r>
              <a:rPr lang="en-US" b="1" dirty="0"/>
              <a:t> </a:t>
            </a:r>
            <a:r>
              <a:rPr lang="en-US" b="1" dirty="0" err="1"/>
              <a:t>đúng</a:t>
            </a:r>
            <a:endParaRPr lang="en-US" b="1" dirty="0"/>
          </a:p>
          <a:p>
            <a:endParaRPr lang="en-US" b="1" dirty="0"/>
          </a:p>
        </p:txBody>
      </p:sp>
      <p:sp>
        <p:nvSpPr>
          <p:cNvPr id="3" name="Footer Placeholder 2">
            <a:extLst>
              <a:ext uri="{FF2B5EF4-FFF2-40B4-BE49-F238E27FC236}">
                <a16:creationId xmlns:a16="http://schemas.microsoft.com/office/drawing/2014/main" id="{07884BC0-45DF-9075-251A-28B7B92F455C}"/>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51699D77-684D-B310-3A62-5ED49AA249A4}"/>
              </a:ext>
            </a:extLst>
          </p:cNvPr>
          <p:cNvSpPr>
            <a:spLocks noGrp="1"/>
          </p:cNvSpPr>
          <p:nvPr>
            <p:ph type="sldNum" sz="quarter" idx="4"/>
          </p:nvPr>
        </p:nvSpPr>
        <p:spPr/>
        <p:txBody>
          <a:bodyPr/>
          <a:lstStyle/>
          <a:p>
            <a:fld id="{3A02590D-67BD-4DF2-8CAA-B9002293EB8E}" type="slidenum">
              <a:rPr lang="en-US" smtClean="0"/>
              <a:pPr/>
              <a:t>17</a:t>
            </a:fld>
            <a:endParaRPr lang="en-US" dirty="0"/>
          </a:p>
        </p:txBody>
      </p:sp>
      <p:sp>
        <p:nvSpPr>
          <p:cNvPr id="5" name="Title 4">
            <a:extLst>
              <a:ext uri="{FF2B5EF4-FFF2-40B4-BE49-F238E27FC236}">
                <a16:creationId xmlns:a16="http://schemas.microsoft.com/office/drawing/2014/main" id="{F6666508-6D80-2ECA-AA8E-0157FBA50D4B}"/>
              </a:ext>
            </a:extLst>
          </p:cNvPr>
          <p:cNvSpPr>
            <a:spLocks noGrp="1"/>
          </p:cNvSpPr>
          <p:nvPr>
            <p:ph type="title"/>
          </p:nvPr>
        </p:nvSpPr>
        <p:spPr/>
        <p:txBody>
          <a:bodyPr/>
          <a:lstStyle/>
          <a:p>
            <a:r>
              <a:rPr lang="en-US" dirty="0"/>
              <a:t>ĐIỀU KHIỂN LUỒNG</a:t>
            </a:r>
          </a:p>
        </p:txBody>
      </p:sp>
    </p:spTree>
    <p:extLst>
      <p:ext uri="{BB962C8B-B14F-4D97-AF65-F5344CB8AC3E}">
        <p14:creationId xmlns:p14="http://schemas.microsoft.com/office/powerpoint/2010/main" val="2172651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0304E-C4FB-A250-6516-AF809D1FEF5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ACCEB7-D8C2-38D0-6629-909E5938DC1A}"/>
              </a:ext>
            </a:extLst>
          </p:cNvPr>
          <p:cNvSpPr>
            <a:spLocks noGrp="1"/>
          </p:cNvSpPr>
          <p:nvPr>
            <p:ph idx="1"/>
          </p:nvPr>
        </p:nvSpPr>
        <p:spPr>
          <a:xfrm>
            <a:off x="138224" y="893135"/>
            <a:ext cx="11897832" cy="5365775"/>
          </a:xfrm>
        </p:spPr>
        <p:txBody>
          <a:bodyPr/>
          <a:lstStyle/>
          <a:p>
            <a:r>
              <a:rPr lang="en-US" b="1" dirty="0" err="1">
                <a:solidFill>
                  <a:srgbClr val="FF0000"/>
                </a:solidFill>
              </a:rPr>
              <a:t>Rẻ</a:t>
            </a:r>
            <a:r>
              <a:rPr lang="en-US" b="1" dirty="0">
                <a:solidFill>
                  <a:srgbClr val="FF0000"/>
                </a:solidFill>
              </a:rPr>
              <a:t> </a:t>
            </a:r>
            <a:r>
              <a:rPr lang="en-US" b="1" dirty="0" err="1">
                <a:solidFill>
                  <a:srgbClr val="FF0000"/>
                </a:solidFill>
              </a:rPr>
              <a:t>nhánh</a:t>
            </a:r>
            <a:r>
              <a:rPr lang="en-US" b="1" dirty="0">
                <a:solidFill>
                  <a:srgbClr val="FF0000"/>
                </a:solidFill>
              </a:rPr>
              <a:t> </a:t>
            </a:r>
            <a:r>
              <a:rPr lang="en-US" b="1" dirty="0" err="1">
                <a:solidFill>
                  <a:srgbClr val="FF0000"/>
                </a:solidFill>
              </a:rPr>
              <a:t>đầy</a:t>
            </a:r>
            <a:r>
              <a:rPr lang="en-US" b="1" dirty="0">
                <a:solidFill>
                  <a:srgbClr val="FF0000"/>
                </a:solidFill>
              </a:rPr>
              <a:t> </a:t>
            </a:r>
            <a:r>
              <a:rPr lang="en-US" b="1" dirty="0" err="1">
                <a:solidFill>
                  <a:srgbClr val="FF0000"/>
                </a:solidFill>
              </a:rPr>
              <a:t>đủ</a:t>
            </a:r>
            <a:r>
              <a:rPr lang="en-US" b="1" dirty="0">
                <a:solidFill>
                  <a:srgbClr val="FF0000"/>
                </a:solidFill>
              </a:rPr>
              <a:t>(if/else)</a:t>
            </a:r>
          </a:p>
          <a:p>
            <a:pPr marL="457200" lvl="1" indent="0">
              <a:buNone/>
            </a:pPr>
            <a:r>
              <a:rPr lang="en-US" dirty="0"/>
              <a:t>let score : number = 4;</a:t>
            </a:r>
          </a:p>
          <a:p>
            <a:pPr marL="457200" lvl="1" indent="0">
              <a:buNone/>
            </a:pPr>
            <a:r>
              <a:rPr lang="en-US" dirty="0"/>
              <a:t>let </a:t>
            </a:r>
            <a:r>
              <a:rPr lang="en-US" dirty="0" err="1"/>
              <a:t>tinh_trang_mon</a:t>
            </a:r>
            <a:r>
              <a:rPr lang="en-US" dirty="0"/>
              <a:t>: string = "";</a:t>
            </a:r>
          </a:p>
          <a:p>
            <a:pPr marL="457200" lvl="1" indent="0">
              <a:buNone/>
            </a:pPr>
            <a:r>
              <a:rPr lang="en-US" dirty="0"/>
              <a:t>if (score &gt;= 5) {</a:t>
            </a:r>
          </a:p>
          <a:p>
            <a:pPr marL="457200" lvl="1" indent="0">
              <a:buNone/>
            </a:pPr>
            <a:r>
              <a:rPr lang="en-US" dirty="0"/>
              <a:t>  </a:t>
            </a:r>
            <a:r>
              <a:rPr lang="en-US" dirty="0" err="1"/>
              <a:t>tinh_trang_mon</a:t>
            </a:r>
            <a:r>
              <a:rPr lang="en-US" dirty="0"/>
              <a:t> = "Qua </a:t>
            </a:r>
            <a:r>
              <a:rPr lang="en-US" dirty="0" err="1"/>
              <a:t>môn</a:t>
            </a:r>
            <a:r>
              <a:rPr lang="en-US" dirty="0"/>
              <a:t>"</a:t>
            </a:r>
          </a:p>
          <a:p>
            <a:pPr marL="457200" lvl="1" indent="0">
              <a:buNone/>
            </a:pPr>
            <a:r>
              <a:rPr lang="en-US" dirty="0"/>
              <a:t>} else {</a:t>
            </a:r>
          </a:p>
          <a:p>
            <a:pPr marL="457200" lvl="1" indent="0">
              <a:buNone/>
            </a:pPr>
            <a:r>
              <a:rPr lang="en-US" dirty="0"/>
              <a:t>  </a:t>
            </a:r>
            <a:r>
              <a:rPr lang="en-US" dirty="0" err="1"/>
              <a:t>tinh_trang_mon</a:t>
            </a:r>
            <a:r>
              <a:rPr lang="en-US" dirty="0"/>
              <a:t> = "</a:t>
            </a:r>
            <a:r>
              <a:rPr lang="en-US" dirty="0" err="1"/>
              <a:t>Rớt</a:t>
            </a:r>
            <a:r>
              <a:rPr lang="en-US" dirty="0"/>
              <a:t> </a:t>
            </a:r>
            <a:r>
              <a:rPr lang="en-US" dirty="0" err="1"/>
              <a:t>môn</a:t>
            </a:r>
            <a:r>
              <a:rPr lang="en-US" dirty="0"/>
              <a:t>"</a:t>
            </a:r>
          </a:p>
          <a:p>
            <a:pPr marL="457200" lvl="1" indent="0">
              <a:buNone/>
            </a:pPr>
            <a:r>
              <a:rPr lang="en-US" dirty="0"/>
              <a:t>}</a:t>
            </a:r>
          </a:p>
          <a:p>
            <a:pPr marL="457200" lvl="1" indent="0">
              <a:buNone/>
            </a:pPr>
            <a:r>
              <a:rPr lang="en-US" dirty="0"/>
              <a:t>console.log(</a:t>
            </a:r>
            <a:r>
              <a:rPr lang="en-US" dirty="0" err="1"/>
              <a:t>tinh_trang_mon</a:t>
            </a:r>
            <a:r>
              <a:rPr lang="en-US" dirty="0"/>
              <a:t>);</a:t>
            </a:r>
          </a:p>
          <a:p>
            <a:pPr marL="457200" lvl="1" indent="0">
              <a:buNone/>
            </a:pPr>
            <a:endParaRPr lang="en-US" b="1" dirty="0"/>
          </a:p>
          <a:p>
            <a:pPr marL="457200" lvl="1" indent="0">
              <a:buNone/>
            </a:pPr>
            <a:r>
              <a:rPr lang="en-US" dirty="0"/>
              <a:t>👉</a:t>
            </a:r>
            <a:r>
              <a:rPr lang="en-US" b="1" dirty="0" err="1"/>
              <a:t>Luôn</a:t>
            </a:r>
            <a:r>
              <a:rPr lang="en-US" b="1" dirty="0"/>
              <a:t> </a:t>
            </a:r>
            <a:r>
              <a:rPr lang="en-US" b="1" dirty="0" err="1"/>
              <a:t>chạy</a:t>
            </a:r>
            <a:r>
              <a:rPr lang="en-US" b="1" dirty="0"/>
              <a:t> </a:t>
            </a:r>
            <a:r>
              <a:rPr lang="en-US" b="1" dirty="0" err="1"/>
              <a:t>một</a:t>
            </a:r>
            <a:r>
              <a:rPr lang="en-US" b="1" dirty="0"/>
              <a:t> </a:t>
            </a:r>
            <a:r>
              <a:rPr lang="en-US" b="1" dirty="0" err="1"/>
              <a:t>trong</a:t>
            </a:r>
            <a:r>
              <a:rPr lang="en-US" b="1" dirty="0"/>
              <a:t> 2 </a:t>
            </a:r>
            <a:r>
              <a:rPr lang="en-US" b="1" dirty="0" err="1"/>
              <a:t>nhánh</a:t>
            </a:r>
            <a:endParaRPr lang="en-US" b="1" dirty="0"/>
          </a:p>
          <a:p>
            <a:endParaRPr lang="en-US" b="1" dirty="0"/>
          </a:p>
        </p:txBody>
      </p:sp>
      <p:sp>
        <p:nvSpPr>
          <p:cNvPr id="3" name="Footer Placeholder 2">
            <a:extLst>
              <a:ext uri="{FF2B5EF4-FFF2-40B4-BE49-F238E27FC236}">
                <a16:creationId xmlns:a16="http://schemas.microsoft.com/office/drawing/2014/main" id="{6B2B564F-75F0-8429-3810-75C73CAEA28C}"/>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21FB56ED-CA42-503F-5176-7BD623E503A7}"/>
              </a:ext>
            </a:extLst>
          </p:cNvPr>
          <p:cNvSpPr>
            <a:spLocks noGrp="1"/>
          </p:cNvSpPr>
          <p:nvPr>
            <p:ph type="sldNum" sz="quarter" idx="4"/>
          </p:nvPr>
        </p:nvSpPr>
        <p:spPr/>
        <p:txBody>
          <a:bodyPr/>
          <a:lstStyle/>
          <a:p>
            <a:fld id="{3A02590D-67BD-4DF2-8CAA-B9002293EB8E}" type="slidenum">
              <a:rPr lang="en-US" smtClean="0"/>
              <a:pPr/>
              <a:t>18</a:t>
            </a:fld>
            <a:endParaRPr lang="en-US" dirty="0"/>
          </a:p>
        </p:txBody>
      </p:sp>
      <p:sp>
        <p:nvSpPr>
          <p:cNvPr id="5" name="Title 4">
            <a:extLst>
              <a:ext uri="{FF2B5EF4-FFF2-40B4-BE49-F238E27FC236}">
                <a16:creationId xmlns:a16="http://schemas.microsoft.com/office/drawing/2014/main" id="{15EA68F0-786E-4549-DD60-FEB150143DB0}"/>
              </a:ext>
            </a:extLst>
          </p:cNvPr>
          <p:cNvSpPr>
            <a:spLocks noGrp="1"/>
          </p:cNvSpPr>
          <p:nvPr>
            <p:ph type="title"/>
          </p:nvPr>
        </p:nvSpPr>
        <p:spPr/>
        <p:txBody>
          <a:bodyPr/>
          <a:lstStyle/>
          <a:p>
            <a:r>
              <a:rPr lang="en-US" dirty="0"/>
              <a:t>ĐIỀU KHIỂN LUỒNG</a:t>
            </a:r>
          </a:p>
        </p:txBody>
      </p:sp>
    </p:spTree>
    <p:extLst>
      <p:ext uri="{BB962C8B-B14F-4D97-AF65-F5344CB8AC3E}">
        <p14:creationId xmlns:p14="http://schemas.microsoft.com/office/powerpoint/2010/main" val="3086173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C715C5-0462-4031-E8E8-8C56E57D0B55}"/>
              </a:ext>
            </a:extLst>
          </p:cNvPr>
          <p:cNvSpPr>
            <a:spLocks noGrp="1"/>
          </p:cNvSpPr>
          <p:nvPr>
            <p:ph idx="1"/>
          </p:nvPr>
        </p:nvSpPr>
        <p:spPr>
          <a:xfrm>
            <a:off x="215154" y="1024758"/>
            <a:ext cx="11577452" cy="5234152"/>
          </a:xfrm>
        </p:spPr>
        <p:txBody>
          <a:bodyPr/>
          <a:lstStyle/>
          <a:p>
            <a:r>
              <a:rPr lang="en-US" dirty="0" err="1"/>
              <a:t>Toán</a:t>
            </a:r>
            <a:r>
              <a:rPr lang="en-US" dirty="0"/>
              <a:t> </a:t>
            </a:r>
            <a:r>
              <a:rPr lang="en-US" dirty="0" err="1"/>
              <a:t>tử</a:t>
            </a:r>
            <a:r>
              <a:rPr lang="en-US" dirty="0"/>
              <a:t> </a:t>
            </a:r>
            <a:r>
              <a:rPr lang="en-US" dirty="0" err="1"/>
              <a:t>giúp</a:t>
            </a:r>
            <a:r>
              <a:rPr lang="en-US" dirty="0"/>
              <a:t> </a:t>
            </a:r>
            <a:r>
              <a:rPr lang="en-US" dirty="0" err="1"/>
              <a:t>viết</a:t>
            </a:r>
            <a:r>
              <a:rPr lang="en-US" dirty="0"/>
              <a:t> </a:t>
            </a:r>
            <a:r>
              <a:rPr lang="en-US" b="1" dirty="0" err="1"/>
              <a:t>câu</a:t>
            </a:r>
            <a:r>
              <a:rPr lang="en-US" b="1" dirty="0"/>
              <a:t> </a:t>
            </a:r>
            <a:r>
              <a:rPr lang="en-US" b="1" dirty="0" err="1"/>
              <a:t>điều</a:t>
            </a:r>
            <a:r>
              <a:rPr lang="en-US" b="1" dirty="0"/>
              <a:t> </a:t>
            </a:r>
            <a:r>
              <a:rPr lang="en-US" b="1" dirty="0" err="1"/>
              <a:t>kiện</a:t>
            </a:r>
            <a:r>
              <a:rPr lang="en-US" b="1" dirty="0"/>
              <a:t> </a:t>
            </a:r>
            <a:r>
              <a:rPr lang="en-US" b="1" dirty="0" err="1"/>
              <a:t>ngắn</a:t>
            </a:r>
            <a:r>
              <a:rPr lang="en-US" b="1" dirty="0"/>
              <a:t> </a:t>
            </a:r>
            <a:r>
              <a:rPr lang="en-US" b="1" dirty="0" err="1"/>
              <a:t>gọn</a:t>
            </a:r>
            <a:r>
              <a:rPr lang="en-US" dirty="0"/>
              <a:t> </a:t>
            </a:r>
            <a:r>
              <a:rPr lang="en-US" dirty="0" err="1"/>
              <a:t>thay</a:t>
            </a:r>
            <a:r>
              <a:rPr lang="en-US" dirty="0"/>
              <a:t> </a:t>
            </a:r>
            <a:r>
              <a:rPr lang="en-US" dirty="0" err="1"/>
              <a:t>cho</a:t>
            </a:r>
            <a:r>
              <a:rPr lang="en-US" dirty="0"/>
              <a:t> if…else.</a:t>
            </a:r>
          </a:p>
          <a:p>
            <a:r>
              <a:rPr lang="en-US" dirty="0"/>
              <a:t>Cú </a:t>
            </a:r>
            <a:r>
              <a:rPr lang="en-US" dirty="0" err="1"/>
              <a:t>pháp</a:t>
            </a:r>
            <a:r>
              <a:rPr lang="en-US" dirty="0"/>
              <a:t>: </a:t>
            </a:r>
          </a:p>
          <a:p>
            <a:pPr marL="0" indent="0">
              <a:buNone/>
            </a:pPr>
            <a:endParaRPr lang="en-US" dirty="0"/>
          </a:p>
        </p:txBody>
      </p:sp>
      <p:sp>
        <p:nvSpPr>
          <p:cNvPr id="3" name="Footer Placeholder 2">
            <a:extLst>
              <a:ext uri="{FF2B5EF4-FFF2-40B4-BE49-F238E27FC236}">
                <a16:creationId xmlns:a16="http://schemas.microsoft.com/office/drawing/2014/main" id="{F7D2F6C1-17D7-AFA6-385E-112F290FFD22}"/>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E3BA5F50-F6E4-DB86-F7ED-D53DC91068C7}"/>
              </a:ext>
            </a:extLst>
          </p:cNvPr>
          <p:cNvSpPr>
            <a:spLocks noGrp="1"/>
          </p:cNvSpPr>
          <p:nvPr>
            <p:ph type="sldNum" sz="quarter" idx="4"/>
          </p:nvPr>
        </p:nvSpPr>
        <p:spPr/>
        <p:txBody>
          <a:bodyPr/>
          <a:lstStyle/>
          <a:p>
            <a:fld id="{3A02590D-67BD-4DF2-8CAA-B9002293EB8E}" type="slidenum">
              <a:rPr lang="en-US" smtClean="0"/>
              <a:pPr/>
              <a:t>19</a:t>
            </a:fld>
            <a:endParaRPr lang="en-US" dirty="0"/>
          </a:p>
        </p:txBody>
      </p:sp>
      <p:sp>
        <p:nvSpPr>
          <p:cNvPr id="5" name="Title 4">
            <a:extLst>
              <a:ext uri="{FF2B5EF4-FFF2-40B4-BE49-F238E27FC236}">
                <a16:creationId xmlns:a16="http://schemas.microsoft.com/office/drawing/2014/main" id="{94107FBF-F98D-25AD-2662-6279D745D4A8}"/>
              </a:ext>
            </a:extLst>
          </p:cNvPr>
          <p:cNvSpPr>
            <a:spLocks noGrp="1"/>
          </p:cNvSpPr>
          <p:nvPr>
            <p:ph type="title"/>
          </p:nvPr>
        </p:nvSpPr>
        <p:spPr/>
        <p:txBody>
          <a:bodyPr/>
          <a:lstStyle/>
          <a:p>
            <a:r>
              <a:rPr lang="en-US"/>
              <a:t>TOÁN TỬ ĐIỀU KIỆN (TERNARY)</a:t>
            </a:r>
          </a:p>
        </p:txBody>
      </p:sp>
      <p:pic>
        <p:nvPicPr>
          <p:cNvPr id="13" name="Picture 12">
            <a:extLst>
              <a:ext uri="{FF2B5EF4-FFF2-40B4-BE49-F238E27FC236}">
                <a16:creationId xmlns:a16="http://schemas.microsoft.com/office/drawing/2014/main" id="{44A8D68A-B899-C5DD-3349-1A5460D05FAE}"/>
              </a:ext>
            </a:extLst>
          </p:cNvPr>
          <p:cNvPicPr>
            <a:picLocks noChangeAspect="1"/>
          </p:cNvPicPr>
          <p:nvPr/>
        </p:nvPicPr>
        <p:blipFill>
          <a:blip r:embed="rId2"/>
          <a:stretch>
            <a:fillRect/>
          </a:stretch>
        </p:blipFill>
        <p:spPr>
          <a:xfrm>
            <a:off x="2140325" y="1585439"/>
            <a:ext cx="6311359" cy="1059571"/>
          </a:xfrm>
          <a:prstGeom prst="rect">
            <a:avLst/>
          </a:prstGeom>
        </p:spPr>
      </p:pic>
      <p:sp>
        <p:nvSpPr>
          <p:cNvPr id="16" name="TextBox 15">
            <a:extLst>
              <a:ext uri="{FF2B5EF4-FFF2-40B4-BE49-F238E27FC236}">
                <a16:creationId xmlns:a16="http://schemas.microsoft.com/office/drawing/2014/main" id="{2498221B-11F9-941A-A6DA-A152B4F1C4C4}"/>
              </a:ext>
            </a:extLst>
          </p:cNvPr>
          <p:cNvSpPr txBox="1"/>
          <p:nvPr/>
        </p:nvSpPr>
        <p:spPr>
          <a:xfrm>
            <a:off x="399394" y="2682471"/>
            <a:ext cx="6345936"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Ví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a:t>
            </a:r>
            <a:r>
              <a:rPr lang="en-US" sz="2800" dirty="0">
                <a:latin typeface="Times New Roman" panose="02020603050405020304" pitchFamily="18" charset="0"/>
                <a:cs typeface="Times New Roman" panose="02020603050405020304" pitchFamily="18" charset="0"/>
              </a:rPr>
              <a:t>:</a:t>
            </a:r>
          </a:p>
        </p:txBody>
      </p:sp>
      <p:pic>
        <p:nvPicPr>
          <p:cNvPr id="18" name="Picture 17">
            <a:extLst>
              <a:ext uri="{FF2B5EF4-FFF2-40B4-BE49-F238E27FC236}">
                <a16:creationId xmlns:a16="http://schemas.microsoft.com/office/drawing/2014/main" id="{E303203B-2CE4-EB98-3822-93CE8FD608D7}"/>
              </a:ext>
            </a:extLst>
          </p:cNvPr>
          <p:cNvPicPr>
            <a:picLocks noChangeAspect="1"/>
          </p:cNvPicPr>
          <p:nvPr/>
        </p:nvPicPr>
        <p:blipFill>
          <a:blip r:embed="rId3"/>
          <a:stretch>
            <a:fillRect/>
          </a:stretch>
        </p:blipFill>
        <p:spPr>
          <a:xfrm>
            <a:off x="2140325" y="3235930"/>
            <a:ext cx="6507055" cy="2597311"/>
          </a:xfrm>
          <a:prstGeom prst="rect">
            <a:avLst/>
          </a:prstGeom>
        </p:spPr>
      </p:pic>
    </p:spTree>
    <p:extLst>
      <p:ext uri="{BB962C8B-B14F-4D97-AF65-F5344CB8AC3E}">
        <p14:creationId xmlns:p14="http://schemas.microsoft.com/office/powerpoint/2010/main" val="2021676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075AD3-E053-2618-1116-E4E16D97C435}"/>
              </a:ext>
            </a:extLst>
          </p:cNvPr>
          <p:cNvSpPr>
            <a:spLocks noGrp="1"/>
          </p:cNvSpPr>
          <p:nvPr>
            <p:ph idx="1"/>
          </p:nvPr>
        </p:nvSpPr>
        <p:spPr>
          <a:xfrm>
            <a:off x="278232" y="1024758"/>
            <a:ext cx="11514374" cy="5234152"/>
          </a:xfrm>
        </p:spPr>
        <p:txBody>
          <a:bodyPr/>
          <a:lstStyle/>
          <a:p>
            <a:r>
              <a:rPr lang="en-US" dirty="0" err="1"/>
              <a:t>Dùng</a:t>
            </a:r>
            <a:r>
              <a:rPr lang="en-US" dirty="0"/>
              <a:t> </a:t>
            </a:r>
            <a:r>
              <a:rPr lang="en-US" dirty="0" err="1"/>
              <a:t>để</a:t>
            </a:r>
            <a:r>
              <a:rPr lang="en-US" dirty="0"/>
              <a:t> </a:t>
            </a:r>
            <a:r>
              <a:rPr lang="en-US" b="1" dirty="0" err="1"/>
              <a:t>trả</a:t>
            </a:r>
            <a:r>
              <a:rPr lang="en-US" b="1" dirty="0"/>
              <a:t> </a:t>
            </a:r>
            <a:r>
              <a:rPr lang="en-US" b="1" dirty="0" err="1"/>
              <a:t>về</a:t>
            </a:r>
            <a:r>
              <a:rPr lang="en-US" b="1" dirty="0"/>
              <a:t> </a:t>
            </a:r>
            <a:r>
              <a:rPr lang="en-US" b="1" dirty="0" err="1"/>
              <a:t>giá</a:t>
            </a:r>
            <a:r>
              <a:rPr lang="en-US" b="1" dirty="0"/>
              <a:t> </a:t>
            </a:r>
            <a:r>
              <a:rPr lang="en-US" b="1" dirty="0" err="1"/>
              <a:t>trị</a:t>
            </a:r>
            <a:r>
              <a:rPr lang="en-US" b="1" dirty="0"/>
              <a:t> </a:t>
            </a:r>
            <a:r>
              <a:rPr lang="en-US" b="1" dirty="0" err="1"/>
              <a:t>mặc</a:t>
            </a:r>
            <a:r>
              <a:rPr lang="en-US" b="1" dirty="0"/>
              <a:t> </a:t>
            </a:r>
            <a:r>
              <a:rPr lang="en-US" b="1" dirty="0" err="1"/>
              <a:t>định</a:t>
            </a:r>
            <a:r>
              <a:rPr lang="en-US" dirty="0"/>
              <a:t> </a:t>
            </a:r>
            <a:r>
              <a:rPr lang="en-US" dirty="0" err="1"/>
              <a:t>khi</a:t>
            </a:r>
            <a:r>
              <a:rPr lang="en-US" dirty="0"/>
              <a:t> </a:t>
            </a:r>
            <a:r>
              <a:rPr lang="en-US" dirty="0" err="1"/>
              <a:t>giá</a:t>
            </a:r>
            <a:r>
              <a:rPr lang="en-US" dirty="0"/>
              <a:t> </a:t>
            </a:r>
            <a:r>
              <a:rPr lang="en-US" dirty="0" err="1"/>
              <a:t>trị</a:t>
            </a:r>
            <a:r>
              <a:rPr lang="en-US" dirty="0"/>
              <a:t> </a:t>
            </a:r>
            <a:r>
              <a:rPr lang="en-US" dirty="0" err="1"/>
              <a:t>bên</a:t>
            </a:r>
            <a:r>
              <a:rPr lang="en-US" dirty="0"/>
              <a:t> </a:t>
            </a:r>
            <a:r>
              <a:rPr lang="en-US" dirty="0" err="1"/>
              <a:t>trái</a:t>
            </a:r>
            <a:r>
              <a:rPr lang="en-US" dirty="0"/>
              <a:t> </a:t>
            </a:r>
            <a:r>
              <a:rPr lang="en-US" dirty="0" err="1"/>
              <a:t>là</a:t>
            </a:r>
            <a:r>
              <a:rPr lang="en-US" dirty="0"/>
              <a:t> </a:t>
            </a:r>
            <a:r>
              <a:rPr lang="en-US" b="1" dirty="0"/>
              <a:t>null</a:t>
            </a:r>
            <a:r>
              <a:rPr lang="en-US" dirty="0"/>
              <a:t> </a:t>
            </a:r>
            <a:r>
              <a:rPr lang="en-US" dirty="0" err="1"/>
              <a:t>hoặc</a:t>
            </a:r>
            <a:r>
              <a:rPr lang="en-US" dirty="0"/>
              <a:t> </a:t>
            </a:r>
            <a:r>
              <a:rPr lang="en-US" b="1" dirty="0"/>
              <a:t>undefined</a:t>
            </a:r>
            <a:r>
              <a:rPr lang="en-US" dirty="0"/>
              <a:t>.</a:t>
            </a:r>
          </a:p>
          <a:p>
            <a:r>
              <a:rPr lang="en-US" dirty="0" err="1"/>
              <a:t>Khác</a:t>
            </a:r>
            <a:r>
              <a:rPr lang="en-US" dirty="0"/>
              <a:t> </a:t>
            </a:r>
            <a:r>
              <a:rPr lang="en-US" dirty="0" err="1"/>
              <a:t>với</a:t>
            </a:r>
            <a:r>
              <a:rPr lang="en-US" dirty="0"/>
              <a:t> || (OR) — </a:t>
            </a:r>
            <a:r>
              <a:rPr lang="en-US" dirty="0" err="1"/>
              <a:t>chỉ</a:t>
            </a:r>
            <a:r>
              <a:rPr lang="en-US" dirty="0"/>
              <a:t> </a:t>
            </a:r>
            <a:r>
              <a:rPr lang="en-US" dirty="0" err="1"/>
              <a:t>kiểm</a:t>
            </a:r>
            <a:r>
              <a:rPr lang="en-US" dirty="0"/>
              <a:t> </a:t>
            </a:r>
            <a:r>
              <a:rPr lang="en-US" dirty="0" err="1"/>
              <a:t>tra</a:t>
            </a:r>
            <a:r>
              <a:rPr lang="en-US" dirty="0"/>
              <a:t> </a:t>
            </a:r>
            <a:r>
              <a:rPr lang="en-US" dirty="0" err="1"/>
              <a:t>giá</a:t>
            </a:r>
            <a:r>
              <a:rPr lang="en-US" dirty="0"/>
              <a:t> </a:t>
            </a:r>
            <a:r>
              <a:rPr lang="en-US" dirty="0" err="1"/>
              <a:t>trị</a:t>
            </a:r>
            <a:r>
              <a:rPr lang="en-US" dirty="0"/>
              <a:t> </a:t>
            </a:r>
            <a:r>
              <a:rPr lang="en-US" i="1" dirty="0" err="1"/>
              <a:t>falsy</a:t>
            </a:r>
            <a:r>
              <a:rPr lang="en-US" dirty="0"/>
              <a:t>.</a:t>
            </a:r>
          </a:p>
          <a:p>
            <a:r>
              <a:rPr lang="en-US" dirty="0"/>
              <a:t>Cú </a:t>
            </a:r>
            <a:r>
              <a:rPr lang="en-US" dirty="0" err="1"/>
              <a:t>pháp</a:t>
            </a:r>
            <a:r>
              <a:rPr lang="en-US" dirty="0"/>
              <a:t>: </a:t>
            </a:r>
          </a:p>
        </p:txBody>
      </p:sp>
      <p:sp>
        <p:nvSpPr>
          <p:cNvPr id="3" name="Footer Placeholder 2">
            <a:extLst>
              <a:ext uri="{FF2B5EF4-FFF2-40B4-BE49-F238E27FC236}">
                <a16:creationId xmlns:a16="http://schemas.microsoft.com/office/drawing/2014/main" id="{53511280-6E44-1B10-07FB-5A95D5774FB3}"/>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F17BA6A8-1261-E03C-722A-5C637CD88FF5}"/>
              </a:ext>
            </a:extLst>
          </p:cNvPr>
          <p:cNvSpPr>
            <a:spLocks noGrp="1"/>
          </p:cNvSpPr>
          <p:nvPr>
            <p:ph type="sldNum" sz="quarter" idx="4"/>
          </p:nvPr>
        </p:nvSpPr>
        <p:spPr/>
        <p:txBody>
          <a:bodyPr/>
          <a:lstStyle/>
          <a:p>
            <a:fld id="{3A02590D-67BD-4DF2-8CAA-B9002293EB8E}" type="slidenum">
              <a:rPr lang="en-US" smtClean="0"/>
              <a:pPr/>
              <a:t>20</a:t>
            </a:fld>
            <a:endParaRPr lang="en-US" dirty="0"/>
          </a:p>
        </p:txBody>
      </p:sp>
      <p:sp>
        <p:nvSpPr>
          <p:cNvPr id="5" name="Title 4">
            <a:extLst>
              <a:ext uri="{FF2B5EF4-FFF2-40B4-BE49-F238E27FC236}">
                <a16:creationId xmlns:a16="http://schemas.microsoft.com/office/drawing/2014/main" id="{333E6CD6-B5D9-7C77-267D-A21B159FBAA1}"/>
              </a:ext>
            </a:extLst>
          </p:cNvPr>
          <p:cNvSpPr>
            <a:spLocks noGrp="1"/>
          </p:cNvSpPr>
          <p:nvPr>
            <p:ph type="title"/>
          </p:nvPr>
        </p:nvSpPr>
        <p:spPr/>
        <p:txBody>
          <a:bodyPr/>
          <a:lstStyle/>
          <a:p>
            <a:r>
              <a:rPr lang="en-US"/>
              <a:t>TOÁN TỬ NULLISH COALESCING (??)</a:t>
            </a:r>
          </a:p>
        </p:txBody>
      </p:sp>
      <p:pic>
        <p:nvPicPr>
          <p:cNvPr id="5122" name="Picture 2" descr="javascript - When should I use ?? (nullish coalescing) vs || (logical OR)?  - Stack Overflow">
            <a:extLst>
              <a:ext uri="{FF2B5EF4-FFF2-40B4-BE49-F238E27FC236}">
                <a16:creationId xmlns:a16="http://schemas.microsoft.com/office/drawing/2014/main" id="{40E6BBED-B229-FBD1-BF63-6E1532702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7869" y="1623775"/>
            <a:ext cx="3415821" cy="330940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425204A-F0E8-2B88-F03B-6C97E2C7410A}"/>
              </a:ext>
            </a:extLst>
          </p:cNvPr>
          <p:cNvPicPr>
            <a:picLocks noChangeAspect="1"/>
          </p:cNvPicPr>
          <p:nvPr/>
        </p:nvPicPr>
        <p:blipFill>
          <a:blip r:embed="rId3"/>
          <a:stretch>
            <a:fillRect/>
          </a:stretch>
        </p:blipFill>
        <p:spPr>
          <a:xfrm>
            <a:off x="711430" y="2522918"/>
            <a:ext cx="4143670" cy="1095453"/>
          </a:xfrm>
          <a:prstGeom prst="rect">
            <a:avLst/>
          </a:prstGeom>
        </p:spPr>
      </p:pic>
      <p:sp>
        <p:nvSpPr>
          <p:cNvPr id="8" name="TextBox 7">
            <a:extLst>
              <a:ext uri="{FF2B5EF4-FFF2-40B4-BE49-F238E27FC236}">
                <a16:creationId xmlns:a16="http://schemas.microsoft.com/office/drawing/2014/main" id="{9FB566BB-3E7D-D185-6628-D1467BCB50BA}"/>
              </a:ext>
            </a:extLst>
          </p:cNvPr>
          <p:cNvSpPr txBox="1"/>
          <p:nvPr/>
        </p:nvSpPr>
        <p:spPr>
          <a:xfrm>
            <a:off x="567558" y="3570508"/>
            <a:ext cx="2323164"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Ví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a:t>
            </a:r>
            <a:r>
              <a:rPr lang="en-US" sz="2800" dirty="0">
                <a:latin typeface="Times New Roman" panose="02020603050405020304" pitchFamily="18" charset="0"/>
                <a:cs typeface="Times New Roman" panose="02020603050405020304" pitchFamily="18" charset="0"/>
              </a:rPr>
              <a:t>:</a:t>
            </a:r>
          </a:p>
        </p:txBody>
      </p:sp>
      <p:pic>
        <p:nvPicPr>
          <p:cNvPr id="12" name="Picture 11">
            <a:extLst>
              <a:ext uri="{FF2B5EF4-FFF2-40B4-BE49-F238E27FC236}">
                <a16:creationId xmlns:a16="http://schemas.microsoft.com/office/drawing/2014/main" id="{94EF9995-C18F-413D-FE3C-C0F62DF16A6C}"/>
              </a:ext>
            </a:extLst>
          </p:cNvPr>
          <p:cNvPicPr>
            <a:picLocks noChangeAspect="1"/>
          </p:cNvPicPr>
          <p:nvPr/>
        </p:nvPicPr>
        <p:blipFill>
          <a:blip r:embed="rId4"/>
          <a:stretch>
            <a:fillRect/>
          </a:stretch>
        </p:blipFill>
        <p:spPr>
          <a:xfrm>
            <a:off x="1118561" y="3983216"/>
            <a:ext cx="5676685" cy="2180905"/>
          </a:xfrm>
          <a:prstGeom prst="rect">
            <a:avLst/>
          </a:prstGeom>
        </p:spPr>
      </p:pic>
    </p:spTree>
    <p:extLst>
      <p:ext uri="{BB962C8B-B14F-4D97-AF65-F5344CB8AC3E}">
        <p14:creationId xmlns:p14="http://schemas.microsoft.com/office/powerpoint/2010/main" val="1679105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CF2F87-B55A-90C6-2919-6F85B84E33A7}"/>
              </a:ext>
            </a:extLst>
          </p:cNvPr>
          <p:cNvSpPr>
            <a:spLocks noGrp="1"/>
          </p:cNvSpPr>
          <p:nvPr>
            <p:ph idx="1"/>
          </p:nvPr>
        </p:nvSpPr>
        <p:spPr/>
        <p:txBody>
          <a:bodyPr/>
          <a:lstStyle/>
          <a:p>
            <a:r>
              <a:rPr lang="en-US" dirty="0" err="1"/>
              <a:t>Toán</a:t>
            </a:r>
            <a:r>
              <a:rPr lang="en-US" dirty="0"/>
              <a:t> </a:t>
            </a:r>
            <a:r>
              <a:rPr lang="en-US" dirty="0" err="1"/>
              <a:t>tử</a:t>
            </a:r>
            <a:r>
              <a:rPr lang="en-US" dirty="0"/>
              <a:t> </a:t>
            </a:r>
            <a:r>
              <a:rPr lang="en-US" dirty="0" err="1"/>
              <a:t>giúp</a:t>
            </a:r>
            <a:r>
              <a:rPr lang="en-US" dirty="0"/>
              <a:t> </a:t>
            </a:r>
            <a:r>
              <a:rPr lang="en-US" b="1" dirty="0" err="1"/>
              <a:t>truy</a:t>
            </a:r>
            <a:r>
              <a:rPr lang="en-US" b="1" dirty="0"/>
              <a:t> </a:t>
            </a:r>
            <a:r>
              <a:rPr lang="en-US" b="1" dirty="0" err="1"/>
              <a:t>cập</a:t>
            </a:r>
            <a:r>
              <a:rPr lang="en-US" b="1" dirty="0"/>
              <a:t> an </a:t>
            </a:r>
            <a:r>
              <a:rPr lang="en-US" b="1" dirty="0" err="1"/>
              <a:t>toàn</a:t>
            </a:r>
            <a:r>
              <a:rPr lang="en-US" dirty="0"/>
              <a:t> </a:t>
            </a:r>
            <a:r>
              <a:rPr lang="en-US" dirty="0" err="1"/>
              <a:t>vào</a:t>
            </a:r>
            <a:r>
              <a:rPr lang="en-US" dirty="0"/>
              <a:t> </a:t>
            </a:r>
            <a:r>
              <a:rPr lang="en-US" dirty="0" err="1"/>
              <a:t>thuộc</a:t>
            </a:r>
            <a:r>
              <a:rPr lang="en-US" dirty="0"/>
              <a:t> </a:t>
            </a:r>
            <a:r>
              <a:rPr lang="en-US" dirty="0" err="1"/>
              <a:t>tính</a:t>
            </a:r>
            <a:r>
              <a:rPr lang="en-US" dirty="0"/>
              <a:t> </a:t>
            </a:r>
            <a:r>
              <a:rPr lang="en-US" dirty="0" err="1"/>
              <a:t>của</a:t>
            </a:r>
            <a:r>
              <a:rPr lang="en-US" dirty="0"/>
              <a:t> object.</a:t>
            </a:r>
          </a:p>
          <a:p>
            <a:r>
              <a:rPr lang="vi-VN" dirty="0"/>
              <a:t>Trả về </a:t>
            </a:r>
            <a:r>
              <a:rPr lang="vi-VN" b="1" dirty="0" err="1"/>
              <a:t>undefined</a:t>
            </a:r>
            <a:r>
              <a:rPr lang="vi-VN" dirty="0"/>
              <a:t> nếu phần trước nó là </a:t>
            </a:r>
            <a:r>
              <a:rPr lang="vi-VN" b="1" dirty="0" err="1"/>
              <a:t>null</a:t>
            </a:r>
            <a:r>
              <a:rPr lang="vi-VN" dirty="0"/>
              <a:t> hoặc </a:t>
            </a:r>
            <a:r>
              <a:rPr lang="vi-VN" b="1" dirty="0" err="1"/>
              <a:t>undefined</a:t>
            </a:r>
            <a:r>
              <a:rPr lang="vi-VN" dirty="0"/>
              <a:t>,</a:t>
            </a:r>
            <a:br>
              <a:rPr lang="vi-VN" dirty="0"/>
            </a:br>
            <a:r>
              <a:rPr lang="vi-VN" b="1" dirty="0"/>
              <a:t>không gây lỗi</a:t>
            </a:r>
            <a:r>
              <a:rPr lang="vi-VN" dirty="0"/>
              <a:t> chương trình.</a:t>
            </a:r>
            <a:endParaRPr lang="en-US" dirty="0"/>
          </a:p>
          <a:p>
            <a:pPr marL="0" indent="0">
              <a:buNone/>
            </a:pPr>
            <a:r>
              <a:rPr lang="en-US" dirty="0"/>
              <a:t>Cú </a:t>
            </a:r>
            <a:r>
              <a:rPr lang="en-US" dirty="0" err="1"/>
              <a:t>pháp</a:t>
            </a:r>
            <a:r>
              <a:rPr lang="en-US" dirty="0"/>
              <a:t>:</a:t>
            </a:r>
          </a:p>
        </p:txBody>
      </p:sp>
      <p:sp>
        <p:nvSpPr>
          <p:cNvPr id="3" name="Footer Placeholder 2">
            <a:extLst>
              <a:ext uri="{FF2B5EF4-FFF2-40B4-BE49-F238E27FC236}">
                <a16:creationId xmlns:a16="http://schemas.microsoft.com/office/drawing/2014/main" id="{22648DFF-8EA2-D280-F506-FFCFC33A7AFC}"/>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8BB02E23-F247-1B1A-ED47-2BA65B1F075F}"/>
              </a:ext>
            </a:extLst>
          </p:cNvPr>
          <p:cNvSpPr>
            <a:spLocks noGrp="1"/>
          </p:cNvSpPr>
          <p:nvPr>
            <p:ph type="sldNum" sz="quarter" idx="4"/>
          </p:nvPr>
        </p:nvSpPr>
        <p:spPr>
          <a:xfrm>
            <a:off x="9170569" y="6403648"/>
            <a:ext cx="2743200" cy="365125"/>
          </a:xfrm>
        </p:spPr>
        <p:txBody>
          <a:bodyPr/>
          <a:lstStyle/>
          <a:p>
            <a:fld id="{3A02590D-67BD-4DF2-8CAA-B9002293EB8E}" type="slidenum">
              <a:rPr lang="en-US" smtClean="0"/>
              <a:pPr/>
              <a:t>21</a:t>
            </a:fld>
            <a:endParaRPr lang="en-US" dirty="0"/>
          </a:p>
        </p:txBody>
      </p:sp>
      <p:sp>
        <p:nvSpPr>
          <p:cNvPr id="5" name="Title 4">
            <a:extLst>
              <a:ext uri="{FF2B5EF4-FFF2-40B4-BE49-F238E27FC236}">
                <a16:creationId xmlns:a16="http://schemas.microsoft.com/office/drawing/2014/main" id="{10D85B4A-BB92-A782-67A8-DCB5F442AE4B}"/>
              </a:ext>
            </a:extLst>
          </p:cNvPr>
          <p:cNvSpPr>
            <a:spLocks noGrp="1"/>
          </p:cNvSpPr>
          <p:nvPr>
            <p:ph type="title"/>
          </p:nvPr>
        </p:nvSpPr>
        <p:spPr/>
        <p:txBody>
          <a:bodyPr/>
          <a:lstStyle/>
          <a:p>
            <a:r>
              <a:rPr lang="en-US"/>
              <a:t>OPTIONAL CHAINING (?.)</a:t>
            </a:r>
          </a:p>
        </p:txBody>
      </p:sp>
      <p:pic>
        <p:nvPicPr>
          <p:cNvPr id="11" name="Picture 10">
            <a:extLst>
              <a:ext uri="{FF2B5EF4-FFF2-40B4-BE49-F238E27FC236}">
                <a16:creationId xmlns:a16="http://schemas.microsoft.com/office/drawing/2014/main" id="{BE96CD75-5BD1-BD19-05CB-5F075D812FC9}"/>
              </a:ext>
            </a:extLst>
          </p:cNvPr>
          <p:cNvPicPr>
            <a:picLocks noChangeAspect="1"/>
          </p:cNvPicPr>
          <p:nvPr/>
        </p:nvPicPr>
        <p:blipFill>
          <a:blip r:embed="rId2"/>
          <a:stretch>
            <a:fillRect/>
          </a:stretch>
        </p:blipFill>
        <p:spPr>
          <a:xfrm>
            <a:off x="777867" y="2889338"/>
            <a:ext cx="3236985" cy="1791217"/>
          </a:xfrm>
          <a:prstGeom prst="rect">
            <a:avLst/>
          </a:prstGeom>
        </p:spPr>
      </p:pic>
      <p:pic>
        <p:nvPicPr>
          <p:cNvPr id="13" name="Picture 12">
            <a:extLst>
              <a:ext uri="{FF2B5EF4-FFF2-40B4-BE49-F238E27FC236}">
                <a16:creationId xmlns:a16="http://schemas.microsoft.com/office/drawing/2014/main" id="{0BB3F659-2F22-486A-66CA-F71ACA56A86E}"/>
              </a:ext>
            </a:extLst>
          </p:cNvPr>
          <p:cNvPicPr>
            <a:picLocks noChangeAspect="1"/>
          </p:cNvPicPr>
          <p:nvPr/>
        </p:nvPicPr>
        <p:blipFill>
          <a:blip r:embed="rId3"/>
          <a:stretch>
            <a:fillRect/>
          </a:stretch>
        </p:blipFill>
        <p:spPr>
          <a:xfrm>
            <a:off x="5620652" y="2889338"/>
            <a:ext cx="3843387" cy="2562258"/>
          </a:xfrm>
          <a:prstGeom prst="rect">
            <a:avLst/>
          </a:prstGeom>
        </p:spPr>
      </p:pic>
      <p:sp>
        <p:nvSpPr>
          <p:cNvPr id="14" name="TextBox 13">
            <a:extLst>
              <a:ext uri="{FF2B5EF4-FFF2-40B4-BE49-F238E27FC236}">
                <a16:creationId xmlns:a16="http://schemas.microsoft.com/office/drawing/2014/main" id="{D653F7EA-1622-EE5B-992E-F11873E6A49F}"/>
              </a:ext>
            </a:extLst>
          </p:cNvPr>
          <p:cNvSpPr txBox="1"/>
          <p:nvPr/>
        </p:nvSpPr>
        <p:spPr>
          <a:xfrm>
            <a:off x="5524500" y="2482990"/>
            <a:ext cx="1234440" cy="523220"/>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Ví dụ:</a:t>
            </a:r>
          </a:p>
        </p:txBody>
      </p:sp>
    </p:spTree>
    <p:extLst>
      <p:ext uri="{BB962C8B-B14F-4D97-AF65-F5344CB8AC3E}">
        <p14:creationId xmlns:p14="http://schemas.microsoft.com/office/powerpoint/2010/main" val="1820315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C8152-51F4-790F-9B3D-BD6FEB965F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E17B32-7D7C-968B-F138-F54B9B6865D9}"/>
              </a:ext>
            </a:extLst>
          </p:cNvPr>
          <p:cNvSpPr>
            <a:spLocks noGrp="1"/>
          </p:cNvSpPr>
          <p:nvPr>
            <p:ph idx="1"/>
          </p:nvPr>
        </p:nvSpPr>
        <p:spPr>
          <a:xfrm>
            <a:off x="138224" y="893135"/>
            <a:ext cx="11897832" cy="5365775"/>
          </a:xfrm>
        </p:spPr>
        <p:txBody>
          <a:bodyPr>
            <a:normAutofit fontScale="77500" lnSpcReduction="20000"/>
          </a:bodyPr>
          <a:lstStyle/>
          <a:p>
            <a:r>
              <a:rPr lang="en-US" sz="3600" b="1" dirty="0" err="1">
                <a:solidFill>
                  <a:srgbClr val="FF0000"/>
                </a:solidFill>
              </a:rPr>
              <a:t>Rẻ</a:t>
            </a:r>
            <a:r>
              <a:rPr lang="en-US" sz="3600" b="1" dirty="0">
                <a:solidFill>
                  <a:srgbClr val="FF0000"/>
                </a:solidFill>
              </a:rPr>
              <a:t> </a:t>
            </a:r>
            <a:r>
              <a:rPr lang="en-US" sz="3600" b="1" dirty="0" err="1">
                <a:solidFill>
                  <a:srgbClr val="FF0000"/>
                </a:solidFill>
              </a:rPr>
              <a:t>nhánh</a:t>
            </a:r>
            <a:r>
              <a:rPr lang="en-US" sz="3600" b="1" dirty="0">
                <a:solidFill>
                  <a:srgbClr val="FF0000"/>
                </a:solidFill>
              </a:rPr>
              <a:t> </a:t>
            </a:r>
            <a:r>
              <a:rPr lang="en-US" sz="3600" b="1" dirty="0" err="1">
                <a:solidFill>
                  <a:srgbClr val="FF0000"/>
                </a:solidFill>
              </a:rPr>
              <a:t>nhiều</a:t>
            </a:r>
            <a:r>
              <a:rPr lang="en-US" sz="3600" b="1" dirty="0">
                <a:solidFill>
                  <a:srgbClr val="FF0000"/>
                </a:solidFill>
              </a:rPr>
              <a:t> </a:t>
            </a:r>
            <a:r>
              <a:rPr lang="en-US" sz="3600" b="1" dirty="0" err="1">
                <a:solidFill>
                  <a:srgbClr val="FF0000"/>
                </a:solidFill>
              </a:rPr>
              <a:t>sự</a:t>
            </a:r>
            <a:r>
              <a:rPr lang="en-US" sz="3600" b="1" dirty="0">
                <a:solidFill>
                  <a:srgbClr val="FF0000"/>
                </a:solidFill>
              </a:rPr>
              <a:t> </a:t>
            </a:r>
            <a:r>
              <a:rPr lang="en-US" sz="3600" b="1" dirty="0" err="1">
                <a:solidFill>
                  <a:srgbClr val="FF0000"/>
                </a:solidFill>
              </a:rPr>
              <a:t>lựa</a:t>
            </a:r>
            <a:r>
              <a:rPr lang="en-US" sz="3600" b="1" dirty="0">
                <a:solidFill>
                  <a:srgbClr val="FF0000"/>
                </a:solidFill>
              </a:rPr>
              <a:t> </a:t>
            </a:r>
            <a:r>
              <a:rPr lang="en-US" sz="3600" b="1" dirty="0" err="1">
                <a:solidFill>
                  <a:srgbClr val="FF0000"/>
                </a:solidFill>
              </a:rPr>
              <a:t>chọn</a:t>
            </a:r>
            <a:r>
              <a:rPr lang="en-US" sz="3600" b="1" dirty="0">
                <a:solidFill>
                  <a:srgbClr val="FF0000"/>
                </a:solidFill>
              </a:rPr>
              <a:t>(else/if)</a:t>
            </a:r>
          </a:p>
          <a:p>
            <a:pPr marL="457200" lvl="1" indent="0">
              <a:buNone/>
            </a:pPr>
            <a:r>
              <a:rPr lang="en-US" sz="2800" dirty="0"/>
              <a:t>let </a:t>
            </a:r>
            <a:r>
              <a:rPr lang="en-US" sz="2800" dirty="0" err="1"/>
              <a:t>score:number</a:t>
            </a:r>
            <a:r>
              <a:rPr lang="en-US" sz="2800" dirty="0"/>
              <a:t> = 8;</a:t>
            </a:r>
          </a:p>
          <a:p>
            <a:pPr marL="457200" lvl="1" indent="0">
              <a:buNone/>
            </a:pPr>
            <a:r>
              <a:rPr lang="en-US" sz="2800" dirty="0"/>
              <a:t>let </a:t>
            </a:r>
            <a:r>
              <a:rPr lang="en-US" sz="2800" dirty="0" err="1"/>
              <a:t>tinh_trang_mon</a:t>
            </a:r>
            <a:r>
              <a:rPr lang="en-US" sz="2800" dirty="0"/>
              <a:t>: string = "";</a:t>
            </a:r>
          </a:p>
          <a:p>
            <a:pPr marL="457200" lvl="1" indent="0">
              <a:buNone/>
            </a:pPr>
            <a:r>
              <a:rPr lang="en-US" sz="2800" dirty="0"/>
              <a:t>if (score &gt;= 9) {</a:t>
            </a:r>
          </a:p>
          <a:p>
            <a:pPr marL="457200" lvl="1" indent="0">
              <a:buNone/>
            </a:pPr>
            <a:r>
              <a:rPr lang="en-US" sz="2800" dirty="0"/>
              <a:t>  </a:t>
            </a:r>
            <a:r>
              <a:rPr lang="en-US" sz="2800" dirty="0" err="1"/>
              <a:t>tinh_trang_mon</a:t>
            </a:r>
            <a:r>
              <a:rPr lang="en-US" sz="2800" dirty="0"/>
              <a:t> = "</a:t>
            </a:r>
            <a:r>
              <a:rPr lang="en-US" sz="2800" dirty="0" err="1"/>
              <a:t>Xuất</a:t>
            </a:r>
            <a:r>
              <a:rPr lang="en-US" sz="2800" dirty="0"/>
              <a:t> </a:t>
            </a:r>
            <a:r>
              <a:rPr lang="en-US" sz="2800" dirty="0" err="1"/>
              <a:t>sắc</a:t>
            </a:r>
            <a:r>
              <a:rPr lang="en-US" sz="2800" dirty="0"/>
              <a:t>";</a:t>
            </a:r>
          </a:p>
          <a:p>
            <a:pPr marL="457200" lvl="1" indent="0">
              <a:buNone/>
            </a:pPr>
            <a:r>
              <a:rPr lang="en-US" sz="2800" dirty="0"/>
              <a:t>} else if (score &gt;= 8) {</a:t>
            </a:r>
          </a:p>
          <a:p>
            <a:pPr marL="457200" lvl="1" indent="0">
              <a:buNone/>
            </a:pPr>
            <a:r>
              <a:rPr lang="en-US" sz="2800" dirty="0"/>
              <a:t>  </a:t>
            </a:r>
            <a:r>
              <a:rPr lang="en-US" sz="2800" dirty="0" err="1"/>
              <a:t>tinh_trang_mon</a:t>
            </a:r>
            <a:r>
              <a:rPr lang="en-US" sz="2800" dirty="0"/>
              <a:t> = "</a:t>
            </a:r>
            <a:r>
              <a:rPr lang="en-US" sz="2800" dirty="0" err="1"/>
              <a:t>Giỏi</a:t>
            </a:r>
            <a:r>
              <a:rPr lang="en-US" sz="2800" dirty="0"/>
              <a:t>";</a:t>
            </a:r>
          </a:p>
          <a:p>
            <a:pPr marL="457200" lvl="1" indent="0">
              <a:buNone/>
            </a:pPr>
            <a:r>
              <a:rPr lang="en-US" sz="2800" dirty="0"/>
              <a:t>} else if (score &gt;= 7) {</a:t>
            </a:r>
          </a:p>
          <a:p>
            <a:pPr marL="457200" lvl="1" indent="0">
              <a:buNone/>
            </a:pPr>
            <a:r>
              <a:rPr lang="en-US" sz="2800" dirty="0"/>
              <a:t>  </a:t>
            </a:r>
            <a:r>
              <a:rPr lang="en-US" sz="2800" dirty="0" err="1"/>
              <a:t>tinh_trang_mon</a:t>
            </a:r>
            <a:r>
              <a:rPr lang="en-US" sz="2800" dirty="0"/>
              <a:t> = "</a:t>
            </a:r>
            <a:r>
              <a:rPr lang="en-US" sz="2800" dirty="0" err="1"/>
              <a:t>Khá</a:t>
            </a:r>
            <a:r>
              <a:rPr lang="en-US" sz="2800" dirty="0"/>
              <a:t>";</a:t>
            </a:r>
          </a:p>
          <a:p>
            <a:pPr marL="457200" lvl="1" indent="0">
              <a:buNone/>
            </a:pPr>
            <a:r>
              <a:rPr lang="en-US" sz="2800" dirty="0"/>
              <a:t>} else if (score &gt;= 5) {</a:t>
            </a:r>
          </a:p>
          <a:p>
            <a:pPr marL="457200" lvl="1" indent="0">
              <a:buNone/>
            </a:pPr>
            <a:r>
              <a:rPr lang="en-US" sz="2800" dirty="0"/>
              <a:t>  </a:t>
            </a:r>
            <a:r>
              <a:rPr lang="en-US" sz="2800" dirty="0" err="1"/>
              <a:t>tinh_trang_mon</a:t>
            </a:r>
            <a:r>
              <a:rPr lang="en-US" sz="2800" dirty="0"/>
              <a:t> = "Trung </a:t>
            </a:r>
            <a:r>
              <a:rPr lang="en-US" sz="2800" dirty="0" err="1"/>
              <a:t>bình</a:t>
            </a:r>
            <a:r>
              <a:rPr lang="en-US" sz="2800" dirty="0"/>
              <a:t>";</a:t>
            </a:r>
          </a:p>
          <a:p>
            <a:pPr marL="457200" lvl="1" indent="0">
              <a:buNone/>
            </a:pPr>
            <a:r>
              <a:rPr lang="en-US" sz="2800" dirty="0"/>
              <a:t>} else{</a:t>
            </a:r>
          </a:p>
          <a:p>
            <a:pPr marL="457200" lvl="1" indent="0">
              <a:buNone/>
            </a:pPr>
            <a:r>
              <a:rPr lang="en-US" sz="2800" dirty="0"/>
              <a:t>   </a:t>
            </a:r>
            <a:r>
              <a:rPr lang="en-US" sz="2800" dirty="0" err="1"/>
              <a:t>tinh_trang_mon</a:t>
            </a:r>
            <a:r>
              <a:rPr lang="en-US" sz="2800" dirty="0"/>
              <a:t> = "</a:t>
            </a:r>
            <a:r>
              <a:rPr lang="en-US" sz="2800" dirty="0" err="1"/>
              <a:t>Rớt</a:t>
            </a:r>
            <a:r>
              <a:rPr lang="en-US" sz="2800" dirty="0"/>
              <a:t> </a:t>
            </a:r>
            <a:r>
              <a:rPr lang="en-US" sz="2800" dirty="0" err="1"/>
              <a:t>môn</a:t>
            </a:r>
            <a:r>
              <a:rPr lang="en-US" sz="2800" dirty="0"/>
              <a:t>";</a:t>
            </a:r>
          </a:p>
          <a:p>
            <a:pPr marL="457200" lvl="1" indent="0">
              <a:buNone/>
            </a:pPr>
            <a:r>
              <a:rPr lang="en-US" sz="2800" dirty="0"/>
              <a:t>}</a:t>
            </a:r>
          </a:p>
          <a:p>
            <a:pPr marL="457200" lvl="1" indent="0">
              <a:buNone/>
            </a:pPr>
            <a:r>
              <a:rPr lang="en-US" sz="2800" dirty="0"/>
              <a:t>console.log(</a:t>
            </a:r>
            <a:r>
              <a:rPr lang="en-US" sz="2800" dirty="0" err="1"/>
              <a:t>tinh_trang_mon</a:t>
            </a:r>
            <a:r>
              <a:rPr lang="en-US" sz="2800" dirty="0"/>
              <a:t>);</a:t>
            </a:r>
          </a:p>
          <a:p>
            <a:pPr marL="457200" lvl="1" indent="0">
              <a:buNone/>
            </a:pPr>
            <a:r>
              <a:rPr lang="en-US" b="1" dirty="0"/>
              <a:t>  </a:t>
            </a:r>
          </a:p>
          <a:p>
            <a:pPr marL="457200" lvl="1" indent="0">
              <a:buNone/>
            </a:pPr>
            <a:r>
              <a:rPr lang="en-US" dirty="0"/>
              <a:t>👉</a:t>
            </a:r>
            <a:r>
              <a:rPr lang="en-US" b="1" dirty="0" err="1"/>
              <a:t>Chỉ</a:t>
            </a:r>
            <a:r>
              <a:rPr lang="en-US" b="1" dirty="0"/>
              <a:t> </a:t>
            </a:r>
            <a:r>
              <a:rPr lang="en-US" b="1" dirty="0" err="1"/>
              <a:t>một</a:t>
            </a:r>
            <a:r>
              <a:rPr lang="en-US" b="1" dirty="0"/>
              <a:t> </a:t>
            </a:r>
            <a:r>
              <a:rPr lang="en-US" b="1" dirty="0" err="1"/>
              <a:t>nhánh</a:t>
            </a:r>
            <a:r>
              <a:rPr lang="en-US" b="1" dirty="0"/>
              <a:t> </a:t>
            </a:r>
            <a:r>
              <a:rPr lang="en-US" b="1" dirty="0" err="1"/>
              <a:t>đầu</a:t>
            </a:r>
            <a:r>
              <a:rPr lang="en-US" b="1" dirty="0"/>
              <a:t> </a:t>
            </a:r>
            <a:r>
              <a:rPr lang="en-US" b="1" dirty="0" err="1"/>
              <a:t>tiên</a:t>
            </a:r>
            <a:r>
              <a:rPr lang="en-US" b="1" dirty="0"/>
              <a:t> </a:t>
            </a:r>
            <a:r>
              <a:rPr lang="en-US" b="1" dirty="0" err="1"/>
              <a:t>thỏa</a:t>
            </a:r>
            <a:r>
              <a:rPr lang="en-US" b="1" dirty="0"/>
              <a:t> </a:t>
            </a:r>
            <a:r>
              <a:rPr lang="en-US" b="1" dirty="0" err="1"/>
              <a:t>được</a:t>
            </a:r>
            <a:r>
              <a:rPr lang="en-US" b="1" dirty="0"/>
              <a:t> </a:t>
            </a:r>
            <a:r>
              <a:rPr lang="en-US" b="1" dirty="0" err="1"/>
              <a:t>điều</a:t>
            </a:r>
            <a:r>
              <a:rPr lang="en-US" b="1" dirty="0"/>
              <a:t> </a:t>
            </a:r>
            <a:r>
              <a:rPr lang="en-US" b="1" dirty="0" err="1"/>
              <a:t>kiện</a:t>
            </a:r>
            <a:endParaRPr lang="en-US" b="1" dirty="0"/>
          </a:p>
          <a:p>
            <a:endParaRPr lang="en-US" b="1" dirty="0"/>
          </a:p>
        </p:txBody>
      </p:sp>
      <p:sp>
        <p:nvSpPr>
          <p:cNvPr id="3" name="Footer Placeholder 2">
            <a:extLst>
              <a:ext uri="{FF2B5EF4-FFF2-40B4-BE49-F238E27FC236}">
                <a16:creationId xmlns:a16="http://schemas.microsoft.com/office/drawing/2014/main" id="{BEC3E584-87A7-6A61-782C-AC7029F0D6D9}"/>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C5EE44C9-CC96-F590-ED68-3303914ED940}"/>
              </a:ext>
            </a:extLst>
          </p:cNvPr>
          <p:cNvSpPr>
            <a:spLocks noGrp="1"/>
          </p:cNvSpPr>
          <p:nvPr>
            <p:ph type="sldNum" sz="quarter" idx="4"/>
          </p:nvPr>
        </p:nvSpPr>
        <p:spPr/>
        <p:txBody>
          <a:bodyPr/>
          <a:lstStyle/>
          <a:p>
            <a:fld id="{3A02590D-67BD-4DF2-8CAA-B9002293EB8E}" type="slidenum">
              <a:rPr lang="en-US" smtClean="0"/>
              <a:pPr/>
              <a:t>22</a:t>
            </a:fld>
            <a:endParaRPr lang="en-US" dirty="0"/>
          </a:p>
        </p:txBody>
      </p:sp>
      <p:sp>
        <p:nvSpPr>
          <p:cNvPr id="5" name="Title 4">
            <a:extLst>
              <a:ext uri="{FF2B5EF4-FFF2-40B4-BE49-F238E27FC236}">
                <a16:creationId xmlns:a16="http://schemas.microsoft.com/office/drawing/2014/main" id="{359030BA-1B75-4892-4718-9CCF4F3C32E7}"/>
              </a:ext>
            </a:extLst>
          </p:cNvPr>
          <p:cNvSpPr>
            <a:spLocks noGrp="1"/>
          </p:cNvSpPr>
          <p:nvPr>
            <p:ph type="title"/>
          </p:nvPr>
        </p:nvSpPr>
        <p:spPr/>
        <p:txBody>
          <a:bodyPr/>
          <a:lstStyle/>
          <a:p>
            <a:r>
              <a:rPr lang="en-US" dirty="0"/>
              <a:t>ĐIỀU KHIỂN LUỒNG</a:t>
            </a:r>
          </a:p>
        </p:txBody>
      </p:sp>
    </p:spTree>
    <p:extLst>
      <p:ext uri="{BB962C8B-B14F-4D97-AF65-F5344CB8AC3E}">
        <p14:creationId xmlns:p14="http://schemas.microsoft.com/office/powerpoint/2010/main" val="3700165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DCBE6-0632-556E-D437-F64CD9FE1DC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2D52AB-26A9-56AD-1F5A-2FDB5BF9CC35}"/>
              </a:ext>
            </a:extLst>
          </p:cNvPr>
          <p:cNvSpPr>
            <a:spLocks noGrp="1"/>
          </p:cNvSpPr>
          <p:nvPr>
            <p:ph idx="1"/>
          </p:nvPr>
        </p:nvSpPr>
        <p:spPr>
          <a:xfrm>
            <a:off x="138224" y="799499"/>
            <a:ext cx="11897832" cy="5459412"/>
          </a:xfrm>
        </p:spPr>
        <p:txBody>
          <a:bodyPr>
            <a:normAutofit/>
          </a:bodyPr>
          <a:lstStyle/>
          <a:p>
            <a:r>
              <a:rPr lang="en-US" b="1" dirty="0" err="1">
                <a:solidFill>
                  <a:srgbClr val="FF0000"/>
                </a:solidFill>
              </a:rPr>
              <a:t>Rẻ</a:t>
            </a:r>
            <a:r>
              <a:rPr lang="en-US" b="1" dirty="0">
                <a:solidFill>
                  <a:srgbClr val="FF0000"/>
                </a:solidFill>
              </a:rPr>
              <a:t> </a:t>
            </a:r>
            <a:r>
              <a:rPr lang="en-US" b="1" dirty="0" err="1">
                <a:solidFill>
                  <a:srgbClr val="FF0000"/>
                </a:solidFill>
              </a:rPr>
              <a:t>nhánh</a:t>
            </a:r>
            <a:r>
              <a:rPr lang="en-US" b="1" dirty="0">
                <a:solidFill>
                  <a:srgbClr val="FF0000"/>
                </a:solidFill>
              </a:rPr>
              <a:t> </a:t>
            </a:r>
            <a:r>
              <a:rPr lang="en-US" b="1" dirty="0" err="1">
                <a:solidFill>
                  <a:srgbClr val="FF0000"/>
                </a:solidFill>
              </a:rPr>
              <a:t>theo</a:t>
            </a:r>
            <a:r>
              <a:rPr lang="en-US" b="1" dirty="0">
                <a:solidFill>
                  <a:srgbClr val="FF0000"/>
                </a:solidFill>
              </a:rPr>
              <a:t> </a:t>
            </a:r>
            <a:r>
              <a:rPr lang="en-US" b="1" dirty="0" err="1">
                <a:solidFill>
                  <a:srgbClr val="FF0000"/>
                </a:solidFill>
              </a:rPr>
              <a:t>giá</a:t>
            </a:r>
            <a:r>
              <a:rPr lang="en-US" b="1" dirty="0">
                <a:solidFill>
                  <a:srgbClr val="FF0000"/>
                </a:solidFill>
              </a:rPr>
              <a:t> </a:t>
            </a:r>
            <a:r>
              <a:rPr lang="en-US" b="1" dirty="0" err="1">
                <a:solidFill>
                  <a:srgbClr val="FF0000"/>
                </a:solidFill>
              </a:rPr>
              <a:t>trị</a:t>
            </a:r>
            <a:r>
              <a:rPr lang="en-US" b="1" dirty="0">
                <a:solidFill>
                  <a:srgbClr val="FF0000"/>
                </a:solidFill>
              </a:rPr>
              <a:t>(switch-case)</a:t>
            </a:r>
          </a:p>
          <a:p>
            <a:endParaRPr lang="en-US" b="1" dirty="0"/>
          </a:p>
        </p:txBody>
      </p:sp>
      <p:sp>
        <p:nvSpPr>
          <p:cNvPr id="3" name="Footer Placeholder 2">
            <a:extLst>
              <a:ext uri="{FF2B5EF4-FFF2-40B4-BE49-F238E27FC236}">
                <a16:creationId xmlns:a16="http://schemas.microsoft.com/office/drawing/2014/main" id="{D6889ACE-5D73-A023-5346-397529BB1DFE}"/>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162F5AD3-15DD-0577-D30E-AAF439F6EC96}"/>
              </a:ext>
            </a:extLst>
          </p:cNvPr>
          <p:cNvSpPr>
            <a:spLocks noGrp="1"/>
          </p:cNvSpPr>
          <p:nvPr>
            <p:ph type="sldNum" sz="quarter" idx="4"/>
          </p:nvPr>
        </p:nvSpPr>
        <p:spPr/>
        <p:txBody>
          <a:bodyPr/>
          <a:lstStyle/>
          <a:p>
            <a:fld id="{3A02590D-67BD-4DF2-8CAA-B9002293EB8E}" type="slidenum">
              <a:rPr lang="en-US" smtClean="0"/>
              <a:pPr/>
              <a:t>23</a:t>
            </a:fld>
            <a:endParaRPr lang="en-US" dirty="0"/>
          </a:p>
        </p:txBody>
      </p:sp>
      <p:sp>
        <p:nvSpPr>
          <p:cNvPr id="5" name="Title 4">
            <a:extLst>
              <a:ext uri="{FF2B5EF4-FFF2-40B4-BE49-F238E27FC236}">
                <a16:creationId xmlns:a16="http://schemas.microsoft.com/office/drawing/2014/main" id="{BF06FC8C-E6B4-77D8-91D9-9D7DCE5B5B4A}"/>
              </a:ext>
            </a:extLst>
          </p:cNvPr>
          <p:cNvSpPr>
            <a:spLocks noGrp="1"/>
          </p:cNvSpPr>
          <p:nvPr>
            <p:ph type="title"/>
          </p:nvPr>
        </p:nvSpPr>
        <p:spPr/>
        <p:txBody>
          <a:bodyPr/>
          <a:lstStyle/>
          <a:p>
            <a:r>
              <a:rPr lang="en-US" dirty="0"/>
              <a:t>ĐIỀU KHIỂN LUỒNG</a:t>
            </a:r>
          </a:p>
        </p:txBody>
      </p:sp>
      <p:graphicFrame>
        <p:nvGraphicFramePr>
          <p:cNvPr id="6" name="Table 5">
            <a:extLst>
              <a:ext uri="{FF2B5EF4-FFF2-40B4-BE49-F238E27FC236}">
                <a16:creationId xmlns:a16="http://schemas.microsoft.com/office/drawing/2014/main" id="{14005938-FA28-10FA-D3B7-7444FAF0018A}"/>
              </a:ext>
            </a:extLst>
          </p:cNvPr>
          <p:cNvGraphicFramePr>
            <a:graphicFrameLocks noGrp="1"/>
          </p:cNvGraphicFramePr>
          <p:nvPr>
            <p:extLst>
              <p:ext uri="{D42A27DB-BD31-4B8C-83A1-F6EECF244321}">
                <p14:modId xmlns:p14="http://schemas.microsoft.com/office/powerpoint/2010/main" val="3080653452"/>
              </p:ext>
            </p:extLst>
          </p:nvPr>
        </p:nvGraphicFramePr>
        <p:xfrm>
          <a:off x="138224" y="1254201"/>
          <a:ext cx="11897832" cy="5151120"/>
        </p:xfrm>
        <a:graphic>
          <a:graphicData uri="http://schemas.openxmlformats.org/drawingml/2006/table">
            <a:tbl>
              <a:tblPr firstRow="1" bandRow="1">
                <a:tableStyleId>{5C22544A-7EE6-4342-B048-85BDC9FD1C3A}</a:tableStyleId>
              </a:tblPr>
              <a:tblGrid>
                <a:gridCol w="5454502">
                  <a:extLst>
                    <a:ext uri="{9D8B030D-6E8A-4147-A177-3AD203B41FA5}">
                      <a16:colId xmlns:a16="http://schemas.microsoft.com/office/drawing/2014/main" val="3560178902"/>
                    </a:ext>
                  </a:extLst>
                </a:gridCol>
                <a:gridCol w="6443330">
                  <a:extLst>
                    <a:ext uri="{9D8B030D-6E8A-4147-A177-3AD203B41FA5}">
                      <a16:colId xmlns:a16="http://schemas.microsoft.com/office/drawing/2014/main" val="1518609152"/>
                    </a:ext>
                  </a:extLst>
                </a:gridCol>
              </a:tblGrid>
              <a:tr h="372035">
                <a:tc>
                  <a:txBody>
                    <a:bodyPr/>
                    <a:lstStyle/>
                    <a:p>
                      <a:r>
                        <a:rPr lang="en-US" sz="1900" dirty="0">
                          <a:latin typeface="Times New Roman" panose="02020603050405020304" pitchFamily="18" charset="0"/>
                          <a:cs typeface="Times New Roman" panose="02020603050405020304" pitchFamily="18" charset="0"/>
                        </a:rPr>
                        <a:t>Cú </a:t>
                      </a:r>
                      <a:r>
                        <a:rPr lang="en-US" sz="1900" dirty="0" err="1">
                          <a:latin typeface="Times New Roman" panose="02020603050405020304" pitchFamily="18" charset="0"/>
                          <a:cs typeface="Times New Roman" panose="02020603050405020304" pitchFamily="18" charset="0"/>
                        </a:rPr>
                        <a:t>pháp</a:t>
                      </a:r>
                      <a:endParaRPr lang="en-US" sz="1900" dirty="0">
                        <a:latin typeface="Times New Roman" panose="02020603050405020304" pitchFamily="18" charset="0"/>
                        <a:cs typeface="Times New Roman" panose="02020603050405020304" pitchFamily="18" charset="0"/>
                      </a:endParaRPr>
                    </a:p>
                  </a:txBody>
                  <a:tcPr/>
                </a:tc>
                <a:tc>
                  <a:txBody>
                    <a:bodyPr/>
                    <a:lstStyle/>
                    <a:p>
                      <a:r>
                        <a:rPr lang="en-US" sz="1900" dirty="0" err="1">
                          <a:latin typeface="Times New Roman" panose="02020603050405020304" pitchFamily="18" charset="0"/>
                          <a:cs typeface="Times New Roman" panose="02020603050405020304" pitchFamily="18" charset="0"/>
                        </a:rPr>
                        <a:t>Ví</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dụ</a:t>
                      </a:r>
                      <a:endParaRPr lang="en-US" sz="19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16387665"/>
                  </a:ext>
                </a:extLst>
              </a:tr>
              <a:tr h="4664747">
                <a:tc>
                  <a:txBody>
                    <a:bodyPr/>
                    <a:lstStyle/>
                    <a:p>
                      <a:r>
                        <a:rPr lang="en-US" sz="1900" b="1" dirty="0">
                          <a:solidFill>
                            <a:srgbClr val="CC0099"/>
                          </a:solidFill>
                          <a:latin typeface="Times New Roman" panose="02020603050405020304" pitchFamily="18" charset="0"/>
                          <a:cs typeface="Times New Roman" panose="02020603050405020304" pitchFamily="18" charset="0"/>
                        </a:rPr>
                        <a:t>switch</a:t>
                      </a:r>
                      <a:r>
                        <a:rPr lang="en-US" sz="1900" dirty="0">
                          <a:latin typeface="Times New Roman" panose="02020603050405020304" pitchFamily="18" charset="0"/>
                          <a:cs typeface="Times New Roman" panose="02020603050405020304" pitchFamily="18" charset="0"/>
                        </a:rPr>
                        <a:t> (</a:t>
                      </a:r>
                      <a:r>
                        <a:rPr lang="en-US" sz="1900" dirty="0" err="1">
                          <a:solidFill>
                            <a:srgbClr val="CC0099"/>
                          </a:solidFill>
                          <a:latin typeface="Times New Roman" panose="02020603050405020304" pitchFamily="18" charset="0"/>
                          <a:cs typeface="Times New Roman" panose="02020603050405020304" pitchFamily="18" charset="0"/>
                        </a:rPr>
                        <a:t>bieu_thuc</a:t>
                      </a:r>
                      <a:r>
                        <a:rPr lang="en-US" sz="1900" dirty="0">
                          <a:latin typeface="Times New Roman" panose="02020603050405020304" pitchFamily="18" charset="0"/>
                          <a:cs typeface="Times New Roman" panose="02020603050405020304" pitchFamily="18" charset="0"/>
                        </a:rPr>
                        <a:t>) {</a:t>
                      </a:r>
                    </a:p>
                    <a:p>
                      <a:r>
                        <a:rPr lang="en-US" sz="1900" dirty="0">
                          <a:latin typeface="Times New Roman" panose="02020603050405020304" pitchFamily="18" charset="0"/>
                          <a:cs typeface="Times New Roman" panose="02020603050405020304" pitchFamily="18" charset="0"/>
                        </a:rPr>
                        <a:t>  </a:t>
                      </a:r>
                      <a:r>
                        <a:rPr lang="en-US" sz="1900" b="1" dirty="0">
                          <a:solidFill>
                            <a:srgbClr val="CC0099"/>
                          </a:solidFill>
                          <a:latin typeface="Times New Roman" panose="02020603050405020304" pitchFamily="18" charset="0"/>
                          <a:cs typeface="Times New Roman" panose="02020603050405020304" pitchFamily="18" charset="0"/>
                        </a:rPr>
                        <a:t>case</a:t>
                      </a: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gia_tri_1:</a:t>
                      </a:r>
                    </a:p>
                    <a:p>
                      <a:r>
                        <a:rPr lang="en-US" sz="1900" dirty="0">
                          <a:latin typeface="Times New Roman" panose="02020603050405020304" pitchFamily="18" charset="0"/>
                          <a:cs typeface="Times New Roman" panose="02020603050405020304" pitchFamily="18" charset="0"/>
                        </a:rPr>
                        <a:t>    // </a:t>
                      </a:r>
                      <a:r>
                        <a:rPr lang="en-US" sz="1900" dirty="0" err="1">
                          <a:latin typeface="Times New Roman" panose="02020603050405020304" pitchFamily="18" charset="0"/>
                          <a:cs typeface="Times New Roman" panose="02020603050405020304" pitchFamily="18" charset="0"/>
                        </a:rPr>
                        <a:t>Câu</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lệnh</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khi</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bieu_thuc</a:t>
                      </a:r>
                      <a:r>
                        <a:rPr lang="en-US" sz="1900" dirty="0">
                          <a:latin typeface="Times New Roman" panose="02020603050405020304" pitchFamily="18" charset="0"/>
                          <a:cs typeface="Times New Roman" panose="02020603050405020304" pitchFamily="18" charset="0"/>
                        </a:rPr>
                        <a:t> === gia_tri_1</a:t>
                      </a:r>
                    </a:p>
                    <a:p>
                      <a:r>
                        <a:rPr lang="en-US" sz="1900" dirty="0">
                          <a:latin typeface="Times New Roman" panose="02020603050405020304" pitchFamily="18" charset="0"/>
                          <a:cs typeface="Times New Roman" panose="02020603050405020304" pitchFamily="18" charset="0"/>
                        </a:rPr>
                        <a:t>    </a:t>
                      </a:r>
                      <a:r>
                        <a:rPr lang="en-US" sz="1900" b="1" dirty="0">
                          <a:solidFill>
                            <a:srgbClr val="CC0099"/>
                          </a:solidFill>
                          <a:latin typeface="Times New Roman" panose="02020603050405020304" pitchFamily="18" charset="0"/>
                          <a:cs typeface="Times New Roman" panose="02020603050405020304" pitchFamily="18" charset="0"/>
                        </a:rPr>
                        <a:t>break</a:t>
                      </a:r>
                      <a:r>
                        <a:rPr lang="en-US" sz="1900" dirty="0">
                          <a:latin typeface="Times New Roman" panose="02020603050405020304" pitchFamily="18" charset="0"/>
                          <a:cs typeface="Times New Roman" panose="02020603050405020304" pitchFamily="18" charset="0"/>
                        </a:rPr>
                        <a:t>;</a:t>
                      </a: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  </a:t>
                      </a:r>
                      <a:r>
                        <a:rPr lang="en-US" sz="1900" b="1" dirty="0">
                          <a:solidFill>
                            <a:srgbClr val="CC0099"/>
                          </a:solidFill>
                          <a:latin typeface="Times New Roman" panose="02020603050405020304" pitchFamily="18" charset="0"/>
                          <a:cs typeface="Times New Roman" panose="02020603050405020304" pitchFamily="18" charset="0"/>
                        </a:rPr>
                        <a:t>case</a:t>
                      </a:r>
                      <a:r>
                        <a:rPr lang="en-US" sz="1900" dirty="0">
                          <a:latin typeface="Times New Roman" panose="02020603050405020304" pitchFamily="18" charset="0"/>
                          <a:cs typeface="Times New Roman" panose="02020603050405020304" pitchFamily="18" charset="0"/>
                        </a:rPr>
                        <a:t> gia_tri_2:</a:t>
                      </a:r>
                    </a:p>
                    <a:p>
                      <a:r>
                        <a:rPr lang="en-US" sz="1900" dirty="0">
                          <a:latin typeface="Times New Roman" panose="02020603050405020304" pitchFamily="18" charset="0"/>
                          <a:cs typeface="Times New Roman" panose="02020603050405020304" pitchFamily="18" charset="0"/>
                        </a:rPr>
                        <a:t>    // </a:t>
                      </a:r>
                      <a:r>
                        <a:rPr lang="en-US" sz="1900" dirty="0" err="1">
                          <a:latin typeface="Times New Roman" panose="02020603050405020304" pitchFamily="18" charset="0"/>
                          <a:cs typeface="Times New Roman" panose="02020603050405020304" pitchFamily="18" charset="0"/>
                        </a:rPr>
                        <a:t>Câu</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lệnh</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khi</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bieu_thuc</a:t>
                      </a:r>
                      <a:r>
                        <a:rPr lang="en-US" sz="1900" dirty="0">
                          <a:latin typeface="Times New Roman" panose="02020603050405020304" pitchFamily="18" charset="0"/>
                          <a:cs typeface="Times New Roman" panose="02020603050405020304" pitchFamily="18" charset="0"/>
                        </a:rPr>
                        <a:t> === gia_tri_2</a:t>
                      </a:r>
                    </a:p>
                    <a:p>
                      <a:r>
                        <a:rPr lang="en-US" sz="1900" dirty="0">
                          <a:latin typeface="Times New Roman" panose="02020603050405020304" pitchFamily="18" charset="0"/>
                          <a:cs typeface="Times New Roman" panose="02020603050405020304" pitchFamily="18" charset="0"/>
                        </a:rPr>
                        <a:t>    </a:t>
                      </a:r>
                      <a:r>
                        <a:rPr lang="en-US" sz="1900" b="1" dirty="0">
                          <a:solidFill>
                            <a:srgbClr val="CC0099"/>
                          </a:solidFill>
                          <a:latin typeface="Times New Roman" panose="02020603050405020304" pitchFamily="18" charset="0"/>
                          <a:cs typeface="Times New Roman" panose="02020603050405020304" pitchFamily="18" charset="0"/>
                        </a:rPr>
                        <a:t>break</a:t>
                      </a:r>
                      <a:r>
                        <a:rPr lang="en-US" sz="1900" dirty="0">
                          <a:latin typeface="Times New Roman" panose="02020603050405020304" pitchFamily="18" charset="0"/>
                          <a:cs typeface="Times New Roman" panose="02020603050405020304" pitchFamily="18" charset="0"/>
                        </a:rPr>
                        <a:t>;</a:t>
                      </a: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  ...</a:t>
                      </a: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  </a:t>
                      </a:r>
                      <a:r>
                        <a:rPr lang="en-US" sz="1900" b="1" dirty="0">
                          <a:solidFill>
                            <a:srgbClr val="CC0099"/>
                          </a:solidFill>
                          <a:latin typeface="Times New Roman" panose="02020603050405020304" pitchFamily="18" charset="0"/>
                          <a:cs typeface="Times New Roman" panose="02020603050405020304" pitchFamily="18" charset="0"/>
                        </a:rPr>
                        <a:t>default</a:t>
                      </a:r>
                      <a:r>
                        <a:rPr lang="en-US" sz="1900" dirty="0">
                          <a:latin typeface="Times New Roman" panose="02020603050405020304" pitchFamily="18" charset="0"/>
                          <a:cs typeface="Times New Roman" panose="02020603050405020304" pitchFamily="18" charset="0"/>
                        </a:rPr>
                        <a:t>:</a:t>
                      </a:r>
                    </a:p>
                    <a:p>
                      <a:r>
                        <a:rPr lang="en-US" sz="1900" dirty="0">
                          <a:latin typeface="Times New Roman" panose="02020603050405020304" pitchFamily="18" charset="0"/>
                          <a:cs typeface="Times New Roman" panose="02020603050405020304" pitchFamily="18" charset="0"/>
                        </a:rPr>
                        <a:t>    // </a:t>
                      </a:r>
                      <a:r>
                        <a:rPr lang="en-US" sz="1900" dirty="0" err="1">
                          <a:latin typeface="Times New Roman" panose="02020603050405020304" pitchFamily="18" charset="0"/>
                          <a:cs typeface="Times New Roman" panose="02020603050405020304" pitchFamily="18" charset="0"/>
                        </a:rPr>
                        <a:t>Câu</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lệnh</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khi</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không</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khớp</a:t>
                      </a:r>
                      <a:r>
                        <a:rPr lang="en-US" sz="1900" dirty="0">
                          <a:latin typeface="Times New Roman" panose="02020603050405020304" pitchFamily="18" charset="0"/>
                          <a:cs typeface="Times New Roman" panose="02020603050405020304" pitchFamily="18" charset="0"/>
                        </a:rPr>
                        <a:t> case </a:t>
                      </a:r>
                      <a:r>
                        <a:rPr lang="en-US" sz="1900" dirty="0" err="1">
                          <a:latin typeface="Times New Roman" panose="02020603050405020304" pitchFamily="18" charset="0"/>
                          <a:cs typeface="Times New Roman" panose="02020603050405020304" pitchFamily="18" charset="0"/>
                        </a:rPr>
                        <a:t>nào</a:t>
                      </a:r>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a:t>
                      </a:r>
                    </a:p>
                    <a:p>
                      <a:endParaRPr lang="en-US" sz="1900" dirty="0">
                        <a:latin typeface="Times New Roman" panose="02020603050405020304" pitchFamily="18" charset="0"/>
                        <a:cs typeface="Times New Roman" panose="02020603050405020304" pitchFamily="18" charset="0"/>
                      </a:endParaRPr>
                    </a:p>
                  </a:txBody>
                  <a:tcPr/>
                </a:tc>
                <a:tc>
                  <a:txBody>
                    <a:bodyPr/>
                    <a:lstStyle/>
                    <a:p>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let</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role</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 </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string</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 "</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admin</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a:t>
                      </a:r>
                    </a:p>
                    <a:p>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let</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quyen_han</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 </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string</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 ""</a:t>
                      </a:r>
                    </a:p>
                    <a:p>
                      <a:r>
                        <a:rPr lang="vi-VN" sz="1800" b="0" kern="1200" dirty="0" err="1">
                          <a:solidFill>
                            <a:srgbClr val="CC0099"/>
                          </a:solidFill>
                          <a:effectLst/>
                          <a:latin typeface="Times New Roman" panose="02020603050405020304" pitchFamily="18" charset="0"/>
                          <a:ea typeface="+mn-ea"/>
                          <a:cs typeface="Times New Roman" panose="02020603050405020304" pitchFamily="18" charset="0"/>
                        </a:rPr>
                        <a:t>switch</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role</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p>
                    <a:p>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rgbClr val="CC0099"/>
                          </a:solidFill>
                          <a:effectLst/>
                          <a:latin typeface="Times New Roman" panose="02020603050405020304" pitchFamily="18" charset="0"/>
                          <a:ea typeface="+mn-ea"/>
                          <a:cs typeface="Times New Roman" panose="02020603050405020304" pitchFamily="18" charset="0"/>
                        </a:rPr>
                        <a:t>case</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admin</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a:t>
                      </a:r>
                    </a:p>
                    <a:p>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quyen_han</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 "Toàn quyền hệ thống";</a:t>
                      </a:r>
                    </a:p>
                    <a:p>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rgbClr val="CC0099"/>
                          </a:solidFill>
                          <a:effectLst/>
                          <a:latin typeface="Times New Roman" panose="02020603050405020304" pitchFamily="18" charset="0"/>
                          <a:ea typeface="+mn-ea"/>
                          <a:cs typeface="Times New Roman" panose="02020603050405020304" pitchFamily="18" charset="0"/>
                        </a:rPr>
                        <a:t>break</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a:t>
                      </a:r>
                    </a:p>
                    <a:p>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rgbClr val="CC0099"/>
                          </a:solidFill>
                          <a:effectLst/>
                          <a:latin typeface="Times New Roman" panose="02020603050405020304" pitchFamily="18" charset="0"/>
                          <a:ea typeface="+mn-ea"/>
                          <a:cs typeface="Times New Roman" panose="02020603050405020304" pitchFamily="18" charset="0"/>
                        </a:rPr>
                        <a:t>case</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editor</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a:t>
                      </a:r>
                    </a:p>
                    <a:p>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quyen_han</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 "Được chỉnh sửa nội dung";</a:t>
                      </a:r>
                    </a:p>
                    <a:p>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rgbClr val="CC0099"/>
                          </a:solidFill>
                          <a:effectLst/>
                          <a:latin typeface="Times New Roman" panose="02020603050405020304" pitchFamily="18" charset="0"/>
                          <a:ea typeface="+mn-ea"/>
                          <a:cs typeface="Times New Roman" panose="02020603050405020304" pitchFamily="18" charset="0"/>
                        </a:rPr>
                        <a:t>break</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a:t>
                      </a:r>
                    </a:p>
                    <a:p>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rgbClr val="CC0099"/>
                          </a:solidFill>
                          <a:effectLst/>
                          <a:latin typeface="Times New Roman" panose="02020603050405020304" pitchFamily="18" charset="0"/>
                          <a:ea typeface="+mn-ea"/>
                          <a:cs typeface="Times New Roman" panose="02020603050405020304" pitchFamily="18" charset="0"/>
                        </a:rPr>
                        <a:t>case</a:t>
                      </a:r>
                      <a:r>
                        <a:rPr lang="vi-VN" sz="1800" b="0" kern="1200" dirty="0">
                          <a:solidFill>
                            <a:srgbClr val="CC0099"/>
                          </a:solidFill>
                          <a:effectLst/>
                          <a:latin typeface="Times New Roman" panose="02020603050405020304" pitchFamily="18" charset="0"/>
                          <a:ea typeface="+mn-ea"/>
                          <a:cs typeface="Times New Roman" panose="02020603050405020304" pitchFamily="18" charset="0"/>
                        </a:rPr>
                        <a:t> </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viewer</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a:t>
                      </a:r>
                    </a:p>
                    <a:p>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quyen_han</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 "Chỉ được xem";</a:t>
                      </a:r>
                    </a:p>
                    <a:p>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rgbClr val="CC0099"/>
                          </a:solidFill>
                          <a:effectLst/>
                          <a:latin typeface="Times New Roman" panose="02020603050405020304" pitchFamily="18" charset="0"/>
                          <a:ea typeface="+mn-ea"/>
                          <a:cs typeface="Times New Roman" panose="02020603050405020304" pitchFamily="18" charset="0"/>
                        </a:rPr>
                        <a:t>break</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a:t>
                      </a:r>
                    </a:p>
                    <a:p>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default</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a:t>
                      </a:r>
                    </a:p>
                    <a:p>
                      <a:r>
                        <a:rPr lang="vi-VN" sz="1800" b="0" kern="1200" dirty="0">
                          <a:solidFill>
                            <a:schemeClr val="dk1"/>
                          </a:solidFill>
                          <a:effectLst/>
                          <a:latin typeface="Times New Roman" panose="02020603050405020304" pitchFamily="18" charset="0"/>
                          <a:ea typeface="+mn-ea"/>
                          <a:cs typeface="Times New Roman" panose="02020603050405020304" pitchFamily="18" charset="0"/>
                        </a:rPr>
                        <a:t>    </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quyen_han</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 = "Vai trò không xác định";</a:t>
                      </a:r>
                    </a:p>
                    <a:p>
                      <a:r>
                        <a:rPr lang="vi-VN" sz="1800" b="0" kern="1200" dirty="0">
                          <a:solidFill>
                            <a:schemeClr val="dk1"/>
                          </a:solidFill>
                          <a:effectLst/>
                          <a:latin typeface="Times New Roman" panose="02020603050405020304" pitchFamily="18" charset="0"/>
                          <a:ea typeface="+mn-ea"/>
                          <a:cs typeface="Times New Roman" panose="02020603050405020304" pitchFamily="18" charset="0"/>
                        </a:rPr>
                        <a:t>}</a:t>
                      </a:r>
                    </a:p>
                    <a:p>
                      <a:r>
                        <a:rPr lang="vi-VN" sz="1800" b="0" kern="1200" dirty="0">
                          <a:solidFill>
                            <a:schemeClr val="dk1"/>
                          </a:solidFill>
                          <a:effectLst/>
                          <a:latin typeface="Times New Roman" panose="02020603050405020304" pitchFamily="18" charset="0"/>
                          <a:ea typeface="+mn-ea"/>
                          <a:cs typeface="Times New Roman" panose="02020603050405020304" pitchFamily="18" charset="0"/>
                        </a:rPr>
                        <a:t>console.log(</a:t>
                      </a:r>
                      <a:r>
                        <a:rPr lang="vi-VN" sz="1800" b="0" kern="1200" dirty="0" err="1">
                          <a:solidFill>
                            <a:schemeClr val="dk1"/>
                          </a:solidFill>
                          <a:effectLst/>
                          <a:latin typeface="Times New Roman" panose="02020603050405020304" pitchFamily="18" charset="0"/>
                          <a:ea typeface="+mn-ea"/>
                          <a:cs typeface="Times New Roman" panose="02020603050405020304" pitchFamily="18" charset="0"/>
                        </a:rPr>
                        <a:t>quyen_han</a:t>
                      </a:r>
                      <a:r>
                        <a:rPr lang="vi-VN" sz="1800" b="0" kern="1200" dirty="0">
                          <a:solidFill>
                            <a:schemeClr val="dk1"/>
                          </a:solidFill>
                          <a:effectLst/>
                          <a:latin typeface="Times New Roman" panose="02020603050405020304" pitchFamily="18" charset="0"/>
                          <a:ea typeface="+mn-ea"/>
                          <a:cs typeface="Times New Roman" panose="02020603050405020304" pitchFamily="18" charset="0"/>
                        </a:rPr>
                        <a:t>);</a:t>
                      </a:r>
                    </a:p>
                    <a:p>
                      <a:endParaRPr lang="en-US" sz="19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60313632"/>
                  </a:ext>
                </a:extLst>
              </a:tr>
            </a:tbl>
          </a:graphicData>
        </a:graphic>
      </p:graphicFrame>
    </p:spTree>
    <p:extLst>
      <p:ext uri="{BB962C8B-B14F-4D97-AF65-F5344CB8AC3E}">
        <p14:creationId xmlns:p14="http://schemas.microsoft.com/office/powerpoint/2010/main" val="3794627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F53C85-A7EE-C41B-D7C0-8DA9EC698A26}"/>
              </a:ext>
            </a:extLst>
          </p:cNvPr>
          <p:cNvSpPr>
            <a:spLocks noGrp="1"/>
          </p:cNvSpPr>
          <p:nvPr>
            <p:ph idx="1"/>
          </p:nvPr>
        </p:nvSpPr>
        <p:spPr>
          <a:xfrm>
            <a:off x="483476" y="945133"/>
            <a:ext cx="11225047" cy="5234152"/>
          </a:xfrm>
        </p:spPr>
        <p:txBody>
          <a:bodyPr/>
          <a:lstStyle/>
          <a:p>
            <a:r>
              <a:rPr lang="vi-VN" dirty="0"/>
              <a:t>Đề </a:t>
            </a:r>
            <a:r>
              <a:rPr lang="vi-VN" dirty="0" err="1"/>
              <a:t>bài:Nhập</a:t>
            </a:r>
            <a:r>
              <a:rPr lang="vi-VN" dirty="0"/>
              <a:t> vào 1 số bất kỳ từ bàn phím</a:t>
            </a:r>
          </a:p>
          <a:p>
            <a:pPr lvl="1"/>
            <a:r>
              <a:rPr lang="vi-VN" dirty="0"/>
              <a:t>Nếu người dùng nhập vào số không hợp lệ: Thông báo “Dữ liệu không</a:t>
            </a:r>
            <a:r>
              <a:rPr lang="en-US" dirty="0"/>
              <a:t> </a:t>
            </a:r>
            <a:r>
              <a:rPr lang="vi-VN" dirty="0"/>
              <a:t>phải là số, vui lòng nhập lại”.</a:t>
            </a:r>
          </a:p>
          <a:p>
            <a:pPr lvl="1"/>
            <a:r>
              <a:rPr lang="vi-VN" dirty="0"/>
              <a:t>Nếu hợp lệ, kiểm tra số nhập vào là số chẵn / lẻ</a:t>
            </a:r>
          </a:p>
          <a:p>
            <a:pPr lvl="1"/>
            <a:r>
              <a:rPr lang="vi-VN" dirty="0"/>
              <a:t>In ra kết quả trên màn hình </a:t>
            </a:r>
            <a:r>
              <a:rPr lang="vi-VN" dirty="0" err="1"/>
              <a:t>console</a:t>
            </a:r>
            <a:endParaRPr lang="en-US" dirty="0"/>
          </a:p>
        </p:txBody>
      </p:sp>
      <p:sp>
        <p:nvSpPr>
          <p:cNvPr id="3" name="Footer Placeholder 2">
            <a:extLst>
              <a:ext uri="{FF2B5EF4-FFF2-40B4-BE49-F238E27FC236}">
                <a16:creationId xmlns:a16="http://schemas.microsoft.com/office/drawing/2014/main" id="{14B6F0DE-F049-10C1-CDE0-5A9AB5F5D1E1}"/>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F3849E18-1D5E-4ADF-7079-454AC40E3D9C}"/>
              </a:ext>
            </a:extLst>
          </p:cNvPr>
          <p:cNvSpPr>
            <a:spLocks noGrp="1"/>
          </p:cNvSpPr>
          <p:nvPr>
            <p:ph type="sldNum" sz="quarter" idx="4"/>
          </p:nvPr>
        </p:nvSpPr>
        <p:spPr/>
        <p:txBody>
          <a:bodyPr/>
          <a:lstStyle/>
          <a:p>
            <a:fld id="{3A02590D-67BD-4DF2-8CAA-B9002293EB8E}" type="slidenum">
              <a:rPr lang="en-US" smtClean="0"/>
              <a:pPr/>
              <a:t>24</a:t>
            </a:fld>
            <a:endParaRPr lang="en-US" dirty="0"/>
          </a:p>
        </p:txBody>
      </p:sp>
      <p:sp>
        <p:nvSpPr>
          <p:cNvPr id="5" name="Title 4">
            <a:extLst>
              <a:ext uri="{FF2B5EF4-FFF2-40B4-BE49-F238E27FC236}">
                <a16:creationId xmlns:a16="http://schemas.microsoft.com/office/drawing/2014/main" id="{D715707D-A494-C41C-D7ED-9626B0DEA1A8}"/>
              </a:ext>
            </a:extLst>
          </p:cNvPr>
          <p:cNvSpPr>
            <a:spLocks noGrp="1"/>
          </p:cNvSpPr>
          <p:nvPr>
            <p:ph type="title"/>
          </p:nvPr>
        </p:nvSpPr>
        <p:spPr/>
        <p:txBody>
          <a:bodyPr/>
          <a:lstStyle/>
          <a:p>
            <a:r>
              <a:rPr lang="en-US" dirty="0" err="1"/>
              <a:t>Bài</a:t>
            </a:r>
            <a:r>
              <a:rPr lang="en-US" dirty="0"/>
              <a:t> </a:t>
            </a:r>
            <a:r>
              <a:rPr lang="en-US" dirty="0" err="1"/>
              <a:t>tập</a:t>
            </a:r>
            <a:r>
              <a:rPr lang="en-US" dirty="0"/>
              <a:t> </a:t>
            </a:r>
            <a:r>
              <a:rPr lang="en-US" dirty="0" err="1"/>
              <a:t>thực</a:t>
            </a:r>
            <a:r>
              <a:rPr lang="en-US" dirty="0"/>
              <a:t> </a:t>
            </a:r>
            <a:r>
              <a:rPr lang="en-US" dirty="0" err="1"/>
              <a:t>hành</a:t>
            </a:r>
            <a:r>
              <a:rPr lang="en-US" dirty="0"/>
              <a:t> </a:t>
            </a:r>
            <a:r>
              <a:rPr lang="en-US" dirty="0" err="1"/>
              <a:t>số</a:t>
            </a:r>
            <a:r>
              <a:rPr lang="en-US" dirty="0"/>
              <a:t> 2</a:t>
            </a:r>
          </a:p>
        </p:txBody>
      </p:sp>
    </p:spTree>
    <p:extLst>
      <p:ext uri="{BB962C8B-B14F-4D97-AF65-F5344CB8AC3E}">
        <p14:creationId xmlns:p14="http://schemas.microsoft.com/office/powerpoint/2010/main" val="2912952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25474-9157-5E4D-DA0A-89F90F713AE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C9E76B-72FC-F526-E8AC-071B9691B02B}"/>
              </a:ext>
            </a:extLst>
          </p:cNvPr>
          <p:cNvSpPr>
            <a:spLocks noGrp="1"/>
          </p:cNvSpPr>
          <p:nvPr>
            <p:ph idx="1"/>
          </p:nvPr>
        </p:nvSpPr>
        <p:spPr>
          <a:xfrm>
            <a:off x="0" y="945132"/>
            <a:ext cx="11708523" cy="5458515"/>
          </a:xfrm>
        </p:spPr>
        <p:txBody>
          <a:bodyPr>
            <a:normAutofit/>
          </a:bodyPr>
          <a:lstStyle/>
          <a:p>
            <a:r>
              <a:rPr lang="vi-VN" b="1" dirty="0">
                <a:solidFill>
                  <a:srgbClr val="FF0000"/>
                </a:solidFill>
              </a:rPr>
              <a:t>Đề bài:</a:t>
            </a:r>
            <a:endParaRPr lang="vi-VN" dirty="0"/>
          </a:p>
          <a:p>
            <a:pPr lvl="1"/>
            <a:r>
              <a:rPr lang="vi-VN" sz="2800" dirty="0"/>
              <a:t>Nhập vào một ký tự đại diện cho xếp loại học lực của sinh viên (A, B, C, D,F).</a:t>
            </a:r>
          </a:p>
          <a:p>
            <a:pPr lvl="1"/>
            <a:r>
              <a:rPr lang="vi-VN" sz="2800" dirty="0"/>
              <a:t>Sử dụng cấu trúc </a:t>
            </a:r>
            <a:r>
              <a:rPr lang="vi-VN" sz="2800" dirty="0" err="1"/>
              <a:t>switch</a:t>
            </a:r>
            <a:r>
              <a:rPr lang="vi-VN" sz="2800" dirty="0"/>
              <a:t>–</a:t>
            </a:r>
            <a:r>
              <a:rPr lang="vi-VN" sz="2800" dirty="0" err="1"/>
              <a:t>case</a:t>
            </a:r>
            <a:r>
              <a:rPr lang="vi-VN" sz="2800" dirty="0"/>
              <a:t> để:</a:t>
            </a:r>
          </a:p>
          <a:p>
            <a:pPr lvl="1"/>
            <a:r>
              <a:rPr lang="vi-VN" sz="2800" dirty="0"/>
              <a:t>In ra kết quả tương ứng:</a:t>
            </a:r>
          </a:p>
          <a:p>
            <a:pPr lvl="1"/>
            <a:endParaRPr lang="vi-VN" sz="2800" dirty="0"/>
          </a:p>
          <a:p>
            <a:pPr lvl="2"/>
            <a:r>
              <a:rPr lang="vi-VN" sz="2800" dirty="0"/>
              <a:t>A: Xuất sắc</a:t>
            </a:r>
          </a:p>
          <a:p>
            <a:pPr lvl="2"/>
            <a:r>
              <a:rPr lang="vi-VN" sz="2800" dirty="0"/>
              <a:t>B: Giỏi</a:t>
            </a:r>
          </a:p>
          <a:p>
            <a:pPr lvl="2"/>
            <a:r>
              <a:rPr lang="vi-VN" sz="2800" dirty="0"/>
              <a:t>C: Khá</a:t>
            </a:r>
          </a:p>
          <a:p>
            <a:pPr lvl="2"/>
            <a:r>
              <a:rPr lang="vi-VN" sz="2800" dirty="0"/>
              <a:t>D: Trung bình</a:t>
            </a:r>
          </a:p>
          <a:p>
            <a:pPr lvl="2"/>
            <a:r>
              <a:rPr lang="vi-VN" sz="2800" dirty="0"/>
              <a:t>F: Không đạt</a:t>
            </a:r>
          </a:p>
          <a:p>
            <a:pPr lvl="2"/>
            <a:r>
              <a:rPr lang="vi-VN" sz="2800" dirty="0"/>
              <a:t>Nếu nhập giá trị khác → in ra "Xếp loại không hợp lệ".</a:t>
            </a:r>
            <a:endParaRPr lang="en-US" sz="2800" dirty="0"/>
          </a:p>
        </p:txBody>
      </p:sp>
      <p:sp>
        <p:nvSpPr>
          <p:cNvPr id="3" name="Footer Placeholder 2">
            <a:extLst>
              <a:ext uri="{FF2B5EF4-FFF2-40B4-BE49-F238E27FC236}">
                <a16:creationId xmlns:a16="http://schemas.microsoft.com/office/drawing/2014/main" id="{A00301B7-CF45-9B57-8F76-72E30DAA47B7}"/>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B9A349B9-2C22-DCBE-B2C2-5341FBD4042F}"/>
              </a:ext>
            </a:extLst>
          </p:cNvPr>
          <p:cNvSpPr>
            <a:spLocks noGrp="1"/>
          </p:cNvSpPr>
          <p:nvPr>
            <p:ph type="sldNum" sz="quarter" idx="4"/>
          </p:nvPr>
        </p:nvSpPr>
        <p:spPr/>
        <p:txBody>
          <a:bodyPr/>
          <a:lstStyle/>
          <a:p>
            <a:fld id="{3A02590D-67BD-4DF2-8CAA-B9002293EB8E}" type="slidenum">
              <a:rPr lang="en-US" smtClean="0"/>
              <a:pPr/>
              <a:t>25</a:t>
            </a:fld>
            <a:endParaRPr lang="en-US" dirty="0"/>
          </a:p>
        </p:txBody>
      </p:sp>
      <p:sp>
        <p:nvSpPr>
          <p:cNvPr id="5" name="Title 4">
            <a:extLst>
              <a:ext uri="{FF2B5EF4-FFF2-40B4-BE49-F238E27FC236}">
                <a16:creationId xmlns:a16="http://schemas.microsoft.com/office/drawing/2014/main" id="{0446163E-D255-BC3E-D528-F0666F404380}"/>
              </a:ext>
            </a:extLst>
          </p:cNvPr>
          <p:cNvSpPr>
            <a:spLocks noGrp="1"/>
          </p:cNvSpPr>
          <p:nvPr>
            <p:ph type="title"/>
          </p:nvPr>
        </p:nvSpPr>
        <p:spPr/>
        <p:txBody>
          <a:bodyPr/>
          <a:lstStyle/>
          <a:p>
            <a:r>
              <a:rPr lang="en-US" dirty="0" err="1"/>
              <a:t>Bài</a:t>
            </a:r>
            <a:r>
              <a:rPr lang="en-US" dirty="0"/>
              <a:t> </a:t>
            </a:r>
            <a:r>
              <a:rPr lang="en-US" dirty="0" err="1"/>
              <a:t>tập</a:t>
            </a:r>
            <a:r>
              <a:rPr lang="en-US" dirty="0"/>
              <a:t> </a:t>
            </a:r>
            <a:r>
              <a:rPr lang="en-US" dirty="0" err="1"/>
              <a:t>thực</a:t>
            </a:r>
            <a:r>
              <a:rPr lang="en-US" dirty="0"/>
              <a:t> </a:t>
            </a:r>
            <a:r>
              <a:rPr lang="en-US" dirty="0" err="1"/>
              <a:t>hành</a:t>
            </a:r>
            <a:r>
              <a:rPr lang="en-US" dirty="0"/>
              <a:t> </a:t>
            </a:r>
            <a:r>
              <a:rPr lang="en-US" dirty="0" err="1"/>
              <a:t>số</a:t>
            </a:r>
            <a:r>
              <a:rPr lang="en-US" dirty="0"/>
              <a:t> 3</a:t>
            </a:r>
          </a:p>
        </p:txBody>
      </p:sp>
    </p:spTree>
    <p:extLst>
      <p:ext uri="{BB962C8B-B14F-4D97-AF65-F5344CB8AC3E}">
        <p14:creationId xmlns:p14="http://schemas.microsoft.com/office/powerpoint/2010/main" val="1026768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0E0D3E-AB46-288B-2753-9EDACBE953A0}"/>
              </a:ext>
            </a:extLst>
          </p:cNvPr>
          <p:cNvSpPr>
            <a:spLocks noGrp="1"/>
          </p:cNvSpPr>
          <p:nvPr>
            <p:ph idx="1"/>
          </p:nvPr>
        </p:nvSpPr>
        <p:spPr>
          <a:xfrm>
            <a:off x="143436" y="1024758"/>
            <a:ext cx="11649170" cy="5234152"/>
          </a:xfrm>
        </p:spPr>
        <p:txBody>
          <a:bodyPr/>
          <a:lstStyle/>
          <a:p>
            <a:r>
              <a:rPr lang="en-US" b="1" dirty="0" err="1"/>
              <a:t>Khái</a:t>
            </a:r>
            <a:r>
              <a:rPr lang="en-US" b="1" dirty="0"/>
              <a:t> </a:t>
            </a:r>
            <a:r>
              <a:rPr lang="en-US" b="1" dirty="0" err="1"/>
              <a:t>niệm</a:t>
            </a:r>
            <a:r>
              <a:rPr lang="en-US" b="1" dirty="0"/>
              <a:t>: </a:t>
            </a:r>
            <a:r>
              <a:rPr lang="en-US" b="1" dirty="0" err="1"/>
              <a:t>Vòng</a:t>
            </a:r>
            <a:r>
              <a:rPr lang="en-US" b="1" dirty="0"/>
              <a:t> </a:t>
            </a:r>
            <a:r>
              <a:rPr lang="en-US" b="1" dirty="0" err="1"/>
              <a:t>lặp</a:t>
            </a:r>
            <a:r>
              <a:rPr lang="en-US" b="1" dirty="0"/>
              <a:t> l</a:t>
            </a:r>
            <a:r>
              <a:rPr lang="vi-VN" dirty="0"/>
              <a:t>à một cấu trúc điều khiển được sử dụng để thực thi </a:t>
            </a:r>
            <a:r>
              <a:rPr lang="vi-VN" b="1" dirty="0"/>
              <a:t>một khối mã lặp đi lặp lại</a:t>
            </a:r>
            <a:r>
              <a:rPr lang="vi-VN" dirty="0"/>
              <a:t> dựa trên một điều kiện xác định.</a:t>
            </a:r>
            <a:endParaRPr lang="en-US" dirty="0"/>
          </a:p>
        </p:txBody>
      </p:sp>
      <p:sp>
        <p:nvSpPr>
          <p:cNvPr id="3" name="Footer Placeholder 2">
            <a:extLst>
              <a:ext uri="{FF2B5EF4-FFF2-40B4-BE49-F238E27FC236}">
                <a16:creationId xmlns:a16="http://schemas.microsoft.com/office/drawing/2014/main" id="{64540B3A-9CF7-894C-91AA-0AED64AEFC5E}"/>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15DABABB-3272-FD73-4C2A-7AD1D0847EE5}"/>
              </a:ext>
            </a:extLst>
          </p:cNvPr>
          <p:cNvSpPr>
            <a:spLocks noGrp="1"/>
          </p:cNvSpPr>
          <p:nvPr>
            <p:ph type="sldNum" sz="quarter" idx="4"/>
          </p:nvPr>
        </p:nvSpPr>
        <p:spPr/>
        <p:txBody>
          <a:bodyPr/>
          <a:lstStyle/>
          <a:p>
            <a:fld id="{3A02590D-67BD-4DF2-8CAA-B9002293EB8E}" type="slidenum">
              <a:rPr lang="en-US" smtClean="0"/>
              <a:pPr/>
              <a:t>26</a:t>
            </a:fld>
            <a:endParaRPr lang="en-US" dirty="0"/>
          </a:p>
        </p:txBody>
      </p:sp>
      <p:sp>
        <p:nvSpPr>
          <p:cNvPr id="5" name="Title 4">
            <a:extLst>
              <a:ext uri="{FF2B5EF4-FFF2-40B4-BE49-F238E27FC236}">
                <a16:creationId xmlns:a16="http://schemas.microsoft.com/office/drawing/2014/main" id="{E7362986-D06C-64F2-F6C2-2C36B9FFEA39}"/>
              </a:ext>
            </a:extLst>
          </p:cNvPr>
          <p:cNvSpPr>
            <a:spLocks noGrp="1"/>
          </p:cNvSpPr>
          <p:nvPr>
            <p:ph type="title"/>
          </p:nvPr>
        </p:nvSpPr>
        <p:spPr/>
        <p:txBody>
          <a:bodyPr/>
          <a:lstStyle/>
          <a:p>
            <a:r>
              <a:rPr lang="en-US" dirty="0"/>
              <a:t>LUỒNG ĐIỀU KHIỂN LẶP</a:t>
            </a:r>
          </a:p>
        </p:txBody>
      </p:sp>
      <p:sp>
        <p:nvSpPr>
          <p:cNvPr id="6" name="TextBox 5">
            <a:extLst>
              <a:ext uri="{FF2B5EF4-FFF2-40B4-BE49-F238E27FC236}">
                <a16:creationId xmlns:a16="http://schemas.microsoft.com/office/drawing/2014/main" id="{DFBC00AE-3939-90B6-7D7B-CB7100ED4546}"/>
              </a:ext>
            </a:extLst>
          </p:cNvPr>
          <p:cNvSpPr txBox="1"/>
          <p:nvPr/>
        </p:nvSpPr>
        <p:spPr>
          <a:xfrm>
            <a:off x="644959" y="2542428"/>
            <a:ext cx="2268570" cy="523220"/>
          </a:xfrm>
          <a:prstGeom prst="rect">
            <a:avLst/>
          </a:prstGeom>
          <a:noFill/>
        </p:spPr>
        <p:txBody>
          <a:bodyPr wrap="square">
            <a:spAutoFit/>
          </a:bodyPr>
          <a:lstStyle/>
          <a:p>
            <a:r>
              <a:rPr lang="en-US" sz="2800" b="1" dirty="0">
                <a:solidFill>
                  <a:srgbClr val="FF0000"/>
                </a:solidFill>
                <a:latin typeface="Times New Roman" panose="02020603050405020304" pitchFamily="18" charset="0"/>
                <a:cs typeface="Times New Roman" panose="02020603050405020304" pitchFamily="18" charset="0"/>
              </a:rPr>
              <a:t>Cú </a:t>
            </a:r>
            <a:r>
              <a:rPr lang="en-US" sz="2800" b="1" dirty="0" err="1">
                <a:solidFill>
                  <a:srgbClr val="FF0000"/>
                </a:solidFill>
                <a:latin typeface="Times New Roman" panose="02020603050405020304" pitchFamily="18" charset="0"/>
                <a:cs typeface="Times New Roman" panose="02020603050405020304" pitchFamily="18" charset="0"/>
              </a:rPr>
              <a:t>pháp</a:t>
            </a:r>
            <a:r>
              <a:rPr lang="en-US" sz="2800" b="1" dirty="0">
                <a:solidFill>
                  <a:srgbClr val="FF0000"/>
                </a:solidFill>
                <a:latin typeface="Times New Roman" panose="02020603050405020304" pitchFamily="18" charset="0"/>
                <a:cs typeface="Times New Roman" panose="02020603050405020304" pitchFamily="18" charset="0"/>
              </a:rPr>
              <a:t>:</a:t>
            </a:r>
          </a:p>
        </p:txBody>
      </p:sp>
      <p:pic>
        <p:nvPicPr>
          <p:cNvPr id="8" name="Picture 7">
            <a:extLst>
              <a:ext uri="{FF2B5EF4-FFF2-40B4-BE49-F238E27FC236}">
                <a16:creationId xmlns:a16="http://schemas.microsoft.com/office/drawing/2014/main" id="{DBFCA565-E9D7-FE69-7020-9B6A24F16A3D}"/>
              </a:ext>
            </a:extLst>
          </p:cNvPr>
          <p:cNvPicPr>
            <a:picLocks noChangeAspect="1"/>
          </p:cNvPicPr>
          <p:nvPr/>
        </p:nvPicPr>
        <p:blipFill>
          <a:blip r:embed="rId2"/>
          <a:stretch>
            <a:fillRect/>
          </a:stretch>
        </p:blipFill>
        <p:spPr>
          <a:xfrm>
            <a:off x="567558" y="3210386"/>
            <a:ext cx="5587365" cy="1596390"/>
          </a:xfrm>
          <a:prstGeom prst="rect">
            <a:avLst/>
          </a:prstGeom>
        </p:spPr>
      </p:pic>
      <p:sp>
        <p:nvSpPr>
          <p:cNvPr id="10" name="TextBox 9">
            <a:extLst>
              <a:ext uri="{FF2B5EF4-FFF2-40B4-BE49-F238E27FC236}">
                <a16:creationId xmlns:a16="http://schemas.microsoft.com/office/drawing/2014/main" id="{8B43DD7B-7634-EAFE-3F2A-24912EE852AB}"/>
              </a:ext>
            </a:extLst>
          </p:cNvPr>
          <p:cNvSpPr txBox="1"/>
          <p:nvPr/>
        </p:nvSpPr>
        <p:spPr>
          <a:xfrm>
            <a:off x="6571704" y="2542428"/>
            <a:ext cx="2152998" cy="523220"/>
          </a:xfrm>
          <a:prstGeom prst="rect">
            <a:avLst/>
          </a:prstGeom>
          <a:noFill/>
        </p:spPr>
        <p:txBody>
          <a:bodyPr wrap="square">
            <a:spAutoFit/>
          </a:bodyPr>
          <a:lstStyle/>
          <a:p>
            <a:r>
              <a:rPr lang="en-US" sz="2800" b="1" dirty="0" err="1">
                <a:solidFill>
                  <a:srgbClr val="FF0000"/>
                </a:solidFill>
                <a:latin typeface="Times New Roman" panose="02020603050405020304" pitchFamily="18" charset="0"/>
                <a:cs typeface="Times New Roman" panose="02020603050405020304" pitchFamily="18" charset="0"/>
              </a:rPr>
              <a:t>Giải</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thích</a:t>
            </a:r>
            <a:r>
              <a:rPr lang="en-US" sz="2800" dirty="0">
                <a:solidFill>
                  <a:srgbClr val="FF0000"/>
                </a:solidFill>
                <a:latin typeface="Times New Roman" panose="02020603050405020304" pitchFamily="18" charset="0"/>
                <a:cs typeface="Times New Roman" panose="02020603050405020304" pitchFamily="18" charset="0"/>
              </a:rPr>
              <a:t>:</a:t>
            </a:r>
          </a:p>
        </p:txBody>
      </p:sp>
      <p:sp>
        <p:nvSpPr>
          <p:cNvPr id="12" name="TextBox 11">
            <a:extLst>
              <a:ext uri="{FF2B5EF4-FFF2-40B4-BE49-F238E27FC236}">
                <a16:creationId xmlns:a16="http://schemas.microsoft.com/office/drawing/2014/main" id="{4A1BA37D-4589-B151-6014-60FA37827D93}"/>
              </a:ext>
            </a:extLst>
          </p:cNvPr>
          <p:cNvSpPr txBox="1"/>
          <p:nvPr/>
        </p:nvSpPr>
        <p:spPr>
          <a:xfrm>
            <a:off x="6571704" y="3131657"/>
            <a:ext cx="5207508" cy="1555041"/>
          </a:xfrm>
          <a:prstGeom prst="rect">
            <a:avLst/>
          </a:prstGeom>
          <a:noFill/>
        </p:spPr>
        <p:txBody>
          <a:bodyPr wrap="square">
            <a:spAutoFit/>
          </a:bodyPr>
          <a:lstStyle/>
          <a:p>
            <a:pPr>
              <a:lnSpc>
                <a:spcPct val="150000"/>
              </a:lnSpc>
              <a:buFont typeface="Arial" panose="020B0604020202020204" pitchFamily="34" charset="0"/>
              <a:buChar char="•"/>
            </a:pPr>
            <a:r>
              <a:rPr lang="en-US" sz="2200" b="1">
                <a:latin typeface="Times New Roman" panose="02020603050405020304" pitchFamily="18" charset="0"/>
                <a:cs typeface="Times New Roman" panose="02020603050405020304" pitchFamily="18" charset="0"/>
              </a:rPr>
              <a:t> </a:t>
            </a:r>
            <a:r>
              <a:rPr lang="vi-VN" sz="2200" b="1">
                <a:latin typeface="Times New Roman" panose="02020603050405020304" pitchFamily="18" charset="0"/>
                <a:cs typeface="Times New Roman" panose="02020603050405020304" pitchFamily="18" charset="0"/>
              </a:rPr>
              <a:t>start</a:t>
            </a:r>
            <a:r>
              <a:rPr lang="vi-VN" sz="2200">
                <a:latin typeface="Times New Roman" panose="02020603050405020304" pitchFamily="18" charset="0"/>
                <a:cs typeface="Times New Roman" panose="02020603050405020304" pitchFamily="18" charset="0"/>
              </a:rPr>
              <a:t> → giá trị khởi tạo</a:t>
            </a:r>
          </a:p>
          <a:p>
            <a:pPr>
              <a:lnSpc>
                <a:spcPct val="150000"/>
              </a:lnSpc>
              <a:buFont typeface="Arial" panose="020B0604020202020204" pitchFamily="34" charset="0"/>
              <a:buChar char="•"/>
            </a:pPr>
            <a:r>
              <a:rPr lang="en-US" sz="2200" b="1">
                <a:latin typeface="Times New Roman" panose="02020603050405020304" pitchFamily="18" charset="0"/>
                <a:cs typeface="Times New Roman" panose="02020603050405020304" pitchFamily="18" charset="0"/>
              </a:rPr>
              <a:t> </a:t>
            </a:r>
            <a:r>
              <a:rPr lang="vi-VN" sz="2200" b="1">
                <a:latin typeface="Times New Roman" panose="02020603050405020304" pitchFamily="18" charset="0"/>
                <a:cs typeface="Times New Roman" panose="02020603050405020304" pitchFamily="18" charset="0"/>
              </a:rPr>
              <a:t>điều_kiện</a:t>
            </a:r>
            <a:r>
              <a:rPr lang="vi-VN" sz="2200">
                <a:latin typeface="Times New Roman" panose="02020603050405020304" pitchFamily="18" charset="0"/>
                <a:cs typeface="Times New Roman" panose="02020603050405020304" pitchFamily="18" charset="0"/>
              </a:rPr>
              <a:t> → điều kiện để tiếp tục lặp</a:t>
            </a:r>
          </a:p>
          <a:p>
            <a:pPr>
              <a:lnSpc>
                <a:spcPct val="150000"/>
              </a:lnSpc>
              <a:buFont typeface="Arial" panose="020B0604020202020204" pitchFamily="34" charset="0"/>
              <a:buChar char="•"/>
            </a:pPr>
            <a:r>
              <a:rPr lang="en-US" sz="2200" b="1">
                <a:latin typeface="Times New Roman" panose="02020603050405020304" pitchFamily="18" charset="0"/>
                <a:cs typeface="Times New Roman" panose="02020603050405020304" pitchFamily="18" charset="0"/>
              </a:rPr>
              <a:t> </a:t>
            </a:r>
            <a:r>
              <a:rPr lang="vi-VN" sz="2200" b="1">
                <a:latin typeface="Times New Roman" panose="02020603050405020304" pitchFamily="18" charset="0"/>
                <a:cs typeface="Times New Roman" panose="02020603050405020304" pitchFamily="18" charset="0"/>
              </a:rPr>
              <a:t>bước</a:t>
            </a:r>
            <a:r>
              <a:rPr lang="vi-VN" sz="2200">
                <a:latin typeface="Times New Roman" panose="02020603050405020304" pitchFamily="18" charset="0"/>
                <a:cs typeface="Times New Roman" panose="02020603050405020304" pitchFamily="18" charset="0"/>
              </a:rPr>
              <a:t> → tăng (i++) hoặc giảm (i--)</a:t>
            </a:r>
          </a:p>
        </p:txBody>
      </p:sp>
      <p:cxnSp>
        <p:nvCxnSpPr>
          <p:cNvPr id="7" name="Straight Connector 6">
            <a:extLst>
              <a:ext uri="{FF2B5EF4-FFF2-40B4-BE49-F238E27FC236}">
                <a16:creationId xmlns:a16="http://schemas.microsoft.com/office/drawing/2014/main" id="{B27D81D9-5D5B-35C7-CAB8-33E47FFF759C}"/>
              </a:ext>
            </a:extLst>
          </p:cNvPr>
          <p:cNvCxnSpPr/>
          <p:nvPr/>
        </p:nvCxnSpPr>
        <p:spPr>
          <a:xfrm>
            <a:off x="6181815" y="2457544"/>
            <a:ext cx="0" cy="2598549"/>
          </a:xfrm>
          <a:prstGeom prst="line">
            <a:avLst/>
          </a:prstGeom>
          <a:ln w="57150"/>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186567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47286-F656-1205-C3A5-A9D0277D4BB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D301623-6FF9-EE65-5766-9FC68E94F902}"/>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7A0091A7-C2E8-4CC1-F055-4DD5FE3FB5E6}"/>
              </a:ext>
            </a:extLst>
          </p:cNvPr>
          <p:cNvSpPr>
            <a:spLocks noGrp="1"/>
          </p:cNvSpPr>
          <p:nvPr>
            <p:ph type="sldNum" sz="quarter" idx="4"/>
          </p:nvPr>
        </p:nvSpPr>
        <p:spPr/>
        <p:txBody>
          <a:bodyPr/>
          <a:lstStyle/>
          <a:p>
            <a:fld id="{3A02590D-67BD-4DF2-8CAA-B9002293EB8E}" type="slidenum">
              <a:rPr lang="en-US" smtClean="0"/>
              <a:pPr/>
              <a:t>27</a:t>
            </a:fld>
            <a:endParaRPr lang="en-US" dirty="0"/>
          </a:p>
        </p:txBody>
      </p:sp>
      <p:sp>
        <p:nvSpPr>
          <p:cNvPr id="5" name="Title 4">
            <a:extLst>
              <a:ext uri="{FF2B5EF4-FFF2-40B4-BE49-F238E27FC236}">
                <a16:creationId xmlns:a16="http://schemas.microsoft.com/office/drawing/2014/main" id="{ACB5A2B1-5057-CFD1-21A7-E44D7FB9A7C1}"/>
              </a:ext>
            </a:extLst>
          </p:cNvPr>
          <p:cNvSpPr>
            <a:spLocks noGrp="1"/>
          </p:cNvSpPr>
          <p:nvPr>
            <p:ph type="title"/>
          </p:nvPr>
        </p:nvSpPr>
        <p:spPr/>
        <p:txBody>
          <a:bodyPr/>
          <a:lstStyle/>
          <a:p>
            <a:r>
              <a:rPr lang="en-US"/>
              <a:t>VÒNG LẶP FOR</a:t>
            </a:r>
          </a:p>
        </p:txBody>
      </p:sp>
      <p:sp>
        <p:nvSpPr>
          <p:cNvPr id="6" name="TextBox 5">
            <a:extLst>
              <a:ext uri="{FF2B5EF4-FFF2-40B4-BE49-F238E27FC236}">
                <a16:creationId xmlns:a16="http://schemas.microsoft.com/office/drawing/2014/main" id="{5A6C6976-D84C-B945-227C-CF4E420E0259}"/>
              </a:ext>
            </a:extLst>
          </p:cNvPr>
          <p:cNvSpPr txBox="1"/>
          <p:nvPr/>
        </p:nvSpPr>
        <p:spPr>
          <a:xfrm>
            <a:off x="312527" y="1856450"/>
            <a:ext cx="1484376" cy="523220"/>
          </a:xfrm>
          <a:prstGeom prst="rect">
            <a:avLst/>
          </a:prstGeom>
          <a:noFill/>
        </p:spPr>
        <p:txBody>
          <a:bodyPr wrap="square">
            <a:spAutoFit/>
          </a:bodyPr>
          <a:lstStyle/>
          <a:p>
            <a:r>
              <a:rPr lang="en-US" sz="2800" b="1" dirty="0" err="1">
                <a:solidFill>
                  <a:srgbClr val="FF0000"/>
                </a:solidFill>
                <a:latin typeface="Times New Roman" panose="02020603050405020304" pitchFamily="18" charset="0"/>
                <a:cs typeface="Times New Roman" panose="02020603050405020304" pitchFamily="18" charset="0"/>
              </a:rPr>
              <a:t>Ví</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dụ</a:t>
            </a:r>
            <a:r>
              <a:rPr lang="en-US" sz="2800" b="1" dirty="0">
                <a:solidFill>
                  <a:srgbClr val="FF0000"/>
                </a:solidFill>
                <a:latin typeface="Times New Roman" panose="02020603050405020304" pitchFamily="18" charset="0"/>
                <a:cs typeface="Times New Roman" panose="02020603050405020304" pitchFamily="18" charset="0"/>
              </a:rPr>
              <a:t>:</a:t>
            </a:r>
          </a:p>
        </p:txBody>
      </p:sp>
      <p:pic>
        <p:nvPicPr>
          <p:cNvPr id="13" name="Picture 12">
            <a:extLst>
              <a:ext uri="{FF2B5EF4-FFF2-40B4-BE49-F238E27FC236}">
                <a16:creationId xmlns:a16="http://schemas.microsoft.com/office/drawing/2014/main" id="{00DED6CC-A60B-C403-A2C9-DF2AAB005EA9}"/>
              </a:ext>
            </a:extLst>
          </p:cNvPr>
          <p:cNvPicPr>
            <a:picLocks noChangeAspect="1"/>
          </p:cNvPicPr>
          <p:nvPr/>
        </p:nvPicPr>
        <p:blipFill>
          <a:blip r:embed="rId2"/>
          <a:stretch>
            <a:fillRect/>
          </a:stretch>
        </p:blipFill>
        <p:spPr>
          <a:xfrm>
            <a:off x="312527" y="2346051"/>
            <a:ext cx="4357894" cy="2051881"/>
          </a:xfrm>
          <a:prstGeom prst="rect">
            <a:avLst/>
          </a:prstGeom>
        </p:spPr>
      </p:pic>
      <p:sp>
        <p:nvSpPr>
          <p:cNvPr id="19" name="TextBox 18">
            <a:extLst>
              <a:ext uri="{FF2B5EF4-FFF2-40B4-BE49-F238E27FC236}">
                <a16:creationId xmlns:a16="http://schemas.microsoft.com/office/drawing/2014/main" id="{1CB7AA3C-D93C-9F9D-0BBB-60C45CF25FAB}"/>
              </a:ext>
            </a:extLst>
          </p:cNvPr>
          <p:cNvSpPr txBox="1"/>
          <p:nvPr/>
        </p:nvSpPr>
        <p:spPr>
          <a:xfrm>
            <a:off x="5934456" y="1856450"/>
            <a:ext cx="1818643" cy="523220"/>
          </a:xfrm>
          <a:prstGeom prst="rect">
            <a:avLst/>
          </a:prstGeom>
          <a:noFill/>
        </p:spPr>
        <p:txBody>
          <a:bodyPr wrap="square">
            <a:spAutoFit/>
          </a:bodyPr>
          <a:lstStyle/>
          <a:p>
            <a:r>
              <a:rPr lang="en-US" sz="2800" b="1" dirty="0" err="1">
                <a:solidFill>
                  <a:srgbClr val="FF0000"/>
                </a:solidFill>
                <a:latin typeface="Times New Roman" panose="02020603050405020304" pitchFamily="18" charset="0"/>
                <a:cs typeface="Times New Roman" panose="02020603050405020304" pitchFamily="18" charset="0"/>
              </a:rPr>
              <a:t>Giải</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thích</a:t>
            </a:r>
            <a:r>
              <a:rPr lang="en-US" sz="2800" b="1" dirty="0">
                <a:solidFill>
                  <a:srgbClr val="FF0000"/>
                </a:solidFill>
                <a:latin typeface="Times New Roman" panose="02020603050405020304" pitchFamily="18" charset="0"/>
                <a:cs typeface="Times New Roman" panose="02020603050405020304" pitchFamily="18" charset="0"/>
              </a:rPr>
              <a:t>:</a:t>
            </a:r>
          </a:p>
        </p:txBody>
      </p:sp>
      <p:sp>
        <p:nvSpPr>
          <p:cNvPr id="21" name="TextBox 20">
            <a:extLst>
              <a:ext uri="{FF2B5EF4-FFF2-40B4-BE49-F238E27FC236}">
                <a16:creationId xmlns:a16="http://schemas.microsoft.com/office/drawing/2014/main" id="{891298C3-1977-BFD4-793D-F224A43B4BB3}"/>
              </a:ext>
            </a:extLst>
          </p:cNvPr>
          <p:cNvSpPr txBox="1"/>
          <p:nvPr/>
        </p:nvSpPr>
        <p:spPr>
          <a:xfrm>
            <a:off x="5934456" y="2458941"/>
            <a:ext cx="6071616" cy="1938992"/>
          </a:xfrm>
          <a:prstGeom prst="rect">
            <a:avLst/>
          </a:prstGeom>
          <a:noFill/>
        </p:spPr>
        <p:txBody>
          <a:bodyPr wrap="square" rtlCol="0">
            <a:spAutoFit/>
          </a:bodyPr>
          <a:lstStyle/>
          <a:p>
            <a:pPr marL="285750" indent="-285750">
              <a:buFont typeface="Arial" panose="020B0604020202020204" pitchFamily="34" charset="0"/>
              <a:buChar char="•"/>
            </a:pPr>
            <a:r>
              <a:rPr lang="vi-VN" sz="2000" b="1" dirty="0" err="1">
                <a:latin typeface="Times New Roman" panose="02020603050405020304" pitchFamily="18" charset="0"/>
                <a:cs typeface="Times New Roman" panose="02020603050405020304" pitchFamily="18" charset="0"/>
              </a:rPr>
              <a:t>let</a:t>
            </a:r>
            <a:r>
              <a:rPr lang="vi-VN" sz="2000" b="1" dirty="0">
                <a:latin typeface="Times New Roman" panose="02020603050405020304" pitchFamily="18" charset="0"/>
                <a:cs typeface="Times New Roman" panose="02020603050405020304" pitchFamily="18" charset="0"/>
              </a:rPr>
              <a:t> sum = 0</a:t>
            </a:r>
            <a:r>
              <a:rPr lang="vi-VN" sz="2000" dirty="0">
                <a:latin typeface="Times New Roman" panose="02020603050405020304" pitchFamily="18" charset="0"/>
                <a:cs typeface="Times New Roman" panose="02020603050405020304" pitchFamily="18" charset="0"/>
              </a:rPr>
              <a:t>; → tạo biến sum để lưu tổng. </a:t>
            </a:r>
            <a:r>
              <a:rPr lang="vi-VN" sz="2000" dirty="0" err="1">
                <a:latin typeface="Times New Roman" panose="02020603050405020304" pitchFamily="18" charset="0"/>
                <a:cs typeface="Times New Roman" panose="02020603050405020304" pitchFamily="18" charset="0"/>
              </a:rPr>
              <a:t>for</a:t>
            </a:r>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let</a:t>
            </a:r>
            <a:r>
              <a:rPr lang="vi-VN" sz="2000" dirty="0">
                <a:latin typeface="Times New Roman" panose="02020603050405020304" pitchFamily="18" charset="0"/>
                <a:cs typeface="Times New Roman" panose="02020603050405020304" pitchFamily="18" charset="0"/>
              </a:rPr>
              <a:t> i = 1; i &lt;= 10; i++) → lặp từ 1 đến 10. </a:t>
            </a: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sum += i; → </a:t>
            </a:r>
            <a:r>
              <a:rPr lang="vi-VN" sz="2000" b="1" dirty="0">
                <a:latin typeface="Times New Roman" panose="02020603050405020304" pitchFamily="18" charset="0"/>
                <a:cs typeface="Times New Roman" panose="02020603050405020304" pitchFamily="18" charset="0"/>
              </a:rPr>
              <a:t>cộng giá trị i </a:t>
            </a:r>
            <a:r>
              <a:rPr lang="vi-VN" sz="2000" dirty="0">
                <a:latin typeface="Times New Roman" panose="02020603050405020304" pitchFamily="18" charset="0"/>
                <a:cs typeface="Times New Roman" panose="02020603050405020304" pitchFamily="18" charset="0"/>
              </a:rPr>
              <a:t>vào sum mỗi vòng lặp. console.log("Tổng =", sum); → in ra kết quả cuối cùng</a:t>
            </a:r>
            <a:endParaRPr lang="en-US" sz="2000"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r>
              <a:rPr lang="en-US" sz="2000" b="1" dirty="0" err="1">
                <a:latin typeface="Times New Roman" panose="02020603050405020304" pitchFamily="18" charset="0"/>
                <a:cs typeface="Times New Roman" panose="02020603050405020304" pitchFamily="18" charset="0"/>
              </a:rPr>
              <a:t>Kết</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quả</a:t>
            </a:r>
            <a:r>
              <a:rPr lang="en-US" sz="2000" b="1" dirty="0">
                <a:latin typeface="Times New Roman" panose="02020603050405020304" pitchFamily="18" charset="0"/>
                <a:cs typeface="Times New Roman" panose="02020603050405020304" pitchFamily="18" charset="0"/>
              </a:rPr>
              <a:t>: </a:t>
            </a:r>
            <a:r>
              <a:rPr lang="en-US" dirty="0" err="1"/>
              <a:t>Tổng</a:t>
            </a:r>
            <a:r>
              <a:rPr lang="en-US" dirty="0"/>
              <a:t> = 55</a:t>
            </a:r>
            <a:endParaRPr lang="en-US" sz="2000" dirty="0">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F11F5E2A-E10A-5EEC-9ECA-0125EE5E2892}"/>
              </a:ext>
            </a:extLst>
          </p:cNvPr>
          <p:cNvCxnSpPr/>
          <p:nvPr/>
        </p:nvCxnSpPr>
        <p:spPr>
          <a:xfrm>
            <a:off x="5351928" y="1856450"/>
            <a:ext cx="0" cy="2598549"/>
          </a:xfrm>
          <a:prstGeom prst="line">
            <a:avLst/>
          </a:prstGeom>
          <a:ln w="57150"/>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171565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048FB5-2EF1-145A-DAB8-21103DBD97F6}"/>
              </a:ext>
            </a:extLst>
          </p:cNvPr>
          <p:cNvSpPr>
            <a:spLocks noGrp="1"/>
          </p:cNvSpPr>
          <p:nvPr>
            <p:ph idx="1"/>
          </p:nvPr>
        </p:nvSpPr>
        <p:spPr>
          <a:xfrm>
            <a:off x="134472" y="1024758"/>
            <a:ext cx="11658134" cy="5234152"/>
          </a:xfrm>
        </p:spPr>
        <p:txBody>
          <a:bodyPr/>
          <a:lstStyle/>
          <a:p>
            <a:r>
              <a:rPr lang="en-US" b="1" dirty="0" err="1"/>
              <a:t>Khái</a:t>
            </a:r>
            <a:r>
              <a:rPr lang="en-US" b="1" dirty="0"/>
              <a:t> </a:t>
            </a:r>
            <a:r>
              <a:rPr lang="en-US" b="1" dirty="0" err="1"/>
              <a:t>niệm</a:t>
            </a:r>
            <a:endParaRPr lang="en-US" b="1" dirty="0"/>
          </a:p>
          <a:p>
            <a:pPr lvl="1"/>
            <a:r>
              <a:rPr lang="en-US" dirty="0" err="1"/>
              <a:t>Là</a:t>
            </a:r>
            <a:r>
              <a:rPr lang="en-US" dirty="0"/>
              <a:t> </a:t>
            </a:r>
            <a:r>
              <a:rPr lang="en-US" dirty="0" err="1"/>
              <a:t>cấu</a:t>
            </a:r>
            <a:r>
              <a:rPr lang="en-US" dirty="0"/>
              <a:t> </a:t>
            </a:r>
            <a:r>
              <a:rPr lang="en-US" dirty="0" err="1"/>
              <a:t>trúc</a:t>
            </a:r>
            <a:r>
              <a:rPr lang="en-US" dirty="0"/>
              <a:t> </a:t>
            </a:r>
            <a:r>
              <a:rPr lang="en-US" dirty="0" err="1"/>
              <a:t>lặp</a:t>
            </a:r>
            <a:r>
              <a:rPr lang="en-US" dirty="0"/>
              <a:t> </a:t>
            </a:r>
            <a:r>
              <a:rPr lang="en-US" b="1" dirty="0" err="1"/>
              <a:t>thực</a:t>
            </a:r>
            <a:r>
              <a:rPr lang="en-US" b="1" dirty="0"/>
              <a:t> </a:t>
            </a:r>
            <a:r>
              <a:rPr lang="en-US" b="1" dirty="0" err="1"/>
              <a:t>thi</a:t>
            </a:r>
            <a:r>
              <a:rPr lang="en-US" b="1" dirty="0"/>
              <a:t> </a:t>
            </a:r>
            <a:r>
              <a:rPr lang="en-US" b="1" dirty="0" err="1"/>
              <a:t>khối</a:t>
            </a:r>
            <a:r>
              <a:rPr lang="en-US" b="1" dirty="0"/>
              <a:t> </a:t>
            </a:r>
            <a:r>
              <a:rPr lang="en-US" b="1" dirty="0" err="1"/>
              <a:t>lệnh</a:t>
            </a:r>
            <a:r>
              <a:rPr lang="en-US" b="1" dirty="0"/>
              <a:t> </a:t>
            </a:r>
            <a:r>
              <a:rPr lang="en-US" b="1" dirty="0" err="1"/>
              <a:t>nhiều</a:t>
            </a:r>
            <a:r>
              <a:rPr lang="en-US" b="1" dirty="0"/>
              <a:t> </a:t>
            </a:r>
            <a:r>
              <a:rPr lang="en-US" b="1" dirty="0" err="1"/>
              <a:t>lần</a:t>
            </a:r>
            <a:r>
              <a:rPr lang="en-US" dirty="0"/>
              <a:t> </a:t>
            </a:r>
            <a:r>
              <a:rPr lang="en-US" dirty="0" err="1"/>
              <a:t>dựa</a:t>
            </a:r>
            <a:r>
              <a:rPr lang="en-US" dirty="0"/>
              <a:t> </a:t>
            </a:r>
            <a:r>
              <a:rPr lang="en-US" dirty="0" err="1"/>
              <a:t>trên</a:t>
            </a:r>
            <a:r>
              <a:rPr lang="en-US" dirty="0"/>
              <a:t> </a:t>
            </a:r>
            <a:r>
              <a:rPr lang="en-US" b="1" dirty="0" err="1"/>
              <a:t>điều</a:t>
            </a:r>
            <a:r>
              <a:rPr lang="en-US" b="1" dirty="0"/>
              <a:t> </a:t>
            </a:r>
            <a:r>
              <a:rPr lang="en-US" b="1" dirty="0" err="1"/>
              <a:t>kiện</a:t>
            </a:r>
            <a:r>
              <a:rPr lang="en-US" b="1" dirty="0"/>
              <a:t> </a:t>
            </a:r>
            <a:r>
              <a:rPr lang="en-US" b="1" dirty="0" err="1"/>
              <a:t>đúng</a:t>
            </a:r>
            <a:r>
              <a:rPr lang="en-US" dirty="0"/>
              <a:t> (true).</a:t>
            </a:r>
          </a:p>
          <a:p>
            <a:pPr lvl="1"/>
            <a:r>
              <a:rPr lang="en-US" dirty="0" err="1"/>
              <a:t>Vòng</a:t>
            </a:r>
            <a:r>
              <a:rPr lang="en-US" dirty="0"/>
              <a:t> </a:t>
            </a:r>
            <a:r>
              <a:rPr lang="en-US" dirty="0" err="1"/>
              <a:t>lặp</a:t>
            </a:r>
            <a:r>
              <a:rPr lang="en-US" dirty="0"/>
              <a:t> </a:t>
            </a:r>
            <a:r>
              <a:rPr lang="en-US" dirty="0" err="1"/>
              <a:t>sẽ</a:t>
            </a:r>
            <a:r>
              <a:rPr lang="en-US" dirty="0"/>
              <a:t> </a:t>
            </a:r>
            <a:r>
              <a:rPr lang="en-US" b="1" dirty="0" err="1"/>
              <a:t>dừng</a:t>
            </a:r>
            <a:r>
              <a:rPr lang="en-US" b="1" dirty="0"/>
              <a:t> </a:t>
            </a:r>
            <a:r>
              <a:rPr lang="en-US" b="1" dirty="0" err="1"/>
              <a:t>ngay</a:t>
            </a:r>
            <a:r>
              <a:rPr lang="en-US" b="1" dirty="0"/>
              <a:t> </a:t>
            </a:r>
            <a:r>
              <a:rPr lang="en-US" b="1" dirty="0" err="1"/>
              <a:t>khi</a:t>
            </a:r>
            <a:r>
              <a:rPr lang="en-US" b="1" dirty="0"/>
              <a:t> </a:t>
            </a:r>
            <a:r>
              <a:rPr lang="en-US" b="1" dirty="0" err="1"/>
              <a:t>điều</a:t>
            </a:r>
            <a:r>
              <a:rPr lang="en-US" b="1" dirty="0"/>
              <a:t> </a:t>
            </a:r>
            <a:r>
              <a:rPr lang="en-US" b="1" dirty="0" err="1"/>
              <a:t>kiện</a:t>
            </a:r>
            <a:r>
              <a:rPr lang="en-US" b="1" dirty="0"/>
              <a:t> </a:t>
            </a:r>
            <a:r>
              <a:rPr lang="en-US" b="1" dirty="0" err="1"/>
              <a:t>sai</a:t>
            </a:r>
            <a:r>
              <a:rPr lang="en-US" dirty="0"/>
              <a:t> (false).</a:t>
            </a:r>
          </a:p>
          <a:p>
            <a:pPr lvl="1"/>
            <a:r>
              <a:rPr lang="vi-VN" dirty="0"/>
              <a:t>Thường dùng khi </a:t>
            </a:r>
            <a:r>
              <a:rPr lang="vi-VN" b="1" dirty="0"/>
              <a:t>chưa biết trước số lần lặp</a:t>
            </a:r>
            <a:r>
              <a:rPr lang="vi-VN" dirty="0"/>
              <a:t>.</a:t>
            </a:r>
            <a:endParaRPr lang="en-US" dirty="0"/>
          </a:p>
          <a:p>
            <a:pPr lvl="1"/>
            <a:endParaRPr lang="en-US" dirty="0"/>
          </a:p>
          <a:p>
            <a:pPr lvl="1"/>
            <a:endParaRPr lang="en-US" dirty="0"/>
          </a:p>
        </p:txBody>
      </p:sp>
      <p:sp>
        <p:nvSpPr>
          <p:cNvPr id="3" name="Footer Placeholder 2">
            <a:extLst>
              <a:ext uri="{FF2B5EF4-FFF2-40B4-BE49-F238E27FC236}">
                <a16:creationId xmlns:a16="http://schemas.microsoft.com/office/drawing/2014/main" id="{17D2500C-96BB-00A0-8F80-D622119B6469}"/>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3AAE13A9-C687-2DEB-E1E7-39A290D038EA}"/>
              </a:ext>
            </a:extLst>
          </p:cNvPr>
          <p:cNvSpPr>
            <a:spLocks noGrp="1"/>
          </p:cNvSpPr>
          <p:nvPr>
            <p:ph type="sldNum" sz="quarter" idx="4"/>
          </p:nvPr>
        </p:nvSpPr>
        <p:spPr/>
        <p:txBody>
          <a:bodyPr/>
          <a:lstStyle/>
          <a:p>
            <a:fld id="{3A02590D-67BD-4DF2-8CAA-B9002293EB8E}" type="slidenum">
              <a:rPr lang="en-US" smtClean="0"/>
              <a:pPr/>
              <a:t>28</a:t>
            </a:fld>
            <a:endParaRPr lang="en-US" dirty="0"/>
          </a:p>
        </p:txBody>
      </p:sp>
      <p:sp>
        <p:nvSpPr>
          <p:cNvPr id="5" name="Title 4">
            <a:extLst>
              <a:ext uri="{FF2B5EF4-FFF2-40B4-BE49-F238E27FC236}">
                <a16:creationId xmlns:a16="http://schemas.microsoft.com/office/drawing/2014/main" id="{8B895CCF-E01E-D7B1-A006-7AAC21BA0A8A}"/>
              </a:ext>
            </a:extLst>
          </p:cNvPr>
          <p:cNvSpPr>
            <a:spLocks noGrp="1"/>
          </p:cNvSpPr>
          <p:nvPr>
            <p:ph type="title"/>
          </p:nvPr>
        </p:nvSpPr>
        <p:spPr/>
        <p:txBody>
          <a:bodyPr/>
          <a:lstStyle/>
          <a:p>
            <a:r>
              <a:rPr lang="en-US"/>
              <a:t>VÒNG LẶP WHILE</a:t>
            </a:r>
          </a:p>
        </p:txBody>
      </p:sp>
      <p:sp>
        <p:nvSpPr>
          <p:cNvPr id="6" name="TextBox 5">
            <a:extLst>
              <a:ext uri="{FF2B5EF4-FFF2-40B4-BE49-F238E27FC236}">
                <a16:creationId xmlns:a16="http://schemas.microsoft.com/office/drawing/2014/main" id="{6F5421CD-2548-8468-7D4C-E16C3BEC0E04}"/>
              </a:ext>
            </a:extLst>
          </p:cNvPr>
          <p:cNvSpPr txBox="1"/>
          <p:nvPr/>
        </p:nvSpPr>
        <p:spPr>
          <a:xfrm>
            <a:off x="746138" y="2859566"/>
            <a:ext cx="1878469" cy="523220"/>
          </a:xfrm>
          <a:prstGeom prst="rect">
            <a:avLst/>
          </a:prstGeom>
          <a:noFill/>
        </p:spPr>
        <p:txBody>
          <a:bodyPr wrap="square">
            <a:spAutoFit/>
          </a:bodyPr>
          <a:lstStyle/>
          <a:p>
            <a:r>
              <a:rPr lang="en-US" sz="2800" b="1" dirty="0">
                <a:solidFill>
                  <a:srgbClr val="FF0000"/>
                </a:solidFill>
                <a:latin typeface="Times New Roman" panose="02020603050405020304" pitchFamily="18" charset="0"/>
                <a:cs typeface="Times New Roman" panose="02020603050405020304" pitchFamily="18" charset="0"/>
              </a:rPr>
              <a:t>Cú </a:t>
            </a:r>
            <a:r>
              <a:rPr lang="en-US" sz="2800" b="1" dirty="0" err="1">
                <a:solidFill>
                  <a:srgbClr val="FF0000"/>
                </a:solidFill>
                <a:latin typeface="Times New Roman" panose="02020603050405020304" pitchFamily="18" charset="0"/>
                <a:cs typeface="Times New Roman" panose="02020603050405020304" pitchFamily="18" charset="0"/>
              </a:rPr>
              <a:t>pháp</a:t>
            </a:r>
            <a:r>
              <a:rPr lang="en-US" sz="2800" b="1" dirty="0">
                <a:solidFill>
                  <a:srgbClr val="FF0000"/>
                </a:solidFill>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7E4EB533-FBB4-B588-151F-21092E680127}"/>
              </a:ext>
            </a:extLst>
          </p:cNvPr>
          <p:cNvSpPr txBox="1"/>
          <p:nvPr/>
        </p:nvSpPr>
        <p:spPr>
          <a:xfrm>
            <a:off x="6515722" y="2905780"/>
            <a:ext cx="1878469" cy="523220"/>
          </a:xfrm>
          <a:prstGeom prst="rect">
            <a:avLst/>
          </a:prstGeom>
          <a:noFill/>
        </p:spPr>
        <p:txBody>
          <a:bodyPr wrap="square">
            <a:spAutoFit/>
          </a:bodyPr>
          <a:lstStyle/>
          <a:p>
            <a:r>
              <a:rPr lang="en-US" sz="2800" b="1" dirty="0" err="1">
                <a:solidFill>
                  <a:srgbClr val="FF0000"/>
                </a:solidFill>
                <a:latin typeface="Times New Roman" panose="02020603050405020304" pitchFamily="18" charset="0"/>
                <a:cs typeface="Times New Roman" panose="02020603050405020304" pitchFamily="18" charset="0"/>
              </a:rPr>
              <a:t>Giải</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thích</a:t>
            </a:r>
            <a:r>
              <a:rPr lang="en-US" sz="2800" b="1" dirty="0">
                <a:solidFill>
                  <a:srgbClr val="FF0000"/>
                </a:solidFill>
                <a:latin typeface="Times New Roman" panose="02020603050405020304" pitchFamily="18" charset="0"/>
                <a:cs typeface="Times New Roman" panose="02020603050405020304" pitchFamily="18" charset="0"/>
              </a:rPr>
              <a:t>:</a:t>
            </a:r>
          </a:p>
        </p:txBody>
      </p:sp>
      <p:pic>
        <p:nvPicPr>
          <p:cNvPr id="9" name="Picture 8">
            <a:extLst>
              <a:ext uri="{FF2B5EF4-FFF2-40B4-BE49-F238E27FC236}">
                <a16:creationId xmlns:a16="http://schemas.microsoft.com/office/drawing/2014/main" id="{8083D21E-BF81-7804-3292-F36A88B3D609}"/>
              </a:ext>
            </a:extLst>
          </p:cNvPr>
          <p:cNvPicPr>
            <a:picLocks noChangeAspect="1"/>
          </p:cNvPicPr>
          <p:nvPr/>
        </p:nvPicPr>
        <p:blipFill>
          <a:blip r:embed="rId2"/>
          <a:stretch>
            <a:fillRect/>
          </a:stretch>
        </p:blipFill>
        <p:spPr>
          <a:xfrm>
            <a:off x="746138" y="3495416"/>
            <a:ext cx="4038426" cy="1789176"/>
          </a:xfrm>
          <a:prstGeom prst="rect">
            <a:avLst/>
          </a:prstGeom>
        </p:spPr>
      </p:pic>
      <p:sp>
        <p:nvSpPr>
          <p:cNvPr id="13" name="TextBox 12">
            <a:extLst>
              <a:ext uri="{FF2B5EF4-FFF2-40B4-BE49-F238E27FC236}">
                <a16:creationId xmlns:a16="http://schemas.microsoft.com/office/drawing/2014/main" id="{E470DA3F-E726-3E23-E05F-44D5960340F9}"/>
              </a:ext>
            </a:extLst>
          </p:cNvPr>
          <p:cNvSpPr txBox="1"/>
          <p:nvPr/>
        </p:nvSpPr>
        <p:spPr>
          <a:xfrm>
            <a:off x="6508374" y="3654260"/>
            <a:ext cx="5116068" cy="1015663"/>
          </a:xfrm>
          <a:prstGeom prst="rect">
            <a:avLst/>
          </a:prstGeom>
          <a:noFill/>
        </p:spPr>
        <p:txBody>
          <a:bodyPr wrap="square">
            <a:spAutoFit/>
          </a:bodyPr>
          <a:lstStyle/>
          <a:p>
            <a:pPr marL="285750" indent="-285750">
              <a:buFont typeface="Arial" panose="020B0604020202020204" pitchFamily="34" charset="0"/>
              <a:buChar char="•"/>
            </a:pPr>
            <a:r>
              <a:rPr lang="vi-VN" sz="2000" b="1" dirty="0" err="1">
                <a:latin typeface="Times New Roman" panose="02020603050405020304" pitchFamily="18" charset="0"/>
                <a:cs typeface="Times New Roman" panose="02020603050405020304" pitchFamily="18" charset="0"/>
              </a:rPr>
              <a:t>điều_kiện</a:t>
            </a:r>
            <a:r>
              <a:rPr lang="vi-VN" sz="2000" dirty="0">
                <a:latin typeface="Times New Roman" panose="02020603050405020304" pitchFamily="18" charset="0"/>
                <a:cs typeface="Times New Roman" panose="02020603050405020304" pitchFamily="18" charset="0"/>
              </a:rPr>
              <a:t>: kiểm tra trước mỗi vòng lặp</a:t>
            </a:r>
          </a:p>
          <a:p>
            <a:pPr marL="285750" indent="-285750">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Nếu </a:t>
            </a:r>
            <a:r>
              <a:rPr lang="vi-VN" sz="2000" b="1" dirty="0">
                <a:latin typeface="Times New Roman" panose="02020603050405020304" pitchFamily="18" charset="0"/>
                <a:cs typeface="Times New Roman" panose="02020603050405020304" pitchFamily="18" charset="0"/>
              </a:rPr>
              <a:t>đúng</a:t>
            </a:r>
            <a:r>
              <a:rPr lang="vi-VN" sz="2000" dirty="0">
                <a:latin typeface="Times New Roman" panose="02020603050405020304" pitchFamily="18" charset="0"/>
                <a:cs typeface="Times New Roman" panose="02020603050405020304" pitchFamily="18" charset="0"/>
              </a:rPr>
              <a:t> → thực hiện khối lệnh</a:t>
            </a:r>
          </a:p>
          <a:p>
            <a:pPr marL="285750" indent="-285750">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Nếu </a:t>
            </a:r>
            <a:r>
              <a:rPr lang="vi-VN" sz="2000" b="1" dirty="0">
                <a:latin typeface="Times New Roman" panose="02020603050405020304" pitchFamily="18" charset="0"/>
                <a:cs typeface="Times New Roman" panose="02020603050405020304" pitchFamily="18" charset="0"/>
              </a:rPr>
              <a:t>sai</a:t>
            </a:r>
            <a:r>
              <a:rPr lang="vi-VN" sz="2000" dirty="0">
                <a:latin typeface="Times New Roman" panose="02020603050405020304" pitchFamily="18" charset="0"/>
                <a:cs typeface="Times New Roman" panose="02020603050405020304" pitchFamily="18" charset="0"/>
              </a:rPr>
              <a:t> → thoát vòng lặp</a:t>
            </a:r>
          </a:p>
        </p:txBody>
      </p:sp>
      <p:pic>
        <p:nvPicPr>
          <p:cNvPr id="10" name="Picture 9">
            <a:extLst>
              <a:ext uri="{FF2B5EF4-FFF2-40B4-BE49-F238E27FC236}">
                <a16:creationId xmlns:a16="http://schemas.microsoft.com/office/drawing/2014/main" id="{D53333B4-88A7-EBE8-13D8-AC0CA1770CCB}"/>
              </a:ext>
            </a:extLst>
          </p:cNvPr>
          <p:cNvPicPr>
            <a:picLocks noChangeAspect="1"/>
          </p:cNvPicPr>
          <p:nvPr/>
        </p:nvPicPr>
        <p:blipFill>
          <a:blip r:embed="rId2"/>
          <a:stretch>
            <a:fillRect/>
          </a:stretch>
        </p:blipFill>
        <p:spPr>
          <a:xfrm>
            <a:off x="898538" y="3647816"/>
            <a:ext cx="4038426" cy="1789176"/>
          </a:xfrm>
          <a:prstGeom prst="rect">
            <a:avLst/>
          </a:prstGeom>
        </p:spPr>
      </p:pic>
      <p:cxnSp>
        <p:nvCxnSpPr>
          <p:cNvPr id="12" name="Straight Connector 11">
            <a:extLst>
              <a:ext uri="{FF2B5EF4-FFF2-40B4-BE49-F238E27FC236}">
                <a16:creationId xmlns:a16="http://schemas.microsoft.com/office/drawing/2014/main" id="{376B1EC6-D3A2-2747-FD1C-E50023A347D1}"/>
              </a:ext>
            </a:extLst>
          </p:cNvPr>
          <p:cNvCxnSpPr/>
          <p:nvPr/>
        </p:nvCxnSpPr>
        <p:spPr>
          <a:xfrm>
            <a:off x="5558116" y="2905780"/>
            <a:ext cx="0" cy="2598549"/>
          </a:xfrm>
          <a:prstGeom prst="line">
            <a:avLst/>
          </a:prstGeom>
          <a:ln w="57150"/>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5621224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38567-908F-DA72-98C6-2EC392C61A9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4539466-39F5-65B4-F371-5A3D66E97348}"/>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49BE49DB-4A61-4D1D-B89B-EF35988881B5}"/>
              </a:ext>
            </a:extLst>
          </p:cNvPr>
          <p:cNvSpPr>
            <a:spLocks noGrp="1"/>
          </p:cNvSpPr>
          <p:nvPr>
            <p:ph type="sldNum" sz="quarter" idx="4"/>
          </p:nvPr>
        </p:nvSpPr>
        <p:spPr/>
        <p:txBody>
          <a:bodyPr/>
          <a:lstStyle/>
          <a:p>
            <a:fld id="{3A02590D-67BD-4DF2-8CAA-B9002293EB8E}" type="slidenum">
              <a:rPr lang="en-US" smtClean="0"/>
              <a:pPr/>
              <a:t>29</a:t>
            </a:fld>
            <a:endParaRPr lang="en-US" dirty="0"/>
          </a:p>
        </p:txBody>
      </p:sp>
      <p:sp>
        <p:nvSpPr>
          <p:cNvPr id="5" name="Title 4">
            <a:extLst>
              <a:ext uri="{FF2B5EF4-FFF2-40B4-BE49-F238E27FC236}">
                <a16:creationId xmlns:a16="http://schemas.microsoft.com/office/drawing/2014/main" id="{3B8A0273-3779-671F-210C-D5BCA92936EE}"/>
              </a:ext>
            </a:extLst>
          </p:cNvPr>
          <p:cNvSpPr>
            <a:spLocks noGrp="1"/>
          </p:cNvSpPr>
          <p:nvPr>
            <p:ph type="title"/>
          </p:nvPr>
        </p:nvSpPr>
        <p:spPr/>
        <p:txBody>
          <a:bodyPr/>
          <a:lstStyle/>
          <a:p>
            <a:r>
              <a:rPr lang="en-US"/>
              <a:t>VÒNG LẶP WHILE</a:t>
            </a:r>
          </a:p>
        </p:txBody>
      </p:sp>
      <p:sp>
        <p:nvSpPr>
          <p:cNvPr id="6" name="TextBox 5">
            <a:extLst>
              <a:ext uri="{FF2B5EF4-FFF2-40B4-BE49-F238E27FC236}">
                <a16:creationId xmlns:a16="http://schemas.microsoft.com/office/drawing/2014/main" id="{16D4175C-80B0-4663-E091-5A089B880FDE}"/>
              </a:ext>
            </a:extLst>
          </p:cNvPr>
          <p:cNvSpPr txBox="1"/>
          <p:nvPr/>
        </p:nvSpPr>
        <p:spPr>
          <a:xfrm>
            <a:off x="567558" y="1440972"/>
            <a:ext cx="1484376" cy="523220"/>
          </a:xfrm>
          <a:prstGeom prst="rect">
            <a:avLst/>
          </a:prstGeom>
          <a:noFill/>
        </p:spPr>
        <p:txBody>
          <a:bodyPr wrap="square">
            <a:spAutoFit/>
          </a:bodyPr>
          <a:lstStyle/>
          <a:p>
            <a:r>
              <a:rPr lang="en-US" sz="2800" b="1" dirty="0" err="1">
                <a:solidFill>
                  <a:srgbClr val="FF0000"/>
                </a:solidFill>
                <a:latin typeface="Times New Roman" panose="02020603050405020304" pitchFamily="18" charset="0"/>
                <a:cs typeface="Times New Roman" panose="02020603050405020304" pitchFamily="18" charset="0"/>
              </a:rPr>
              <a:t>Ví</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dụ</a:t>
            </a:r>
            <a:r>
              <a:rPr lang="en-US" sz="2800" b="1" dirty="0">
                <a:solidFill>
                  <a:srgbClr val="FF0000"/>
                </a:solidFill>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766A16B6-B653-DC36-3180-A6D4FAAA443B}"/>
              </a:ext>
            </a:extLst>
          </p:cNvPr>
          <p:cNvSpPr txBox="1"/>
          <p:nvPr/>
        </p:nvSpPr>
        <p:spPr>
          <a:xfrm>
            <a:off x="6508374" y="1440972"/>
            <a:ext cx="1878469" cy="523220"/>
          </a:xfrm>
          <a:prstGeom prst="rect">
            <a:avLst/>
          </a:prstGeom>
          <a:noFill/>
        </p:spPr>
        <p:txBody>
          <a:bodyPr wrap="square">
            <a:spAutoFit/>
          </a:bodyPr>
          <a:lstStyle/>
          <a:p>
            <a:r>
              <a:rPr lang="en-US" sz="2800" b="1" dirty="0" err="1">
                <a:solidFill>
                  <a:srgbClr val="FF0000"/>
                </a:solidFill>
                <a:latin typeface="Times New Roman" panose="02020603050405020304" pitchFamily="18" charset="0"/>
                <a:cs typeface="Times New Roman" panose="02020603050405020304" pitchFamily="18" charset="0"/>
              </a:rPr>
              <a:t>Giải</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thích</a:t>
            </a:r>
            <a:r>
              <a:rPr lang="en-US" sz="2800" b="1" dirty="0">
                <a:solidFill>
                  <a:srgbClr val="FF0000"/>
                </a:solidFill>
                <a:latin typeface="Times New Roman" panose="02020603050405020304" pitchFamily="18" charset="0"/>
                <a:cs typeface="Times New Roman" panose="02020603050405020304" pitchFamily="18" charset="0"/>
              </a:rPr>
              <a:t>:</a:t>
            </a:r>
          </a:p>
        </p:txBody>
      </p:sp>
      <p:pic>
        <p:nvPicPr>
          <p:cNvPr id="10" name="Picture 9">
            <a:extLst>
              <a:ext uri="{FF2B5EF4-FFF2-40B4-BE49-F238E27FC236}">
                <a16:creationId xmlns:a16="http://schemas.microsoft.com/office/drawing/2014/main" id="{05EB4DCC-293B-8D02-7442-46B9CDC6977E}"/>
              </a:ext>
            </a:extLst>
          </p:cNvPr>
          <p:cNvPicPr>
            <a:picLocks noChangeAspect="1"/>
          </p:cNvPicPr>
          <p:nvPr/>
        </p:nvPicPr>
        <p:blipFill>
          <a:blip r:embed="rId3"/>
          <a:stretch>
            <a:fillRect/>
          </a:stretch>
        </p:blipFill>
        <p:spPr>
          <a:xfrm>
            <a:off x="567558" y="1964192"/>
            <a:ext cx="5233166" cy="1859980"/>
          </a:xfrm>
          <a:prstGeom prst="rect">
            <a:avLst/>
          </a:prstGeom>
        </p:spPr>
      </p:pic>
      <p:sp>
        <p:nvSpPr>
          <p:cNvPr id="12" name="TextBox 11">
            <a:extLst>
              <a:ext uri="{FF2B5EF4-FFF2-40B4-BE49-F238E27FC236}">
                <a16:creationId xmlns:a16="http://schemas.microsoft.com/office/drawing/2014/main" id="{1FAD980E-D410-FCAF-5D52-FFF88579EC21}"/>
              </a:ext>
            </a:extLst>
          </p:cNvPr>
          <p:cNvSpPr txBox="1"/>
          <p:nvPr/>
        </p:nvSpPr>
        <p:spPr>
          <a:xfrm>
            <a:off x="6059640" y="2041631"/>
            <a:ext cx="6099048" cy="1938992"/>
          </a:xfrm>
          <a:prstGeom prst="rect">
            <a:avLst/>
          </a:prstGeom>
          <a:noFill/>
        </p:spPr>
        <p:txBody>
          <a:bodyPr wrap="square">
            <a:spAutoFit/>
          </a:bodyPr>
          <a:lstStyle/>
          <a:p>
            <a:pPr marL="342900" indent="-342900">
              <a:buFont typeface="Arial" panose="020B0604020202020204" pitchFamily="34" charset="0"/>
              <a:buChar char="•"/>
            </a:pPr>
            <a:r>
              <a:rPr lang="vi-VN" sz="2000">
                <a:latin typeface="Times New Roman" panose="02020603050405020304" pitchFamily="18" charset="0"/>
                <a:cs typeface="Times New Roman" panose="02020603050405020304" pitchFamily="18" charset="0"/>
              </a:rPr>
              <a:t>let i = 1; → tạo biến i bắt đầu từ 1.</a:t>
            </a:r>
          </a:p>
          <a:p>
            <a:pPr marL="342900" indent="-342900">
              <a:buFont typeface="Arial" panose="020B0604020202020204" pitchFamily="34" charset="0"/>
              <a:buChar char="•"/>
            </a:pPr>
            <a:r>
              <a:rPr lang="vi-VN" sz="2000" b="1">
                <a:latin typeface="Times New Roman" panose="02020603050405020304" pitchFamily="18" charset="0"/>
                <a:cs typeface="Times New Roman" panose="02020603050405020304" pitchFamily="18" charset="0"/>
              </a:rPr>
              <a:t>while (i &lt;= 5)</a:t>
            </a:r>
            <a:r>
              <a:rPr lang="vi-VN" sz="2000">
                <a:latin typeface="Times New Roman" panose="02020603050405020304" pitchFamily="18" charset="0"/>
                <a:cs typeface="Times New Roman" panose="02020603050405020304" pitchFamily="18" charset="0"/>
              </a:rPr>
              <a:t> → kiểm tra điều kiện: nếu i nhỏ hơn hoặc bằng 5 → tiếp tục lặp.</a:t>
            </a:r>
          </a:p>
          <a:p>
            <a:pPr marL="342900" indent="-342900">
              <a:buFont typeface="Arial" panose="020B0604020202020204" pitchFamily="34" charset="0"/>
              <a:buChar char="•"/>
            </a:pPr>
            <a:r>
              <a:rPr lang="vi-VN" sz="2000" b="1">
                <a:latin typeface="Times New Roman" panose="02020603050405020304" pitchFamily="18" charset="0"/>
                <a:cs typeface="Times New Roman" panose="02020603050405020304" pitchFamily="18" charset="0"/>
              </a:rPr>
              <a:t>console.log(i); </a:t>
            </a:r>
            <a:r>
              <a:rPr lang="vi-VN" sz="2000">
                <a:latin typeface="Times New Roman" panose="02020603050405020304" pitchFamily="18" charset="0"/>
                <a:cs typeface="Times New Roman" panose="02020603050405020304" pitchFamily="18" charset="0"/>
              </a:rPr>
              <a:t>→ in giá trị hiện tại của i.</a:t>
            </a:r>
          </a:p>
          <a:p>
            <a:pPr marL="342900" indent="-342900">
              <a:buFont typeface="Arial" panose="020B0604020202020204" pitchFamily="34" charset="0"/>
              <a:buChar char="•"/>
            </a:pPr>
            <a:r>
              <a:rPr lang="vi-VN" sz="2000" b="1">
                <a:latin typeface="Times New Roman" panose="02020603050405020304" pitchFamily="18" charset="0"/>
                <a:cs typeface="Times New Roman" panose="02020603050405020304" pitchFamily="18" charset="0"/>
              </a:rPr>
              <a:t>i++;</a:t>
            </a:r>
            <a:r>
              <a:rPr lang="vi-VN" sz="2000">
                <a:latin typeface="Times New Roman" panose="02020603050405020304" pitchFamily="18" charset="0"/>
                <a:cs typeface="Times New Roman" panose="02020603050405020304" pitchFamily="18" charset="0"/>
              </a:rPr>
              <a:t> → tăng i lên 1 sau mỗi vòng lặp để tránh vòng lặp vô hạn.</a:t>
            </a:r>
          </a:p>
        </p:txBody>
      </p:sp>
      <p:cxnSp>
        <p:nvCxnSpPr>
          <p:cNvPr id="2" name="Straight Connector 1">
            <a:extLst>
              <a:ext uri="{FF2B5EF4-FFF2-40B4-BE49-F238E27FC236}">
                <a16:creationId xmlns:a16="http://schemas.microsoft.com/office/drawing/2014/main" id="{FB122629-6E53-E141-0EAE-C5956ACD3AAB}"/>
              </a:ext>
            </a:extLst>
          </p:cNvPr>
          <p:cNvCxnSpPr/>
          <p:nvPr/>
        </p:nvCxnSpPr>
        <p:spPr>
          <a:xfrm>
            <a:off x="5961528" y="1570039"/>
            <a:ext cx="0" cy="2598549"/>
          </a:xfrm>
          <a:prstGeom prst="line">
            <a:avLst/>
          </a:prstGeom>
          <a:ln w="57150"/>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46935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72542F-B399-4ADC-CE5F-83B29F9D93AE}"/>
              </a:ext>
            </a:extLst>
          </p:cNvPr>
          <p:cNvSpPr>
            <a:spLocks noGrp="1"/>
          </p:cNvSpPr>
          <p:nvPr>
            <p:ph idx="1"/>
          </p:nvPr>
        </p:nvSpPr>
        <p:spPr/>
        <p:txBody>
          <a:bodyPr/>
          <a:lstStyle/>
          <a:p>
            <a:r>
              <a:rPr lang="en-US" b="1"/>
              <a:t>Khái niệm:</a:t>
            </a:r>
          </a:p>
          <a:p>
            <a:pPr lvl="1"/>
            <a:r>
              <a:rPr lang="vi-VN"/>
              <a:t>Là vòng lặp </a:t>
            </a:r>
            <a:r>
              <a:rPr lang="vi-VN" b="1"/>
              <a:t>thực hiện khối lệnh trước, kiểm tra điều kiện sau</a:t>
            </a:r>
            <a:r>
              <a:rPr lang="vi-VN"/>
              <a:t>.</a:t>
            </a:r>
            <a:endParaRPr lang="en-US"/>
          </a:p>
          <a:p>
            <a:pPr lvl="1"/>
            <a:r>
              <a:rPr lang="vi-VN"/>
              <a:t>Nghĩa là </a:t>
            </a:r>
            <a:r>
              <a:rPr lang="vi-VN" b="1"/>
              <a:t>ít nhất một lần lặp luôn được thực hiện</a:t>
            </a:r>
            <a:r>
              <a:rPr lang="vi-VN"/>
              <a:t> dù điều kiện ban đầu là false.</a:t>
            </a:r>
            <a:endParaRPr lang="en-US" b="1"/>
          </a:p>
          <a:p>
            <a:pPr marL="0" indent="0">
              <a:buNone/>
            </a:pPr>
            <a:endParaRPr lang="en-US"/>
          </a:p>
        </p:txBody>
      </p:sp>
      <p:sp>
        <p:nvSpPr>
          <p:cNvPr id="3" name="Footer Placeholder 2">
            <a:extLst>
              <a:ext uri="{FF2B5EF4-FFF2-40B4-BE49-F238E27FC236}">
                <a16:creationId xmlns:a16="http://schemas.microsoft.com/office/drawing/2014/main" id="{ED630E28-BB8A-8075-7CAB-FCB472B1123D}"/>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D4B48D8E-4A76-BF0A-7739-B436C631D912}"/>
              </a:ext>
            </a:extLst>
          </p:cNvPr>
          <p:cNvSpPr>
            <a:spLocks noGrp="1"/>
          </p:cNvSpPr>
          <p:nvPr>
            <p:ph type="sldNum" sz="quarter" idx="4"/>
          </p:nvPr>
        </p:nvSpPr>
        <p:spPr/>
        <p:txBody>
          <a:bodyPr/>
          <a:lstStyle/>
          <a:p>
            <a:fld id="{3A02590D-67BD-4DF2-8CAA-B9002293EB8E}" type="slidenum">
              <a:rPr lang="en-US" smtClean="0"/>
              <a:pPr/>
              <a:t>30</a:t>
            </a:fld>
            <a:endParaRPr lang="en-US" dirty="0"/>
          </a:p>
        </p:txBody>
      </p:sp>
      <p:sp>
        <p:nvSpPr>
          <p:cNvPr id="5" name="Title 4">
            <a:extLst>
              <a:ext uri="{FF2B5EF4-FFF2-40B4-BE49-F238E27FC236}">
                <a16:creationId xmlns:a16="http://schemas.microsoft.com/office/drawing/2014/main" id="{E058686F-BBF2-E10E-9715-8B500F52151A}"/>
              </a:ext>
            </a:extLst>
          </p:cNvPr>
          <p:cNvSpPr>
            <a:spLocks noGrp="1"/>
          </p:cNvSpPr>
          <p:nvPr>
            <p:ph type="title"/>
          </p:nvPr>
        </p:nvSpPr>
        <p:spPr/>
        <p:txBody>
          <a:bodyPr/>
          <a:lstStyle/>
          <a:p>
            <a:r>
              <a:rPr lang="en-US"/>
              <a:t>VÒNG LẶP DO-WHILE</a:t>
            </a:r>
          </a:p>
        </p:txBody>
      </p:sp>
      <p:sp>
        <p:nvSpPr>
          <p:cNvPr id="8" name="TextBox 7">
            <a:extLst>
              <a:ext uri="{FF2B5EF4-FFF2-40B4-BE49-F238E27FC236}">
                <a16:creationId xmlns:a16="http://schemas.microsoft.com/office/drawing/2014/main" id="{998C5C13-4518-3586-4396-90ACDC29D6FF}"/>
              </a:ext>
            </a:extLst>
          </p:cNvPr>
          <p:cNvSpPr txBox="1"/>
          <p:nvPr/>
        </p:nvSpPr>
        <p:spPr>
          <a:xfrm>
            <a:off x="728922" y="2582840"/>
            <a:ext cx="2319077" cy="523220"/>
          </a:xfrm>
          <a:prstGeom prst="rect">
            <a:avLst/>
          </a:prstGeom>
          <a:noFill/>
        </p:spPr>
        <p:txBody>
          <a:bodyPr wrap="square">
            <a:spAutoFit/>
          </a:bodyPr>
          <a:lstStyle/>
          <a:p>
            <a:r>
              <a:rPr lang="en-US" sz="2800" b="1" dirty="0">
                <a:solidFill>
                  <a:srgbClr val="FF0000"/>
                </a:solidFill>
                <a:latin typeface="Times New Roman" panose="02020603050405020304" pitchFamily="18" charset="0"/>
                <a:cs typeface="Times New Roman" panose="02020603050405020304" pitchFamily="18" charset="0"/>
              </a:rPr>
              <a:t>Cú </a:t>
            </a:r>
            <a:r>
              <a:rPr lang="en-US" sz="2800" b="1" dirty="0" err="1">
                <a:solidFill>
                  <a:srgbClr val="FF0000"/>
                </a:solidFill>
                <a:latin typeface="Times New Roman" panose="02020603050405020304" pitchFamily="18" charset="0"/>
                <a:cs typeface="Times New Roman" panose="02020603050405020304" pitchFamily="18" charset="0"/>
              </a:rPr>
              <a:t>pháp</a:t>
            </a:r>
            <a:r>
              <a:rPr lang="en-US" sz="2800" b="1" dirty="0">
                <a:solidFill>
                  <a:srgbClr val="FF0000"/>
                </a:solidFill>
                <a:latin typeface="Times New Roman" panose="02020603050405020304" pitchFamily="18" charset="0"/>
                <a:cs typeface="Times New Roman" panose="02020603050405020304" pitchFamily="18" charset="0"/>
              </a:rPr>
              <a:t>:</a:t>
            </a:r>
          </a:p>
        </p:txBody>
      </p:sp>
      <p:sp>
        <p:nvSpPr>
          <p:cNvPr id="9" name="TextBox 8">
            <a:extLst>
              <a:ext uri="{FF2B5EF4-FFF2-40B4-BE49-F238E27FC236}">
                <a16:creationId xmlns:a16="http://schemas.microsoft.com/office/drawing/2014/main" id="{515EFA51-691B-1777-C584-D3576B7352E9}"/>
              </a:ext>
            </a:extLst>
          </p:cNvPr>
          <p:cNvSpPr txBox="1"/>
          <p:nvPr/>
        </p:nvSpPr>
        <p:spPr>
          <a:xfrm>
            <a:off x="5475537" y="2533982"/>
            <a:ext cx="1818643" cy="523220"/>
          </a:xfrm>
          <a:prstGeom prst="rect">
            <a:avLst/>
          </a:prstGeom>
          <a:noFill/>
        </p:spPr>
        <p:txBody>
          <a:bodyPr wrap="square">
            <a:spAutoFit/>
          </a:bodyPr>
          <a:lstStyle/>
          <a:p>
            <a:r>
              <a:rPr lang="en-US" sz="2800" b="1" dirty="0" err="1">
                <a:solidFill>
                  <a:srgbClr val="FF0000"/>
                </a:solidFill>
                <a:latin typeface="Times New Roman" panose="02020603050405020304" pitchFamily="18" charset="0"/>
                <a:cs typeface="Times New Roman" panose="02020603050405020304" pitchFamily="18" charset="0"/>
              </a:rPr>
              <a:t>Giải</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thích</a:t>
            </a:r>
            <a:r>
              <a:rPr lang="en-US" sz="2800" b="1" dirty="0">
                <a:solidFill>
                  <a:srgbClr val="FF0000"/>
                </a:solidFill>
                <a:latin typeface="Times New Roman" panose="02020603050405020304" pitchFamily="18" charset="0"/>
                <a:cs typeface="Times New Roman" panose="02020603050405020304" pitchFamily="18" charset="0"/>
              </a:rPr>
              <a:t>:</a:t>
            </a:r>
          </a:p>
        </p:txBody>
      </p:sp>
      <p:pic>
        <p:nvPicPr>
          <p:cNvPr id="11" name="Picture 10">
            <a:extLst>
              <a:ext uri="{FF2B5EF4-FFF2-40B4-BE49-F238E27FC236}">
                <a16:creationId xmlns:a16="http://schemas.microsoft.com/office/drawing/2014/main" id="{1F084EDB-2A7B-AFF1-6180-5BC1E18269EF}"/>
              </a:ext>
            </a:extLst>
          </p:cNvPr>
          <p:cNvPicPr>
            <a:picLocks noChangeAspect="1"/>
          </p:cNvPicPr>
          <p:nvPr/>
        </p:nvPicPr>
        <p:blipFill>
          <a:blip r:embed="rId3"/>
          <a:stretch>
            <a:fillRect/>
          </a:stretch>
        </p:blipFill>
        <p:spPr>
          <a:xfrm>
            <a:off x="567558" y="3106060"/>
            <a:ext cx="4085162" cy="1809882"/>
          </a:xfrm>
          <a:prstGeom prst="rect">
            <a:avLst/>
          </a:prstGeom>
        </p:spPr>
      </p:pic>
      <p:sp>
        <p:nvSpPr>
          <p:cNvPr id="13" name="TextBox 12">
            <a:extLst>
              <a:ext uri="{FF2B5EF4-FFF2-40B4-BE49-F238E27FC236}">
                <a16:creationId xmlns:a16="http://schemas.microsoft.com/office/drawing/2014/main" id="{D231937C-4BF1-CE7D-2425-6A2752147D6C}"/>
              </a:ext>
            </a:extLst>
          </p:cNvPr>
          <p:cNvSpPr txBox="1"/>
          <p:nvPr/>
        </p:nvSpPr>
        <p:spPr>
          <a:xfrm>
            <a:off x="5475537" y="3160152"/>
            <a:ext cx="6099048" cy="1015663"/>
          </a:xfrm>
          <a:prstGeom prst="rect">
            <a:avLst/>
          </a:prstGeom>
          <a:noFill/>
        </p:spPr>
        <p:txBody>
          <a:bodyPr wrap="square">
            <a:spAutoFit/>
          </a:bodyPr>
          <a:lstStyle/>
          <a:p>
            <a:pPr marL="285750" indent="-28575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Khối lệnh trong </a:t>
            </a:r>
            <a:r>
              <a:rPr lang="en-US" sz="2000" b="1">
                <a:latin typeface="Times New Roman" panose="02020603050405020304" pitchFamily="18" charset="0"/>
                <a:cs typeface="Times New Roman" panose="02020603050405020304" pitchFamily="18" charset="0"/>
              </a:rPr>
              <a:t>do {} </a:t>
            </a:r>
            <a:r>
              <a:rPr lang="en-US" sz="2000">
                <a:latin typeface="Times New Roman" panose="02020603050405020304" pitchFamily="18" charset="0"/>
                <a:cs typeface="Times New Roman" panose="02020603050405020304" pitchFamily="18" charset="0"/>
              </a:rPr>
              <a:t>luôn chạy ít nhất 1 lần.</a:t>
            </a:r>
          </a:p>
          <a:p>
            <a:pPr marL="285750" indent="-28575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Sau mỗi vòng lặp, </a:t>
            </a:r>
            <a:r>
              <a:rPr lang="en-US" sz="2000" b="1">
                <a:latin typeface="Times New Roman" panose="02020603050405020304" pitchFamily="18" charset="0"/>
                <a:cs typeface="Times New Roman" panose="02020603050405020304" pitchFamily="18" charset="0"/>
              </a:rPr>
              <a:t>kiểm tra điều kiện </a:t>
            </a:r>
            <a:r>
              <a:rPr lang="en-US" sz="2000">
                <a:latin typeface="Times New Roman" panose="02020603050405020304" pitchFamily="18" charset="0"/>
                <a:cs typeface="Times New Roman" panose="02020603050405020304" pitchFamily="18" charset="0"/>
              </a:rPr>
              <a:t>để quyết định có tiếp tục lặp hay không.</a:t>
            </a:r>
          </a:p>
        </p:txBody>
      </p:sp>
      <p:cxnSp>
        <p:nvCxnSpPr>
          <p:cNvPr id="6" name="Straight Connector 5">
            <a:extLst>
              <a:ext uri="{FF2B5EF4-FFF2-40B4-BE49-F238E27FC236}">
                <a16:creationId xmlns:a16="http://schemas.microsoft.com/office/drawing/2014/main" id="{86758445-F7C6-07D7-292E-28B3A0E43090}"/>
              </a:ext>
            </a:extLst>
          </p:cNvPr>
          <p:cNvCxnSpPr/>
          <p:nvPr/>
        </p:nvCxnSpPr>
        <p:spPr>
          <a:xfrm>
            <a:off x="5047128" y="2533982"/>
            <a:ext cx="0" cy="2598549"/>
          </a:xfrm>
          <a:prstGeom prst="line">
            <a:avLst/>
          </a:prstGeom>
          <a:ln w="57150"/>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0573227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52617-EDCE-A071-5A97-23F99281F2A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00E3A8-F847-7BB7-F347-6C94A592EFD4}"/>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510C3BB1-CE30-8843-C76E-30EF21515921}"/>
              </a:ext>
            </a:extLst>
          </p:cNvPr>
          <p:cNvSpPr>
            <a:spLocks noGrp="1"/>
          </p:cNvSpPr>
          <p:nvPr>
            <p:ph type="sldNum" sz="quarter" idx="4"/>
          </p:nvPr>
        </p:nvSpPr>
        <p:spPr/>
        <p:txBody>
          <a:bodyPr/>
          <a:lstStyle/>
          <a:p>
            <a:fld id="{3A02590D-67BD-4DF2-8CAA-B9002293EB8E}" type="slidenum">
              <a:rPr lang="en-US" smtClean="0"/>
              <a:pPr/>
              <a:t>31</a:t>
            </a:fld>
            <a:endParaRPr lang="en-US" dirty="0"/>
          </a:p>
        </p:txBody>
      </p:sp>
      <p:sp>
        <p:nvSpPr>
          <p:cNvPr id="5" name="Title 4">
            <a:extLst>
              <a:ext uri="{FF2B5EF4-FFF2-40B4-BE49-F238E27FC236}">
                <a16:creationId xmlns:a16="http://schemas.microsoft.com/office/drawing/2014/main" id="{7CFA1B17-0D55-030A-E61E-17B2F3652352}"/>
              </a:ext>
            </a:extLst>
          </p:cNvPr>
          <p:cNvSpPr>
            <a:spLocks noGrp="1"/>
          </p:cNvSpPr>
          <p:nvPr>
            <p:ph type="title"/>
          </p:nvPr>
        </p:nvSpPr>
        <p:spPr/>
        <p:txBody>
          <a:bodyPr/>
          <a:lstStyle/>
          <a:p>
            <a:r>
              <a:rPr lang="en-US"/>
              <a:t>VÒNG LẶP DO-WHILE</a:t>
            </a:r>
          </a:p>
        </p:txBody>
      </p:sp>
      <p:sp>
        <p:nvSpPr>
          <p:cNvPr id="6" name="TextBox 5">
            <a:extLst>
              <a:ext uri="{FF2B5EF4-FFF2-40B4-BE49-F238E27FC236}">
                <a16:creationId xmlns:a16="http://schemas.microsoft.com/office/drawing/2014/main" id="{4ECFC55F-0521-D741-4106-77904F31141C}"/>
              </a:ext>
            </a:extLst>
          </p:cNvPr>
          <p:cNvSpPr txBox="1"/>
          <p:nvPr/>
        </p:nvSpPr>
        <p:spPr>
          <a:xfrm>
            <a:off x="451017" y="1481219"/>
            <a:ext cx="1484376" cy="523220"/>
          </a:xfrm>
          <a:prstGeom prst="rect">
            <a:avLst/>
          </a:prstGeom>
          <a:noFill/>
        </p:spPr>
        <p:txBody>
          <a:bodyPr wrap="square">
            <a:spAutoFit/>
          </a:bodyPr>
          <a:lstStyle/>
          <a:p>
            <a:r>
              <a:rPr lang="en-US" sz="2800" b="1" dirty="0" err="1">
                <a:solidFill>
                  <a:srgbClr val="FF0000"/>
                </a:solidFill>
                <a:latin typeface="Times New Roman" panose="02020603050405020304" pitchFamily="18" charset="0"/>
                <a:cs typeface="Times New Roman" panose="02020603050405020304" pitchFamily="18" charset="0"/>
              </a:rPr>
              <a:t>Ví</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dụ</a:t>
            </a:r>
            <a:r>
              <a:rPr lang="en-US" sz="2800" b="1" dirty="0">
                <a:solidFill>
                  <a:srgbClr val="FF0000"/>
                </a:solidFill>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4E55D0CD-FC44-5987-6566-609E5421E67E}"/>
              </a:ext>
            </a:extLst>
          </p:cNvPr>
          <p:cNvSpPr txBox="1"/>
          <p:nvPr/>
        </p:nvSpPr>
        <p:spPr>
          <a:xfrm>
            <a:off x="6096000" y="1440972"/>
            <a:ext cx="1878469" cy="523220"/>
          </a:xfrm>
          <a:prstGeom prst="rect">
            <a:avLst/>
          </a:prstGeom>
          <a:noFill/>
        </p:spPr>
        <p:txBody>
          <a:bodyPr wrap="square">
            <a:spAutoFit/>
          </a:bodyPr>
          <a:lstStyle/>
          <a:p>
            <a:r>
              <a:rPr lang="en-US" sz="2800" b="1" dirty="0" err="1">
                <a:solidFill>
                  <a:srgbClr val="FF0000"/>
                </a:solidFill>
                <a:latin typeface="Times New Roman" panose="02020603050405020304" pitchFamily="18" charset="0"/>
                <a:cs typeface="Times New Roman" panose="02020603050405020304" pitchFamily="18" charset="0"/>
              </a:rPr>
              <a:t>Giải</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thích</a:t>
            </a:r>
            <a:r>
              <a:rPr lang="en-US" sz="2800" b="1" dirty="0">
                <a:solidFill>
                  <a:srgbClr val="FF0000"/>
                </a:solidFill>
                <a:latin typeface="Times New Roman" panose="02020603050405020304" pitchFamily="18" charset="0"/>
                <a:cs typeface="Times New Roman" panose="02020603050405020304" pitchFamily="18" charset="0"/>
              </a:rPr>
              <a:t>:</a:t>
            </a:r>
          </a:p>
        </p:txBody>
      </p:sp>
      <p:sp>
        <p:nvSpPr>
          <p:cNvPr id="12" name="TextBox 11">
            <a:extLst>
              <a:ext uri="{FF2B5EF4-FFF2-40B4-BE49-F238E27FC236}">
                <a16:creationId xmlns:a16="http://schemas.microsoft.com/office/drawing/2014/main" id="{13CE518B-617D-EF5D-5B34-05193FAA928B}"/>
              </a:ext>
            </a:extLst>
          </p:cNvPr>
          <p:cNvSpPr txBox="1"/>
          <p:nvPr/>
        </p:nvSpPr>
        <p:spPr>
          <a:xfrm>
            <a:off x="6059640" y="2041631"/>
            <a:ext cx="6099048" cy="2246769"/>
          </a:xfrm>
          <a:prstGeom prst="rect">
            <a:avLst/>
          </a:prstGeom>
          <a:noFill/>
        </p:spPr>
        <p:txBody>
          <a:bodyPr wrap="square">
            <a:spAutoFit/>
          </a:bodyPr>
          <a:lstStyle/>
          <a:p>
            <a:pPr marL="342900" indent="-342900">
              <a:buFont typeface="Arial" panose="020B0604020202020204" pitchFamily="34" charset="0"/>
              <a:buChar char="•"/>
            </a:pPr>
            <a:r>
              <a:rPr lang="en-US" sz="2000" b="1">
                <a:latin typeface="Times New Roman" panose="02020603050405020304" pitchFamily="18" charset="0"/>
                <a:cs typeface="Times New Roman" panose="02020603050405020304" pitchFamily="18" charset="0"/>
              </a:rPr>
              <a:t>let i = 10;</a:t>
            </a:r>
            <a:r>
              <a:rPr lang="en-US" sz="2000">
                <a:latin typeface="Times New Roman" panose="02020603050405020304" pitchFamily="18" charset="0"/>
                <a:cs typeface="Times New Roman" panose="02020603050405020304" pitchFamily="18" charset="0"/>
              </a:rPr>
              <a:t> → tạo biến i bằng </a:t>
            </a:r>
            <a:r>
              <a:rPr lang="en-US" sz="2000" b="1">
                <a:latin typeface="Times New Roman" panose="02020603050405020304" pitchFamily="18" charset="0"/>
                <a:cs typeface="Times New Roman" panose="02020603050405020304" pitchFamily="18" charset="0"/>
              </a:rPr>
              <a:t>10</a:t>
            </a:r>
            <a:r>
              <a:rPr lang="en-US" sz="200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do { console.log("Chạy ít nhất 1 lần"); } → khối lệnh trong do luôn chạy </a:t>
            </a:r>
            <a:r>
              <a:rPr lang="en-US" sz="2000" b="1">
                <a:latin typeface="Times New Roman" panose="02020603050405020304" pitchFamily="18" charset="0"/>
                <a:cs typeface="Times New Roman" panose="02020603050405020304" pitchFamily="18" charset="0"/>
              </a:rPr>
              <a:t>ít nhất 1 lần</a:t>
            </a:r>
            <a:r>
              <a:rPr lang="en-US" sz="2000">
                <a:latin typeface="Times New Roman" panose="02020603050405020304" pitchFamily="18" charset="0"/>
                <a:cs typeface="Times New Roman" panose="02020603050405020304" pitchFamily="18" charset="0"/>
              </a:rPr>
              <a:t>, nên in ra "Chạy ít nhất 1 lần".</a:t>
            </a:r>
          </a:p>
          <a:p>
            <a:pPr marL="342900" indent="-342900">
              <a:buFont typeface="Arial" panose="020B0604020202020204" pitchFamily="34" charset="0"/>
              <a:buChar char="•"/>
            </a:pPr>
            <a:r>
              <a:rPr lang="en-US" sz="2000" b="1">
                <a:latin typeface="Times New Roman" panose="02020603050405020304" pitchFamily="18" charset="0"/>
                <a:cs typeface="Times New Roman" panose="02020603050405020304" pitchFamily="18" charset="0"/>
              </a:rPr>
              <a:t>while (i &lt; 5); </a:t>
            </a:r>
            <a:r>
              <a:rPr lang="en-US" sz="2000">
                <a:latin typeface="Times New Roman" panose="02020603050405020304" pitchFamily="18" charset="0"/>
                <a:cs typeface="Times New Roman" panose="02020603050405020304" pitchFamily="18" charset="0"/>
              </a:rPr>
              <a:t>→ kiểm tra điều kiện sau khi chạy khối lệnh.</a:t>
            </a:r>
          </a:p>
          <a:p>
            <a:pPr marL="342900"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Vì </a:t>
            </a:r>
            <a:r>
              <a:rPr lang="en-US" sz="2000" b="1">
                <a:latin typeface="Times New Roman" panose="02020603050405020304" pitchFamily="18" charset="0"/>
                <a:cs typeface="Times New Roman" panose="02020603050405020304" pitchFamily="18" charset="0"/>
              </a:rPr>
              <a:t>i &lt; 5 là false</a:t>
            </a:r>
            <a:r>
              <a:rPr lang="en-US" sz="2000">
                <a:latin typeface="Times New Roman" panose="02020603050405020304" pitchFamily="18" charset="0"/>
                <a:cs typeface="Times New Roman" panose="02020603050405020304" pitchFamily="18" charset="0"/>
              </a:rPr>
              <a:t>, vòng lặp dừng sau 1 lần chạy.</a:t>
            </a:r>
          </a:p>
        </p:txBody>
      </p:sp>
      <p:pic>
        <p:nvPicPr>
          <p:cNvPr id="8" name="Picture 7">
            <a:extLst>
              <a:ext uri="{FF2B5EF4-FFF2-40B4-BE49-F238E27FC236}">
                <a16:creationId xmlns:a16="http://schemas.microsoft.com/office/drawing/2014/main" id="{1CE3C247-ADDC-7FEE-1285-B52D4BD42978}"/>
              </a:ext>
            </a:extLst>
          </p:cNvPr>
          <p:cNvPicPr>
            <a:picLocks noChangeAspect="1"/>
          </p:cNvPicPr>
          <p:nvPr/>
        </p:nvPicPr>
        <p:blipFill>
          <a:blip r:embed="rId2"/>
          <a:stretch>
            <a:fillRect/>
          </a:stretch>
        </p:blipFill>
        <p:spPr>
          <a:xfrm>
            <a:off x="278232" y="2004439"/>
            <a:ext cx="5258508" cy="2352408"/>
          </a:xfrm>
          <a:prstGeom prst="rect">
            <a:avLst/>
          </a:prstGeom>
        </p:spPr>
      </p:pic>
      <p:cxnSp>
        <p:nvCxnSpPr>
          <p:cNvPr id="2" name="Straight Connector 1">
            <a:extLst>
              <a:ext uri="{FF2B5EF4-FFF2-40B4-BE49-F238E27FC236}">
                <a16:creationId xmlns:a16="http://schemas.microsoft.com/office/drawing/2014/main" id="{A9790B99-DAFD-1CA5-8B19-90E00C6F50FA}"/>
              </a:ext>
            </a:extLst>
          </p:cNvPr>
          <p:cNvCxnSpPr/>
          <p:nvPr/>
        </p:nvCxnSpPr>
        <p:spPr>
          <a:xfrm>
            <a:off x="5800724" y="1689851"/>
            <a:ext cx="0" cy="2598549"/>
          </a:xfrm>
          <a:prstGeom prst="line">
            <a:avLst/>
          </a:prstGeom>
          <a:ln w="57150"/>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71771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7F7DBC-D8F0-39A7-BC36-3E2DE3A81394}"/>
              </a:ext>
            </a:extLst>
          </p:cNvPr>
          <p:cNvSpPr>
            <a:spLocks noGrp="1"/>
          </p:cNvSpPr>
          <p:nvPr>
            <p:ph idx="1"/>
          </p:nvPr>
        </p:nvSpPr>
        <p:spPr>
          <a:xfrm>
            <a:off x="202020" y="1024758"/>
            <a:ext cx="11590586" cy="5234152"/>
          </a:xfrm>
        </p:spPr>
        <p:txBody>
          <a:bodyPr>
            <a:normAutofit fontScale="92500" lnSpcReduction="10000"/>
          </a:bodyPr>
          <a:lstStyle/>
          <a:p>
            <a:r>
              <a:rPr lang="vi-VN" b="1" dirty="0"/>
              <a:t>Bài tập 1</a:t>
            </a:r>
            <a:endParaRPr lang="vi-VN" dirty="0"/>
          </a:p>
          <a:p>
            <a:pPr lvl="1"/>
            <a:r>
              <a:rPr lang="vi-VN" sz="2600" dirty="0"/>
              <a:t>Đề bài: Sử dụng cấu trúc rẽ nhánh để tính tiền điện theo bậc</a:t>
            </a:r>
          </a:p>
          <a:p>
            <a:pPr lvl="1"/>
            <a:r>
              <a:rPr lang="vi-VN" sz="2600" dirty="0"/>
              <a:t>Nhập vào số điện tiêu thụ (</a:t>
            </a:r>
            <a:r>
              <a:rPr lang="vi-VN" sz="2600" dirty="0" err="1"/>
              <a:t>kWh</a:t>
            </a:r>
            <a:r>
              <a:rPr lang="vi-VN" sz="2600" dirty="0"/>
              <a:t>). Tính tiền điện theo quy tắc:</a:t>
            </a:r>
          </a:p>
          <a:p>
            <a:pPr lvl="1"/>
            <a:r>
              <a:rPr lang="vi-VN" sz="2600" dirty="0"/>
              <a:t>- </a:t>
            </a:r>
            <a:r>
              <a:rPr lang="vi-VN" sz="2600" dirty="0" err="1"/>
              <a:t>kWh</a:t>
            </a:r>
            <a:r>
              <a:rPr lang="vi-VN" sz="2600" dirty="0"/>
              <a:t> &lt; 0: Dữ liệu không hợp lệ</a:t>
            </a:r>
          </a:p>
          <a:p>
            <a:pPr lvl="1"/>
            <a:r>
              <a:rPr lang="vi-VN" sz="2600" dirty="0"/>
              <a:t>- 0 – 50: 1.678 đ/</a:t>
            </a:r>
            <a:r>
              <a:rPr lang="vi-VN" sz="2600" dirty="0" err="1"/>
              <a:t>kWh</a:t>
            </a:r>
            <a:endParaRPr lang="vi-VN" sz="2600" dirty="0"/>
          </a:p>
          <a:p>
            <a:pPr lvl="1"/>
            <a:r>
              <a:rPr lang="vi-VN" sz="2600" dirty="0"/>
              <a:t>- 51 – 100: 1.734 đ/</a:t>
            </a:r>
            <a:r>
              <a:rPr lang="vi-VN" sz="2600" dirty="0" err="1"/>
              <a:t>kWh</a:t>
            </a:r>
            <a:endParaRPr lang="vi-VN" sz="2600" dirty="0"/>
          </a:p>
          <a:p>
            <a:pPr lvl="1"/>
            <a:r>
              <a:rPr lang="vi-VN" sz="2600" dirty="0"/>
              <a:t>- &gt; 100: 2.014 đ/</a:t>
            </a:r>
            <a:r>
              <a:rPr lang="vi-VN" sz="2600" dirty="0" err="1"/>
              <a:t>kWh</a:t>
            </a:r>
            <a:endParaRPr lang="vi-VN" sz="2600" dirty="0"/>
          </a:p>
          <a:p>
            <a:r>
              <a:rPr lang="vi-VN" b="1" dirty="0"/>
              <a:t>Bài tập 2</a:t>
            </a:r>
            <a:endParaRPr lang="vi-VN" dirty="0"/>
          </a:p>
          <a:p>
            <a:pPr lvl="1"/>
            <a:r>
              <a:rPr lang="vi-VN" sz="2600" dirty="0"/>
              <a:t>Đề bài: Sử dụng cấu trúc rẽ nhánh để xét điều kiện học bổng</a:t>
            </a:r>
          </a:p>
          <a:p>
            <a:pPr lvl="1"/>
            <a:r>
              <a:rPr lang="vi-VN" sz="2600" dirty="0"/>
              <a:t>Nhập vào điểm trung bình (</a:t>
            </a:r>
            <a:r>
              <a:rPr lang="vi-VN" sz="2600" dirty="0" err="1"/>
              <a:t>dtb</a:t>
            </a:r>
            <a:r>
              <a:rPr lang="vi-VN" sz="2600" dirty="0"/>
              <a:t>) và số buổi vắng (vang).</a:t>
            </a:r>
            <a:r>
              <a:rPr lang="en-US" sz="2600" dirty="0"/>
              <a:t> </a:t>
            </a:r>
            <a:r>
              <a:rPr lang="vi-VN" sz="2600" dirty="0"/>
              <a:t>Xét học bổng theo quy tắc:</a:t>
            </a:r>
          </a:p>
          <a:p>
            <a:pPr lvl="1"/>
            <a:r>
              <a:rPr lang="vi-VN" sz="2600" dirty="0"/>
              <a:t>- </a:t>
            </a:r>
            <a:r>
              <a:rPr lang="vi-VN" sz="2600" dirty="0" err="1"/>
              <a:t>dtb</a:t>
            </a:r>
            <a:r>
              <a:rPr lang="vi-VN" sz="2600" dirty="0"/>
              <a:t> &gt;= 8.5 và vang = 0: Học bổng Xuất sắc</a:t>
            </a:r>
          </a:p>
          <a:p>
            <a:pPr lvl="1"/>
            <a:r>
              <a:rPr lang="vi-VN" sz="2600" dirty="0"/>
              <a:t>- </a:t>
            </a:r>
            <a:r>
              <a:rPr lang="vi-VN" sz="2600" dirty="0" err="1"/>
              <a:t>dtb</a:t>
            </a:r>
            <a:r>
              <a:rPr lang="vi-VN" sz="2600" dirty="0"/>
              <a:t> &gt;= 7.5 và vang &lt;= 2: Học bổng Khá</a:t>
            </a:r>
          </a:p>
          <a:p>
            <a:pPr lvl="1"/>
            <a:r>
              <a:rPr lang="vi-VN" sz="2600" dirty="0"/>
              <a:t>- </a:t>
            </a:r>
            <a:r>
              <a:rPr lang="vi-VN" sz="2600" dirty="0" err="1"/>
              <a:t>dtb</a:t>
            </a:r>
            <a:r>
              <a:rPr lang="vi-VN" sz="2600" dirty="0"/>
              <a:t> &gt;= 6.5 và vang &lt;= 3: Học bổng Trung bình</a:t>
            </a:r>
          </a:p>
          <a:p>
            <a:pPr lvl="1"/>
            <a:r>
              <a:rPr lang="vi-VN" sz="2600" dirty="0"/>
              <a:t>- Trường hợp khác: Không đủ điều kiện</a:t>
            </a:r>
            <a:endParaRPr lang="en-US" sz="2600" dirty="0"/>
          </a:p>
        </p:txBody>
      </p:sp>
      <p:sp>
        <p:nvSpPr>
          <p:cNvPr id="3" name="Footer Placeholder 2">
            <a:extLst>
              <a:ext uri="{FF2B5EF4-FFF2-40B4-BE49-F238E27FC236}">
                <a16:creationId xmlns:a16="http://schemas.microsoft.com/office/drawing/2014/main" id="{14D4DC32-51DA-71A6-4C70-6D759154CC29}"/>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FC115E32-F190-5528-FC41-BFA7C2BF0F61}"/>
              </a:ext>
            </a:extLst>
          </p:cNvPr>
          <p:cNvSpPr>
            <a:spLocks noGrp="1"/>
          </p:cNvSpPr>
          <p:nvPr>
            <p:ph type="sldNum" sz="quarter" idx="4"/>
          </p:nvPr>
        </p:nvSpPr>
        <p:spPr/>
        <p:txBody>
          <a:bodyPr/>
          <a:lstStyle/>
          <a:p>
            <a:fld id="{3A02590D-67BD-4DF2-8CAA-B9002293EB8E}" type="slidenum">
              <a:rPr lang="en-US" smtClean="0"/>
              <a:pPr/>
              <a:t>32</a:t>
            </a:fld>
            <a:endParaRPr lang="en-US" dirty="0"/>
          </a:p>
        </p:txBody>
      </p:sp>
      <p:sp>
        <p:nvSpPr>
          <p:cNvPr id="5" name="Title 4">
            <a:extLst>
              <a:ext uri="{FF2B5EF4-FFF2-40B4-BE49-F238E27FC236}">
                <a16:creationId xmlns:a16="http://schemas.microsoft.com/office/drawing/2014/main" id="{2671A030-BDEE-0F86-2B0B-4DBD839E699B}"/>
              </a:ext>
            </a:extLst>
          </p:cNvPr>
          <p:cNvSpPr>
            <a:spLocks noGrp="1"/>
          </p:cNvSpPr>
          <p:nvPr>
            <p:ph type="title"/>
          </p:nvPr>
        </p:nvSpPr>
        <p:spPr/>
        <p:txBody>
          <a:bodyPr/>
          <a:lstStyle/>
          <a:p>
            <a:r>
              <a:rPr lang="en-US" dirty="0" err="1"/>
              <a:t>Bài</a:t>
            </a:r>
            <a:r>
              <a:rPr lang="en-US" dirty="0"/>
              <a:t> </a:t>
            </a:r>
            <a:r>
              <a:rPr lang="en-US" dirty="0" err="1"/>
              <a:t>tập</a:t>
            </a:r>
            <a:r>
              <a:rPr lang="en-US" dirty="0"/>
              <a:t> </a:t>
            </a:r>
            <a:r>
              <a:rPr lang="en-US" dirty="0" err="1"/>
              <a:t>về</a:t>
            </a:r>
            <a:r>
              <a:rPr lang="en-US" dirty="0"/>
              <a:t> </a:t>
            </a:r>
            <a:r>
              <a:rPr lang="en-US" dirty="0" err="1"/>
              <a:t>nhà</a:t>
            </a:r>
            <a:endParaRPr lang="en-US" dirty="0"/>
          </a:p>
        </p:txBody>
      </p:sp>
    </p:spTree>
    <p:extLst>
      <p:ext uri="{BB962C8B-B14F-4D97-AF65-F5344CB8AC3E}">
        <p14:creationId xmlns:p14="http://schemas.microsoft.com/office/powerpoint/2010/main" val="33120039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chor="ctr">
            <a:normAutofit/>
          </a:bodyPr>
          <a:lstStyle/>
          <a:p>
            <a:pPr marL="0" indent="0" algn="ctr">
              <a:buNone/>
            </a:pPr>
            <a:r>
              <a:rPr lang="en-US" sz="8800">
                <a:solidFill>
                  <a:srgbClr val="0000CC"/>
                </a:solidFill>
              </a:rPr>
              <a:t>THANK YOU</a:t>
            </a:r>
          </a:p>
        </p:txBody>
      </p:sp>
      <p:sp>
        <p:nvSpPr>
          <p:cNvPr id="4" name="Footer Placeholder 3">
            <a:extLst>
              <a:ext uri="{FF2B5EF4-FFF2-40B4-BE49-F238E27FC236}">
                <a16:creationId xmlns:a16="http://schemas.microsoft.com/office/drawing/2014/main" id="{1D33AD92-5E87-E375-BEDD-20E8E001EEDE}"/>
              </a:ext>
            </a:extLst>
          </p:cNvPr>
          <p:cNvSpPr>
            <a:spLocks noGrp="1"/>
          </p:cNvSpPr>
          <p:nvPr>
            <p:ph type="ftr" sz="quarter" idx="3"/>
          </p:nvPr>
        </p:nvSpPr>
        <p:spPr/>
        <p:txBody>
          <a:bodyPr/>
          <a:lstStyle/>
          <a:p>
            <a:r>
              <a:rPr lang="en-US"/>
              <a:t>KHOA CÔNG NGHỆ THÔNG TIN – LẬP TRÌNH TYPESCRIPT</a:t>
            </a:r>
            <a:endParaRPr lang="en-US" dirty="0"/>
          </a:p>
        </p:txBody>
      </p:sp>
      <p:sp>
        <p:nvSpPr>
          <p:cNvPr id="5" name="Slide Number Placeholder 4">
            <a:extLst>
              <a:ext uri="{FF2B5EF4-FFF2-40B4-BE49-F238E27FC236}">
                <a16:creationId xmlns:a16="http://schemas.microsoft.com/office/drawing/2014/main" id="{C2D20BA4-9A69-0F54-B570-F9F236F71D63}"/>
              </a:ext>
            </a:extLst>
          </p:cNvPr>
          <p:cNvSpPr>
            <a:spLocks noGrp="1"/>
          </p:cNvSpPr>
          <p:nvPr>
            <p:ph type="sldNum" sz="quarter" idx="4"/>
          </p:nvPr>
        </p:nvSpPr>
        <p:spPr/>
        <p:txBody>
          <a:bodyPr/>
          <a:lstStyle/>
          <a:p>
            <a:fld id="{3A02590D-67BD-4DF2-8CAA-B9002293EB8E}" type="slidenum">
              <a:rPr lang="en-US" smtClean="0"/>
              <a:pPr/>
              <a:t>33</a:t>
            </a:fld>
            <a:endParaRPr lang="en-US" dirty="0"/>
          </a:p>
        </p:txBody>
      </p:sp>
    </p:spTree>
    <p:extLst>
      <p:ext uri="{BB962C8B-B14F-4D97-AF65-F5344CB8AC3E}">
        <p14:creationId xmlns:p14="http://schemas.microsoft.com/office/powerpoint/2010/main" val="3266096323"/>
      </p:ext>
    </p:extLst>
  </p:cSld>
  <p:clrMapOvr>
    <a:masterClrMapping/>
  </p:clrMapOvr>
</p:sld>
</file>

<file path=ppt/theme/theme1.xml><?xml version="1.0" encoding="utf-8"?>
<a:theme xmlns:a="http://schemas.openxmlformats.org/drawingml/2006/main" name="Blue - v3">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ain font">
      <a:majorFont>
        <a:latin typeface="Nunito Bold"/>
        <a:ea typeface=""/>
        <a:cs typeface=""/>
      </a:majorFont>
      <a:minorFont>
        <a:latin typeface="Nuni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17199</TotalTime>
  <Words>3056</Words>
  <Application>Microsoft Office PowerPoint</Application>
  <PresentationFormat>Widescreen</PresentationFormat>
  <Paragraphs>454</Paragraphs>
  <Slides>33</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Courier New</vt:lpstr>
      <vt:lpstr>Nunito</vt:lpstr>
      <vt:lpstr>Times New Roman</vt:lpstr>
      <vt:lpstr>Wingdings</vt:lpstr>
      <vt:lpstr>Blue - v3</vt:lpstr>
      <vt:lpstr>PowerPoint Presentation</vt:lpstr>
      <vt:lpstr>Nhắc lại</vt:lpstr>
      <vt:lpstr>KHAI BÁO VÀ GỌI HÀM</vt:lpstr>
      <vt:lpstr>KHAI BÁO VÀ GỌI HÀM</vt:lpstr>
      <vt:lpstr>KHAI BÁO VÀ GỌI HÀM</vt:lpstr>
      <vt:lpstr>BÀI TẬP SỐ 1</vt:lpstr>
      <vt:lpstr>BÀI TẬP SỐ 1</vt:lpstr>
      <vt:lpstr>HƯỚNG DẪN ĐẶT DEBUG</vt:lpstr>
      <vt:lpstr>HƯỚNG DẪN ĐẶT DEBUG</vt:lpstr>
      <vt:lpstr>HƯỚNG DẪN ĐẶT DEBUG</vt:lpstr>
      <vt:lpstr>ARROW FUNCTION</vt:lpstr>
      <vt:lpstr>ARROW FUNCTION</vt:lpstr>
      <vt:lpstr>So sánh Arrow Function với Function thường</vt:lpstr>
      <vt:lpstr>ĐIỀU KHIỂN LUỒNG</vt:lpstr>
      <vt:lpstr>ĐIỀU KHIỂN LUỒNG</vt:lpstr>
      <vt:lpstr>ĐIỀU KHIỂN LUỒNG</vt:lpstr>
      <vt:lpstr>ĐIỀU KHIỂN LUỒNG</vt:lpstr>
      <vt:lpstr>ĐIỀU KHIỂN LUỒNG</vt:lpstr>
      <vt:lpstr>TOÁN TỬ ĐIỀU KIỆN (TERNARY)</vt:lpstr>
      <vt:lpstr>TOÁN TỬ NULLISH COALESCING (??)</vt:lpstr>
      <vt:lpstr>OPTIONAL CHAINING (?.)</vt:lpstr>
      <vt:lpstr>ĐIỀU KHIỂN LUỒNG</vt:lpstr>
      <vt:lpstr>ĐIỀU KHIỂN LUỒNG</vt:lpstr>
      <vt:lpstr>Bài tập thực hành số 2</vt:lpstr>
      <vt:lpstr>Bài tập thực hành số 3</vt:lpstr>
      <vt:lpstr>LUỒNG ĐIỀU KHIỂN LẶP</vt:lpstr>
      <vt:lpstr>VÒNG LẶP FOR</vt:lpstr>
      <vt:lpstr>VÒNG LẶP WHILE</vt:lpstr>
      <vt:lpstr>VÒNG LẶP WHILE</vt:lpstr>
      <vt:lpstr>VÒNG LẶP DO-WHILE</vt:lpstr>
      <vt:lpstr>VÒNG LẶP DO-WHILE</vt:lpstr>
      <vt:lpstr>Bài tập về nhà</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This PC</dc:creator>
  <cp:lastModifiedBy>Thắng Vĩnh</cp:lastModifiedBy>
  <cp:revision>327</cp:revision>
  <dcterms:created xsi:type="dcterms:W3CDTF">2021-12-20T01:48:15Z</dcterms:created>
  <dcterms:modified xsi:type="dcterms:W3CDTF">2026-03-24T10:55:45Z</dcterms:modified>
</cp:coreProperties>
</file>