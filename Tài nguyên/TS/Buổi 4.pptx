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25"/>
  </p:notesMasterIdLst>
  <p:handoutMasterIdLst>
    <p:handoutMasterId r:id="rId26"/>
  </p:handoutMasterIdLst>
  <p:sldIdLst>
    <p:sldId id="259" r:id="rId2"/>
    <p:sldId id="504" r:id="rId3"/>
    <p:sldId id="513" r:id="rId4"/>
    <p:sldId id="491" r:id="rId5"/>
    <p:sldId id="516" r:id="rId6"/>
    <p:sldId id="518" r:id="rId7"/>
    <p:sldId id="492" r:id="rId8"/>
    <p:sldId id="506" r:id="rId9"/>
    <p:sldId id="507" r:id="rId10"/>
    <p:sldId id="517" r:id="rId11"/>
    <p:sldId id="493" r:id="rId12"/>
    <p:sldId id="494" r:id="rId13"/>
    <p:sldId id="508" r:id="rId14"/>
    <p:sldId id="495" r:id="rId15"/>
    <p:sldId id="496" r:id="rId16"/>
    <p:sldId id="497" r:id="rId17"/>
    <p:sldId id="499" r:id="rId18"/>
    <p:sldId id="500" r:id="rId19"/>
    <p:sldId id="501" r:id="rId20"/>
    <p:sldId id="519" r:id="rId21"/>
    <p:sldId id="520" r:id="rId22"/>
    <p:sldId id="502" r:id="rId23"/>
    <p:sldId id="47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0C650AF-D70C-4C72-807E-CA8005841A33}">
          <p14:sldIdLst>
            <p14:sldId id="259"/>
            <p14:sldId id="504"/>
            <p14:sldId id="513"/>
            <p14:sldId id="491"/>
            <p14:sldId id="516"/>
            <p14:sldId id="518"/>
            <p14:sldId id="492"/>
            <p14:sldId id="506"/>
            <p14:sldId id="507"/>
            <p14:sldId id="517"/>
            <p14:sldId id="493"/>
            <p14:sldId id="494"/>
            <p14:sldId id="508"/>
            <p14:sldId id="495"/>
            <p14:sldId id="496"/>
            <p14:sldId id="497"/>
            <p14:sldId id="499"/>
            <p14:sldId id="500"/>
            <p14:sldId id="501"/>
            <p14:sldId id="519"/>
            <p14:sldId id="520"/>
            <p14:sldId id="502"/>
            <p14:sldId id="4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CC0099"/>
    <a:srgbClr val="D8F0FF"/>
    <a:srgbClr val="9BD9FF"/>
    <a:srgbClr val="008EE5"/>
    <a:srgbClr val="03B3DD"/>
    <a:srgbClr val="0090E5"/>
    <a:srgbClr val="03B4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0" autoAdjust="0"/>
    <p:restoredTop sz="76033" autoAdjust="0"/>
  </p:normalViewPr>
  <p:slideViewPr>
    <p:cSldViewPr snapToGrid="0">
      <p:cViewPr varScale="1">
        <p:scale>
          <a:sx n="83" d="100"/>
          <a:sy n="83" d="100"/>
        </p:scale>
        <p:origin x="1686" y="84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3115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215930-8719-4C15-9737-2648B85A77AE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9F2053-7AB1-48B2-9643-49BF192C4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0518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4456ED-8D73-4DA4-A78C-89D419F66C39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AED4D-2311-4E17-8D7B-C33F7112F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310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6AED4D-2311-4E17-8D7B-C33F7112F3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757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🧠 </a:t>
            </a:r>
            <a:r>
              <a:rPr lang="vi-VN" b="1" dirty="0"/>
              <a:t>Cách con người suy nghĩ</a:t>
            </a:r>
          </a:p>
          <a:p>
            <a:r>
              <a:rPr lang="vi-VN" dirty="0"/>
              <a:t>Ngoài đời, chúng ta không suy nghĩ theo hàm và biến rời rạc.</a:t>
            </a:r>
          </a:p>
          <a:p>
            <a:r>
              <a:rPr lang="en-US" dirty="0"/>
              <a:t>👉 </a:t>
            </a:r>
            <a:r>
              <a:rPr lang="vi-VN" dirty="0"/>
              <a:t>Chúng ta suy nghĩ theo:</a:t>
            </a:r>
          </a:p>
          <a:p>
            <a:r>
              <a:rPr lang="vi-VN" b="1" dirty="0"/>
              <a:t>Đối tượng</a:t>
            </a:r>
            <a:endParaRPr lang="vi-VN" dirty="0"/>
          </a:p>
          <a:p>
            <a:r>
              <a:rPr lang="vi-VN" dirty="0"/>
              <a:t>Mỗi đối tượng có:</a:t>
            </a:r>
          </a:p>
          <a:p>
            <a:pPr lvl="1"/>
            <a:r>
              <a:rPr lang="vi-VN" b="1" dirty="0"/>
              <a:t>Thuộc tính</a:t>
            </a:r>
            <a:r>
              <a:rPr lang="vi-VN" dirty="0"/>
              <a:t> (đặc điểm)</a:t>
            </a:r>
          </a:p>
          <a:p>
            <a:pPr lvl="1"/>
            <a:r>
              <a:rPr lang="vi-VN" b="1" dirty="0"/>
              <a:t>Hành vi</a:t>
            </a:r>
            <a:r>
              <a:rPr lang="vi-VN" dirty="0"/>
              <a:t> (cách hoạt động)</a:t>
            </a:r>
          </a:p>
          <a:p>
            <a:r>
              <a:rPr lang="vi-VN" dirty="0"/>
              <a:t>Ví dụ:</a:t>
            </a:r>
          </a:p>
          <a:p>
            <a:r>
              <a:rPr lang="vi-VN" dirty="0"/>
              <a:t>Sinh viên:</a:t>
            </a:r>
          </a:p>
          <a:p>
            <a:pPr lvl="1"/>
            <a:r>
              <a:rPr lang="vi-VN" dirty="0"/>
              <a:t>Thuộc tính: tên, tuổi, điểm</a:t>
            </a:r>
          </a:p>
          <a:p>
            <a:pPr lvl="1"/>
            <a:r>
              <a:rPr lang="vi-VN" dirty="0"/>
              <a:t>Hành vi: học bài, thi, xem điểm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6AED4D-2311-4E17-8D7B-C33F7112F3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173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6AED4D-2311-4E17-8D7B-C33F7112F3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982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558" y="1024758"/>
            <a:ext cx="11225047" cy="52341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Clr>
                <a:srgbClr val="0000CC"/>
              </a:buClr>
              <a:buFont typeface="Wingdings" pitchFamily="2" charset="2"/>
              <a:buChar char="§"/>
              <a:defRPr sz="2800" b="0">
                <a:latin typeface="Times New Roman" pitchFamily="18" charset="0"/>
                <a:cs typeface="Times New Roman" pitchFamily="18" charset="0"/>
              </a:defRPr>
            </a:lvl1pPr>
            <a:lvl2pPr marL="685800" indent="-228600">
              <a:buClr>
                <a:srgbClr val="FF00FF"/>
              </a:buClr>
              <a:buFont typeface="Arial" pitchFamily="34" charset="0"/>
              <a:buChar char="•"/>
              <a:defRPr sz="2400" b="0"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buClr>
                <a:srgbClr val="009900"/>
              </a:buClr>
              <a:buFont typeface="Courier New" pitchFamily="49" charset="0"/>
              <a:buChar char="o"/>
              <a:defRPr sz="2200" b="0">
                <a:latin typeface="Times New Roman" pitchFamily="18" charset="0"/>
                <a:cs typeface="Times New Roman" pitchFamily="18" charset="0"/>
              </a:defRPr>
            </a:lvl3pPr>
            <a:lvl4pPr>
              <a:defRPr sz="2200" b="0">
                <a:latin typeface="Times New Roman" pitchFamily="18" charset="0"/>
                <a:cs typeface="Times New Roman" pitchFamily="18" charset="0"/>
              </a:defRPr>
            </a:lvl4pPr>
            <a:lvl5pPr>
              <a:defRPr sz="2200" b="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/>
              <a:t>Second </a:t>
            </a:r>
            <a:r>
              <a:rPr lang="en-US" dirty="0"/>
              <a:t>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231" y="6482377"/>
            <a:ext cx="55224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09164" y="640364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02590D-67BD-4DF2-8CAA-B9002293EB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2396360" y="2870"/>
            <a:ext cx="9795640" cy="79662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09032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85459"/>
            <a:ext cx="12192000" cy="168050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329" y="3784922"/>
            <a:ext cx="6165669" cy="308104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330" y="3784922"/>
            <a:ext cx="6165669" cy="308104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2377"/>
            <a:ext cx="6026329" cy="383585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1812003" y="0"/>
            <a:ext cx="10385077" cy="804707"/>
          </a:xfrm>
          <a:custGeom>
            <a:avLst/>
            <a:gdLst>
              <a:gd name="connsiteX0" fmla="*/ 0 w 9517626"/>
              <a:gd name="connsiteY0" fmla="*/ 0 h 783157"/>
              <a:gd name="connsiteX1" fmla="*/ 9517626 w 9517626"/>
              <a:gd name="connsiteY1" fmla="*/ 0 h 783157"/>
              <a:gd name="connsiteX2" fmla="*/ 9517626 w 9517626"/>
              <a:gd name="connsiteY2" fmla="*/ 783157 h 783157"/>
              <a:gd name="connsiteX3" fmla="*/ 0 w 9517626"/>
              <a:gd name="connsiteY3" fmla="*/ 783157 h 783157"/>
              <a:gd name="connsiteX4" fmla="*/ 0 w 9517626"/>
              <a:gd name="connsiteY4" fmla="*/ 0 h 783157"/>
              <a:gd name="connsiteX0" fmla="*/ 117987 w 9635613"/>
              <a:gd name="connsiteY0" fmla="*/ 0 h 783157"/>
              <a:gd name="connsiteX1" fmla="*/ 9635613 w 9635613"/>
              <a:gd name="connsiteY1" fmla="*/ 0 h 783157"/>
              <a:gd name="connsiteX2" fmla="*/ 9635613 w 9635613"/>
              <a:gd name="connsiteY2" fmla="*/ 783157 h 783157"/>
              <a:gd name="connsiteX3" fmla="*/ 0 w 9635613"/>
              <a:gd name="connsiteY3" fmla="*/ 724164 h 783157"/>
              <a:gd name="connsiteX4" fmla="*/ 117987 w 9635613"/>
              <a:gd name="connsiteY4" fmla="*/ 0 h 783157"/>
              <a:gd name="connsiteX0" fmla="*/ 570271 w 10087897"/>
              <a:gd name="connsiteY0" fmla="*/ 0 h 822487"/>
              <a:gd name="connsiteX1" fmla="*/ 10087897 w 10087897"/>
              <a:gd name="connsiteY1" fmla="*/ 0 h 822487"/>
              <a:gd name="connsiteX2" fmla="*/ 10087897 w 10087897"/>
              <a:gd name="connsiteY2" fmla="*/ 783157 h 822487"/>
              <a:gd name="connsiteX3" fmla="*/ 0 w 10087897"/>
              <a:gd name="connsiteY3" fmla="*/ 822487 h 822487"/>
              <a:gd name="connsiteX4" fmla="*/ 570271 w 10087897"/>
              <a:gd name="connsiteY4" fmla="*/ 0 h 822487"/>
              <a:gd name="connsiteX0" fmla="*/ 570271 w 10087897"/>
              <a:gd name="connsiteY0" fmla="*/ 0 h 822487"/>
              <a:gd name="connsiteX1" fmla="*/ 10087897 w 10087897"/>
              <a:gd name="connsiteY1" fmla="*/ 0 h 822487"/>
              <a:gd name="connsiteX2" fmla="*/ 10087897 w 10087897"/>
              <a:gd name="connsiteY2" fmla="*/ 812654 h 822487"/>
              <a:gd name="connsiteX3" fmla="*/ 0 w 10087897"/>
              <a:gd name="connsiteY3" fmla="*/ 822487 h 822487"/>
              <a:gd name="connsiteX4" fmla="*/ 570271 w 10087897"/>
              <a:gd name="connsiteY4" fmla="*/ 0 h 822487"/>
              <a:gd name="connsiteX0" fmla="*/ 570271 w 10087897"/>
              <a:gd name="connsiteY0" fmla="*/ 0 h 822487"/>
              <a:gd name="connsiteX1" fmla="*/ 10087897 w 10087897"/>
              <a:gd name="connsiteY1" fmla="*/ 0 h 822487"/>
              <a:gd name="connsiteX2" fmla="*/ 10084087 w 10087897"/>
              <a:gd name="connsiteY2" fmla="*/ 801224 h 822487"/>
              <a:gd name="connsiteX3" fmla="*/ 0 w 10087897"/>
              <a:gd name="connsiteY3" fmla="*/ 822487 h 822487"/>
              <a:gd name="connsiteX4" fmla="*/ 570271 w 10087897"/>
              <a:gd name="connsiteY4" fmla="*/ 0 h 822487"/>
              <a:gd name="connsiteX0" fmla="*/ 570271 w 10091707"/>
              <a:gd name="connsiteY0" fmla="*/ 0 h 822487"/>
              <a:gd name="connsiteX1" fmla="*/ 10087897 w 10091707"/>
              <a:gd name="connsiteY1" fmla="*/ 0 h 822487"/>
              <a:gd name="connsiteX2" fmla="*/ 10091707 w 10091707"/>
              <a:gd name="connsiteY2" fmla="*/ 798684 h 822487"/>
              <a:gd name="connsiteX3" fmla="*/ 0 w 10091707"/>
              <a:gd name="connsiteY3" fmla="*/ 822487 h 822487"/>
              <a:gd name="connsiteX4" fmla="*/ 570271 w 10091707"/>
              <a:gd name="connsiteY4" fmla="*/ 0 h 822487"/>
              <a:gd name="connsiteX0" fmla="*/ 557571 w 10079007"/>
              <a:gd name="connsiteY0" fmla="*/ 0 h 804707"/>
              <a:gd name="connsiteX1" fmla="*/ 10075197 w 10079007"/>
              <a:gd name="connsiteY1" fmla="*/ 0 h 804707"/>
              <a:gd name="connsiteX2" fmla="*/ 10079007 w 10079007"/>
              <a:gd name="connsiteY2" fmla="*/ 798684 h 804707"/>
              <a:gd name="connsiteX3" fmla="*/ 0 w 10079007"/>
              <a:gd name="connsiteY3" fmla="*/ 804707 h 804707"/>
              <a:gd name="connsiteX4" fmla="*/ 557571 w 10079007"/>
              <a:gd name="connsiteY4" fmla="*/ 0 h 804707"/>
              <a:gd name="connsiteX0" fmla="*/ 557571 w 10387617"/>
              <a:gd name="connsiteY0" fmla="*/ 0 h 804707"/>
              <a:gd name="connsiteX1" fmla="*/ 10387617 w 10387617"/>
              <a:gd name="connsiteY1" fmla="*/ 2540 h 804707"/>
              <a:gd name="connsiteX2" fmla="*/ 10079007 w 10387617"/>
              <a:gd name="connsiteY2" fmla="*/ 798684 h 804707"/>
              <a:gd name="connsiteX3" fmla="*/ 0 w 10387617"/>
              <a:gd name="connsiteY3" fmla="*/ 804707 h 804707"/>
              <a:gd name="connsiteX4" fmla="*/ 557571 w 10387617"/>
              <a:gd name="connsiteY4" fmla="*/ 0 h 804707"/>
              <a:gd name="connsiteX0" fmla="*/ 557571 w 10387617"/>
              <a:gd name="connsiteY0" fmla="*/ 0 h 804707"/>
              <a:gd name="connsiteX1" fmla="*/ 10387617 w 10387617"/>
              <a:gd name="connsiteY1" fmla="*/ 2540 h 804707"/>
              <a:gd name="connsiteX2" fmla="*/ 10381267 w 10387617"/>
              <a:gd name="connsiteY2" fmla="*/ 801224 h 804707"/>
              <a:gd name="connsiteX3" fmla="*/ 0 w 10387617"/>
              <a:gd name="connsiteY3" fmla="*/ 804707 h 804707"/>
              <a:gd name="connsiteX4" fmla="*/ 557571 w 10387617"/>
              <a:gd name="connsiteY4" fmla="*/ 0 h 804707"/>
              <a:gd name="connsiteX0" fmla="*/ 557571 w 10385077"/>
              <a:gd name="connsiteY0" fmla="*/ 0 h 804707"/>
              <a:gd name="connsiteX1" fmla="*/ 10385077 w 10385077"/>
              <a:gd name="connsiteY1" fmla="*/ 0 h 804707"/>
              <a:gd name="connsiteX2" fmla="*/ 10381267 w 10385077"/>
              <a:gd name="connsiteY2" fmla="*/ 801224 h 804707"/>
              <a:gd name="connsiteX3" fmla="*/ 0 w 10385077"/>
              <a:gd name="connsiteY3" fmla="*/ 804707 h 804707"/>
              <a:gd name="connsiteX4" fmla="*/ 557571 w 10385077"/>
              <a:gd name="connsiteY4" fmla="*/ 0 h 804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85077" h="804707">
                <a:moveTo>
                  <a:pt x="557571" y="0"/>
                </a:moveTo>
                <a:lnTo>
                  <a:pt x="10385077" y="0"/>
                </a:lnTo>
                <a:cubicBezTo>
                  <a:pt x="10382960" y="266228"/>
                  <a:pt x="10383384" y="534996"/>
                  <a:pt x="10381267" y="801224"/>
                </a:cubicBezTo>
                <a:lnTo>
                  <a:pt x="0" y="804707"/>
                </a:lnTo>
                <a:lnTo>
                  <a:pt x="557571" y="0"/>
                </a:lnTo>
                <a:close/>
              </a:path>
            </a:pathLst>
          </a:custGeom>
          <a:gradFill flip="none" rotWithShape="1">
            <a:gsLst>
              <a:gs pos="0">
                <a:srgbClr val="03B3DD"/>
              </a:gs>
              <a:gs pos="100000">
                <a:srgbClr val="008EE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860" y="-5062"/>
            <a:ext cx="2233324" cy="808230"/>
          </a:xfrm>
          <a:custGeom>
            <a:avLst/>
            <a:gdLst>
              <a:gd name="connsiteX0" fmla="*/ 0 w 1818968"/>
              <a:gd name="connsiteY0" fmla="*/ 0 h 783157"/>
              <a:gd name="connsiteX1" fmla="*/ 1818968 w 1818968"/>
              <a:gd name="connsiteY1" fmla="*/ 0 h 783157"/>
              <a:gd name="connsiteX2" fmla="*/ 1818968 w 1818968"/>
              <a:gd name="connsiteY2" fmla="*/ 783157 h 783157"/>
              <a:gd name="connsiteX3" fmla="*/ 0 w 1818968"/>
              <a:gd name="connsiteY3" fmla="*/ 783157 h 783157"/>
              <a:gd name="connsiteX4" fmla="*/ 0 w 1818968"/>
              <a:gd name="connsiteY4" fmla="*/ 0 h 783157"/>
              <a:gd name="connsiteX0" fmla="*/ 0 w 2349910"/>
              <a:gd name="connsiteY0" fmla="*/ 983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0 w 2349910"/>
              <a:gd name="connsiteY4" fmla="*/ 9833 h 792990"/>
              <a:gd name="connsiteX0" fmla="*/ 0 w 2349910"/>
              <a:gd name="connsiteY0" fmla="*/ 983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0 w 2349910"/>
              <a:gd name="connsiteY4" fmla="*/ 9833 h 792990"/>
              <a:gd name="connsiteX0" fmla="*/ 144780 w 2349910"/>
              <a:gd name="connsiteY0" fmla="*/ 9365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144780 w 2349910"/>
              <a:gd name="connsiteY4" fmla="*/ 93653 h 792990"/>
              <a:gd name="connsiteX0" fmla="*/ 140970 w 2349910"/>
              <a:gd name="connsiteY0" fmla="*/ 221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140970 w 2349910"/>
              <a:gd name="connsiteY4" fmla="*/ 2213 h 792990"/>
              <a:gd name="connsiteX0" fmla="*/ 0 w 2208940"/>
              <a:gd name="connsiteY0" fmla="*/ 2213 h 808230"/>
              <a:gd name="connsiteX1" fmla="*/ 2208940 w 2208940"/>
              <a:gd name="connsiteY1" fmla="*/ 0 h 808230"/>
              <a:gd name="connsiteX2" fmla="*/ 1677998 w 2208940"/>
              <a:gd name="connsiteY2" fmla="*/ 792990 h 808230"/>
              <a:gd name="connsiteX3" fmla="*/ 0 w 2208940"/>
              <a:gd name="connsiteY3" fmla="*/ 808230 h 808230"/>
              <a:gd name="connsiteX4" fmla="*/ 0 w 2208940"/>
              <a:gd name="connsiteY4" fmla="*/ 2213 h 808230"/>
              <a:gd name="connsiteX0" fmla="*/ 0 w 2208940"/>
              <a:gd name="connsiteY0" fmla="*/ 2213 h 808230"/>
              <a:gd name="connsiteX1" fmla="*/ 2208940 w 2208940"/>
              <a:gd name="connsiteY1" fmla="*/ 0 h 808230"/>
              <a:gd name="connsiteX2" fmla="*/ 1677998 w 2208940"/>
              <a:gd name="connsiteY2" fmla="*/ 808230 h 808230"/>
              <a:gd name="connsiteX3" fmla="*/ 0 w 2208940"/>
              <a:gd name="connsiteY3" fmla="*/ 808230 h 808230"/>
              <a:gd name="connsiteX4" fmla="*/ 0 w 2208940"/>
              <a:gd name="connsiteY4" fmla="*/ 2213 h 808230"/>
              <a:gd name="connsiteX0" fmla="*/ 0 w 2233324"/>
              <a:gd name="connsiteY0" fmla="*/ 2213 h 808230"/>
              <a:gd name="connsiteX1" fmla="*/ 2233324 w 2233324"/>
              <a:gd name="connsiteY1" fmla="*/ 0 h 808230"/>
              <a:gd name="connsiteX2" fmla="*/ 1677998 w 2233324"/>
              <a:gd name="connsiteY2" fmla="*/ 808230 h 808230"/>
              <a:gd name="connsiteX3" fmla="*/ 0 w 2233324"/>
              <a:gd name="connsiteY3" fmla="*/ 808230 h 808230"/>
              <a:gd name="connsiteX4" fmla="*/ 0 w 2233324"/>
              <a:gd name="connsiteY4" fmla="*/ 2213 h 808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3324" h="808230">
                <a:moveTo>
                  <a:pt x="0" y="2213"/>
                </a:moveTo>
                <a:lnTo>
                  <a:pt x="2233324" y="0"/>
                </a:lnTo>
                <a:lnTo>
                  <a:pt x="1677998" y="808230"/>
                </a:lnTo>
                <a:lnTo>
                  <a:pt x="0" y="808230"/>
                </a:lnTo>
                <a:lnTo>
                  <a:pt x="0" y="2213"/>
                </a:lnTo>
                <a:close/>
              </a:path>
            </a:pathLst>
          </a:custGeom>
          <a:solidFill>
            <a:srgbClr val="D8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2"/>
          <p:cNvSpPr>
            <a:spLocks noGrp="1"/>
          </p:cNvSpPr>
          <p:nvPr>
            <p:ph type="body" idx="1"/>
          </p:nvPr>
        </p:nvSpPr>
        <p:spPr>
          <a:xfrm>
            <a:off x="614855" y="1088570"/>
            <a:ext cx="11161986" cy="5249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11" y="129015"/>
            <a:ext cx="1434898" cy="523765"/>
          </a:xfrm>
          <a:prstGeom prst="rect">
            <a:avLst/>
          </a:prstGeom>
        </p:spPr>
      </p:pic>
      <p:sp>
        <p:nvSpPr>
          <p:cNvPr id="24" name="Title Placeholder 1"/>
          <p:cNvSpPr>
            <a:spLocks noGrp="1"/>
          </p:cNvSpPr>
          <p:nvPr>
            <p:ph type="title"/>
          </p:nvPr>
        </p:nvSpPr>
        <p:spPr>
          <a:xfrm>
            <a:off x="2554014" y="2870"/>
            <a:ext cx="9637985" cy="796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232" y="6482377"/>
            <a:ext cx="43303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0916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02590D-67BD-4DF2-8CAA-B9002293EB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715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bg1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C0099"/>
        </a:buClr>
        <a:buFont typeface="Wingdings" pitchFamily="2" charset="2"/>
        <a:buChar char="§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00CC"/>
        </a:buClr>
        <a:buFont typeface="Arial" pitchFamily="34" charset="0"/>
        <a:buChar char="•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itchFamily="49" charset="0"/>
        <a:buChar char="o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04" userDrawn="1">
          <p15:clr>
            <a:srgbClr val="F26B43"/>
          </p15:clr>
        </p15:guide>
        <p15:guide id="2" pos="64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98B47F1-B2BA-40A4-9FDB-CF661B783E7A}" type="slidenum">
              <a:rPr lang="en-US" smtClean="0"/>
              <a:t>1</a:t>
            </a:fld>
            <a:endParaRPr lang="en-US"/>
          </a:p>
        </p:txBody>
      </p:sp>
      <p:sp>
        <p:nvSpPr>
          <p:cNvPr id="5" name="Google Shape;136;p29"/>
          <p:cNvSpPr txBox="1">
            <a:spLocks/>
          </p:cNvSpPr>
          <p:nvPr/>
        </p:nvSpPr>
        <p:spPr>
          <a:xfrm>
            <a:off x="2773237" y="107241"/>
            <a:ext cx="4846763" cy="59084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LẬP TRÌNH TYPESCRIPT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137;p29"/>
          <p:cNvSpPr txBox="1">
            <a:spLocks/>
          </p:cNvSpPr>
          <p:nvPr/>
        </p:nvSpPr>
        <p:spPr>
          <a:xfrm>
            <a:off x="210670" y="1700981"/>
            <a:ext cx="7346577" cy="283576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itchFamily="18" charset="0"/>
              </a:rPr>
              <a:t>CHƯƠNG 3</a:t>
            </a:r>
            <a:r>
              <a:rPr lang="en-US" sz="2600" dirty="0">
                <a:latin typeface="Times New Roman" panose="02020603050405020304" pitchFamily="18" charset="0"/>
                <a:cs typeface="Times New Roman" pitchFamily="18" charset="0"/>
              </a:rPr>
              <a:t>: </a:t>
            </a:r>
          </a:p>
          <a:p>
            <a:pPr marL="0" indent="0">
              <a:spcBef>
                <a:spcPts val="0"/>
              </a:spcBef>
              <a:buNone/>
            </a:pPr>
            <a:endParaRPr lang="en-US" sz="26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LẬP TRÌNH HƯỚNG ĐỐI TƯỢNG (OOP)</a:t>
            </a:r>
            <a:endParaRPr lang="en-US" sz="23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70" name="Google Shape;137;p29">
            <a:extLst>
              <a:ext uri="{FF2B5EF4-FFF2-40B4-BE49-F238E27FC236}">
                <a16:creationId xmlns:a16="http://schemas.microsoft.com/office/drawing/2014/main" id="{C5A8A76D-5E3A-4511-9569-D2E55F718EF4}"/>
              </a:ext>
            </a:extLst>
          </p:cNvPr>
          <p:cNvSpPr txBox="1">
            <a:spLocks/>
          </p:cNvSpPr>
          <p:nvPr/>
        </p:nvSpPr>
        <p:spPr>
          <a:xfrm>
            <a:off x="744069" y="4496464"/>
            <a:ext cx="3295303" cy="80099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endParaRPr lang="en-US" sz="26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34" name="Picture 10" descr="What is TypeScript">
            <a:extLst>
              <a:ext uri="{FF2B5EF4-FFF2-40B4-BE49-F238E27FC236}">
                <a16:creationId xmlns:a16="http://schemas.microsoft.com/office/drawing/2014/main" id="{826BF309-7710-D27E-2D38-D80F02283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2785" y="1700981"/>
            <a:ext cx="4508545" cy="283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1418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5FB778-7C5F-1E24-6E83-6A038B4C3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89" y="881322"/>
            <a:ext cx="12002526" cy="5234152"/>
          </a:xfrm>
        </p:spPr>
        <p:txBody>
          <a:bodyPr>
            <a:normAutofit/>
          </a:bodyPr>
          <a:lstStyle/>
          <a:p>
            <a:r>
              <a:rPr lang="en-US" b="1" dirty="0"/>
              <a:t> </a:t>
            </a:r>
            <a:r>
              <a:rPr lang="vi-VN" b="1" dirty="0"/>
              <a:t>Dẫn nhập: </a:t>
            </a:r>
            <a:r>
              <a:rPr lang="vi-VN" b="1" dirty="0">
                <a:solidFill>
                  <a:srgbClr val="FF0000"/>
                </a:solidFill>
              </a:rPr>
              <a:t>Vì sao cần lập trình hướng đối tượng?</a:t>
            </a:r>
          </a:p>
          <a:p>
            <a:r>
              <a:rPr lang="en-US" b="1" dirty="0"/>
              <a:t>❓ </a:t>
            </a:r>
            <a:r>
              <a:rPr lang="vi-VN" b="1" dirty="0"/>
              <a:t>Vấn đề đặt ra</a:t>
            </a:r>
            <a:r>
              <a:rPr lang="en-US" b="1" dirty="0"/>
              <a:t>: </a:t>
            </a:r>
            <a:r>
              <a:rPr lang="vi-VN" dirty="0"/>
              <a:t>Trong các chương trước, chúng ta đã học: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vi-VN" dirty="0"/>
              <a:t>Biến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vi-VN" dirty="0"/>
              <a:t>Hàm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vi-VN" dirty="0"/>
              <a:t>Câu điều kiện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vi-VN" dirty="0"/>
              <a:t>Vòng lặp</a:t>
            </a:r>
          </a:p>
          <a:p>
            <a:pPr marL="0" indent="0">
              <a:buNone/>
            </a:pPr>
            <a:r>
              <a:rPr lang="en-US" dirty="0"/>
              <a:t>👉 </a:t>
            </a:r>
            <a:r>
              <a:rPr lang="vi-VN" dirty="0"/>
              <a:t>Nhưng khi chương trình </a:t>
            </a:r>
            <a:r>
              <a:rPr lang="vi-VN" b="1" dirty="0"/>
              <a:t>lớn dần</a:t>
            </a:r>
            <a:r>
              <a:rPr lang="vi-VN" dirty="0"/>
              <a:t>, ta gặp các vấn đề: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vi-VN" dirty="0" err="1"/>
              <a:t>Code</a:t>
            </a:r>
            <a:r>
              <a:rPr lang="vi-VN" dirty="0"/>
              <a:t> dài, khó đọc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vi-VN" dirty="0"/>
              <a:t>Khó mở rộng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vi-VN" dirty="0"/>
              <a:t>Khó bảo trì</a:t>
            </a:r>
          </a:p>
          <a:p>
            <a:pPr marL="0" indent="0">
              <a:buNone/>
            </a:pPr>
            <a:r>
              <a:rPr lang="vi-VN" dirty="0"/>
              <a:t>➡️ </a:t>
            </a:r>
            <a:r>
              <a:rPr lang="vi-VN" b="1" dirty="0">
                <a:solidFill>
                  <a:srgbClr val="FF0000"/>
                </a:solidFill>
              </a:rPr>
              <a:t>Lập trình hướng đối tượng</a:t>
            </a:r>
            <a:r>
              <a:rPr lang="vi-VN" dirty="0"/>
              <a:t> ra đời để giải quyết vấn đề đó.</a:t>
            </a:r>
          </a:p>
          <a:p>
            <a:endParaRPr lang="vi-VN" dirty="0"/>
          </a:p>
          <a:p>
            <a:pPr lvl="2"/>
            <a:endParaRPr lang="vi-VN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5235C4-270F-547D-5CF8-C71A8D8E19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FEA47-4404-3389-AE49-8279499D7D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FC8EEE2-0BC8-E172-5AC9-DA7E3347A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LẬP TRÌNH HƯỚNG ĐỐI TƯỢNG (OOP)</a:t>
            </a:r>
          </a:p>
        </p:txBody>
      </p:sp>
    </p:spTree>
    <p:extLst>
      <p:ext uri="{BB962C8B-B14F-4D97-AF65-F5344CB8AC3E}">
        <p14:creationId xmlns:p14="http://schemas.microsoft.com/office/powerpoint/2010/main" val="1607920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C0AAC-7A91-38CA-0670-D58CF2794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1214CE-A2C5-70D4-50DC-4D584F60C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89" y="881322"/>
            <a:ext cx="11676064" cy="5234152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Khái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niệm</a:t>
            </a:r>
            <a:r>
              <a:rPr lang="en-US" b="1" dirty="0">
                <a:solidFill>
                  <a:srgbClr val="FF0000"/>
                </a:solidFill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vi-VN" b="1" dirty="0"/>
              <a:t>Lập trình hướng đối tượng</a:t>
            </a:r>
            <a:r>
              <a:rPr lang="en-US" b="1" dirty="0"/>
              <a:t> </a:t>
            </a:r>
            <a:r>
              <a:rPr lang="vi-VN" b="1" dirty="0"/>
              <a:t>(</a:t>
            </a:r>
            <a:r>
              <a:rPr lang="vi-VN" b="1" dirty="0" err="1"/>
              <a:t>Object-Oriented</a:t>
            </a:r>
            <a:r>
              <a:rPr lang="vi-VN" b="1" dirty="0"/>
              <a:t> </a:t>
            </a:r>
            <a:r>
              <a:rPr lang="vi-VN" b="1" dirty="0" err="1"/>
              <a:t>Programming</a:t>
            </a:r>
            <a:r>
              <a:rPr lang="vi-VN" b="1" dirty="0"/>
              <a:t> - OOP)</a:t>
            </a:r>
            <a:r>
              <a:rPr lang="vi-VN" dirty="0"/>
              <a:t> là cách lập trình mà chương trình được xây dựng từ </a:t>
            </a:r>
            <a:r>
              <a:rPr lang="vi-VN" b="1" dirty="0"/>
              <a:t>các đối tượng (</a:t>
            </a:r>
            <a:r>
              <a:rPr lang="vi-VN" b="1" dirty="0" err="1"/>
              <a:t>object</a:t>
            </a:r>
            <a:r>
              <a:rPr lang="vi-VN" b="1" dirty="0"/>
              <a:t>)</a:t>
            </a:r>
            <a:r>
              <a:rPr lang="vi-VN" dirty="0"/>
              <a:t>.</a:t>
            </a:r>
            <a:endParaRPr lang="en-US" dirty="0"/>
          </a:p>
          <a:p>
            <a:r>
              <a:rPr lang="vi-VN" b="1" dirty="0">
                <a:solidFill>
                  <a:srgbClr val="FF0000"/>
                </a:solidFill>
              </a:rPr>
              <a:t>Đối tượng là gì?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vi-VN" b="1" dirty="0"/>
              <a:t>Đối tượng (</a:t>
            </a:r>
            <a:r>
              <a:rPr lang="vi-VN" b="1" dirty="0" err="1"/>
              <a:t>Object</a:t>
            </a:r>
            <a:r>
              <a:rPr lang="vi-VN" b="1" dirty="0"/>
              <a:t>)</a:t>
            </a:r>
            <a:r>
              <a:rPr lang="vi-VN" dirty="0"/>
              <a:t> là </a:t>
            </a:r>
            <a:r>
              <a:rPr lang="vi-VN" b="1" dirty="0"/>
              <a:t>một thực thể cụ thể</a:t>
            </a:r>
            <a:r>
              <a:rPr lang="vi-VN" dirty="0"/>
              <a:t> được tạo ra từ một lớp (</a:t>
            </a:r>
            <a:r>
              <a:rPr lang="vi-VN" dirty="0" err="1"/>
              <a:t>Class</a:t>
            </a:r>
            <a:r>
              <a:rPr lang="vi-VN" dirty="0"/>
              <a:t>),</a:t>
            </a:r>
            <a:br>
              <a:rPr lang="vi-VN" dirty="0"/>
            </a:br>
            <a:r>
              <a:rPr lang="vi-VN" dirty="0"/>
              <a:t>đại diện cho một sự vật hoặc khái niệm trong thế giới thực,</a:t>
            </a:r>
            <a:br>
              <a:rPr lang="vi-VN" dirty="0"/>
            </a:br>
            <a:r>
              <a:rPr lang="vi-VN" b="1" dirty="0"/>
              <a:t>có dữ liệu riêng và có thể thực hiện các hành vi</a:t>
            </a:r>
            <a:r>
              <a:rPr lang="vi-VN" dirty="0"/>
              <a:t>.</a:t>
            </a:r>
          </a:p>
          <a:p>
            <a:pPr lvl="1"/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Hai </a:t>
            </a:r>
            <a:r>
              <a:rPr lang="en-US" b="1" dirty="0" err="1">
                <a:solidFill>
                  <a:srgbClr val="FF0000"/>
                </a:solidFill>
              </a:rPr>
              <a:t>đặc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điểm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cốt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lõi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của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đối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tượng</a:t>
            </a:r>
            <a:r>
              <a:rPr lang="en-US" dirty="0"/>
              <a:t>:	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err="1"/>
              <a:t>Trạng</a:t>
            </a:r>
            <a:r>
              <a:rPr lang="en-US" b="1" dirty="0"/>
              <a:t> </a:t>
            </a:r>
            <a:r>
              <a:rPr lang="en-US" b="1" dirty="0" err="1"/>
              <a:t>thái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,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- attributes)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H</a:t>
            </a:r>
            <a:r>
              <a:rPr lang="vi-VN" b="1" dirty="0" err="1"/>
              <a:t>ành</a:t>
            </a:r>
            <a:r>
              <a:rPr lang="vi-VN" b="1" dirty="0"/>
              <a:t> vi </a:t>
            </a:r>
            <a:r>
              <a:rPr lang="vi-VN" dirty="0"/>
              <a:t>(các phương thức, hàm - </a:t>
            </a:r>
            <a:r>
              <a:rPr lang="vi-VN" dirty="0" err="1"/>
              <a:t>methods</a:t>
            </a:r>
            <a:r>
              <a:rPr lang="vi-VN" dirty="0"/>
              <a:t>)</a:t>
            </a:r>
            <a:endParaRPr lang="en-US" dirty="0"/>
          </a:p>
          <a:p>
            <a:pPr marL="0" indent="0">
              <a:buNone/>
            </a:pPr>
            <a:endParaRPr lang="vi-VN" dirty="0"/>
          </a:p>
          <a:p>
            <a:pPr lvl="2"/>
            <a:endParaRPr lang="vi-VN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38EF03-ACA7-7A8D-81C0-4DCF9F0F16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4226A3-3617-E867-BDBF-1338016A7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9453787-AE58-8834-9A26-49B0913D1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LẬP TRÌNH HƯỚNG ĐỐI TƯỢNG (OOP)</a:t>
            </a:r>
          </a:p>
        </p:txBody>
      </p:sp>
    </p:spTree>
    <p:extLst>
      <p:ext uri="{BB962C8B-B14F-4D97-AF65-F5344CB8AC3E}">
        <p14:creationId xmlns:p14="http://schemas.microsoft.com/office/powerpoint/2010/main" val="425236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7427B1-4273-3421-59F3-1C72E36A4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966" y="799498"/>
            <a:ext cx="11647639" cy="545941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Class </a:t>
            </a:r>
            <a:r>
              <a:rPr lang="en-US" b="1" dirty="0" err="1">
                <a:solidFill>
                  <a:srgbClr val="FF0000"/>
                </a:solidFill>
              </a:rPr>
              <a:t>là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gì</a:t>
            </a:r>
            <a:r>
              <a:rPr lang="en-US" b="1" dirty="0">
                <a:solidFill>
                  <a:srgbClr val="FF0000"/>
                </a:solidFill>
              </a:rPr>
              <a:t>?</a:t>
            </a:r>
          </a:p>
          <a:p>
            <a:pPr lvl="1"/>
            <a:r>
              <a:rPr lang="vi-VN" dirty="0" err="1"/>
              <a:t>Class</a:t>
            </a:r>
            <a:r>
              <a:rPr lang="vi-VN" dirty="0"/>
              <a:t> (lớp) là một bản thiết kế (khuôn mẫu) dùng để tạo ra các đối tượng,</a:t>
            </a:r>
            <a:br>
              <a:rPr lang="vi-VN" dirty="0"/>
            </a:br>
            <a:r>
              <a:rPr lang="vi-VN" dirty="0"/>
              <a:t>trong đó định nghĩa các thuộc tính (trạng thái) và phương thức (hành vi)</a:t>
            </a:r>
            <a:br>
              <a:rPr lang="vi-VN" dirty="0"/>
            </a:br>
            <a:r>
              <a:rPr lang="vi-VN" dirty="0"/>
              <a:t>mà các đối tượng được tạo từ lớp đó sẽ có.</a:t>
            </a:r>
            <a:endParaRPr lang="en-US" dirty="0"/>
          </a:p>
          <a:p>
            <a:pPr lvl="1"/>
            <a:r>
              <a:rPr lang="vi-VN" b="1" dirty="0" err="1">
                <a:solidFill>
                  <a:srgbClr val="FF0000"/>
                </a:solidFill>
              </a:rPr>
              <a:t>Class</a:t>
            </a:r>
            <a:r>
              <a:rPr lang="vi-VN" dirty="0"/>
              <a:t> giống bản thiết kế của ngôi nhà. </a:t>
            </a:r>
            <a:r>
              <a:rPr lang="vi-VN" b="1" dirty="0">
                <a:solidFill>
                  <a:srgbClr val="FF0000"/>
                </a:solidFill>
              </a:rPr>
              <a:t>Đối tượng</a:t>
            </a:r>
            <a:r>
              <a:rPr lang="en-US" dirty="0"/>
              <a:t>(object)</a:t>
            </a:r>
            <a:r>
              <a:rPr lang="vi-VN" dirty="0"/>
              <a:t> là các ngôi nhà được xây từ bản thiết kế đó.</a:t>
            </a:r>
            <a:endParaRPr lang="en-US" dirty="0"/>
          </a:p>
          <a:p>
            <a:r>
              <a:rPr lang="en-US" b="1" dirty="0" err="1"/>
              <a:t>Ví</a:t>
            </a:r>
            <a:r>
              <a:rPr lang="en-US" b="1" dirty="0"/>
              <a:t> </a:t>
            </a:r>
            <a:r>
              <a:rPr lang="en-US" b="1" dirty="0" err="1"/>
              <a:t>dụ</a:t>
            </a:r>
            <a:r>
              <a:rPr lang="en-US" b="1" dirty="0"/>
              <a:t>:</a:t>
            </a:r>
          </a:p>
          <a:p>
            <a:pPr lvl="1"/>
            <a:r>
              <a:rPr lang="en-US" b="1" dirty="0"/>
              <a:t>Sinh </a:t>
            </a:r>
            <a:r>
              <a:rPr lang="en-US" b="1" dirty="0" err="1"/>
              <a:t>viên</a:t>
            </a:r>
            <a:r>
              <a:rPr lang="en-US" dirty="0"/>
              <a:t> </a:t>
            </a:r>
            <a:r>
              <a:rPr lang="en-US" dirty="0" err="1"/>
              <a:t>có:Tên,Tuổi,Mã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(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)</a:t>
            </a:r>
          </a:p>
          <a:p>
            <a:pPr lvl="1"/>
            <a:r>
              <a:rPr lang="en-US" b="1" dirty="0"/>
              <a:t>Sinh </a:t>
            </a:r>
            <a:r>
              <a:rPr lang="en-US" b="1" dirty="0" err="1"/>
              <a:t>viên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thể:Học</a:t>
            </a:r>
            <a:r>
              <a:rPr lang="en-US" dirty="0"/>
              <a:t> </a:t>
            </a:r>
            <a:r>
              <a:rPr lang="en-US" dirty="0" err="1"/>
              <a:t>bài,Thi</a:t>
            </a:r>
            <a:r>
              <a:rPr lang="en-US" dirty="0"/>
              <a:t>, Xem </a:t>
            </a:r>
            <a:r>
              <a:rPr lang="en-US" dirty="0" err="1"/>
              <a:t>điểm</a:t>
            </a:r>
            <a:r>
              <a:rPr lang="en-US" dirty="0"/>
              <a:t> (</a:t>
            </a:r>
            <a:r>
              <a:rPr lang="en-US" dirty="0" err="1"/>
              <a:t>Hành</a:t>
            </a:r>
            <a:r>
              <a:rPr lang="en-US" dirty="0"/>
              <a:t> vi)</a:t>
            </a:r>
          </a:p>
          <a:p>
            <a:pPr marL="457200" lvl="1" indent="0">
              <a:buNone/>
            </a:pPr>
            <a:r>
              <a:rPr lang="en-US" dirty="0"/>
              <a:t>👉 Sinh </a:t>
            </a:r>
            <a:r>
              <a:rPr lang="en-US" dirty="0" err="1"/>
              <a:t>viên</a:t>
            </a:r>
            <a:r>
              <a:rPr lang="en-US" dirty="0"/>
              <a:t> ở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Class</a:t>
            </a:r>
          </a:p>
          <a:p>
            <a:pPr marL="457200" lvl="1" indent="0">
              <a:buNone/>
            </a:pPr>
            <a:r>
              <a:rPr lang="en-US" dirty="0"/>
              <a:t>👉 Sinh </a:t>
            </a:r>
            <a:r>
              <a:rPr lang="en-US" dirty="0" err="1"/>
              <a:t>viên</a:t>
            </a:r>
            <a:r>
              <a:rPr lang="en-US" dirty="0"/>
              <a:t> Nguyễn Văn A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đối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tượng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(object)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09DF0C-2EB1-513E-5569-D48C1951F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3C68A-F02D-9B13-7915-0748B92663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F0131D3-180F-298B-E965-5930BCEE6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KHÁI NIỆM CLASS TRONG TYPESCRIPT</a:t>
            </a:r>
          </a:p>
        </p:txBody>
      </p:sp>
    </p:spTree>
    <p:extLst>
      <p:ext uri="{BB962C8B-B14F-4D97-AF65-F5344CB8AC3E}">
        <p14:creationId xmlns:p14="http://schemas.microsoft.com/office/powerpoint/2010/main" val="1092901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85B23-0058-3F85-C2D8-AD35C8E0D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79AB14-71F4-4240-6974-6C162FC5A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966" y="799498"/>
            <a:ext cx="11647639" cy="545941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Cú </a:t>
            </a:r>
            <a:r>
              <a:rPr lang="en-US" b="1" dirty="0" err="1">
                <a:solidFill>
                  <a:srgbClr val="FF0000"/>
                </a:solidFill>
              </a:rPr>
              <a:t>pháp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tạo</a:t>
            </a:r>
            <a:r>
              <a:rPr lang="en-US" b="1" dirty="0">
                <a:solidFill>
                  <a:srgbClr val="FF0000"/>
                </a:solidFill>
              </a:rPr>
              <a:t> Class </a:t>
            </a:r>
          </a:p>
          <a:p>
            <a:pPr marL="457200" lvl="1" indent="0">
              <a:buNone/>
            </a:pPr>
            <a:r>
              <a:rPr lang="vi-VN" sz="2800" dirty="0" err="1"/>
              <a:t>class</a:t>
            </a:r>
            <a:r>
              <a:rPr lang="vi-VN" sz="2800" dirty="0"/>
              <a:t> </a:t>
            </a:r>
            <a:r>
              <a:rPr lang="vi-VN" sz="2800" dirty="0" err="1"/>
              <a:t>TenClass</a:t>
            </a:r>
            <a:r>
              <a:rPr lang="vi-VN" sz="2800" dirty="0"/>
              <a:t> {</a:t>
            </a:r>
          </a:p>
          <a:p>
            <a:pPr marL="457200" lvl="1" indent="0">
              <a:buNone/>
            </a:pPr>
            <a:r>
              <a:rPr lang="vi-VN" sz="2800" dirty="0"/>
              <a:t>  // thuộc tính</a:t>
            </a:r>
          </a:p>
          <a:p>
            <a:pPr marL="457200" lvl="1" indent="0">
              <a:buNone/>
            </a:pPr>
            <a:r>
              <a:rPr lang="vi-VN" sz="2800" dirty="0"/>
              <a:t>  // phương thức</a:t>
            </a:r>
          </a:p>
          <a:p>
            <a:pPr marL="457200" lvl="1" indent="0">
              <a:buNone/>
            </a:pPr>
            <a:r>
              <a:rPr lang="vi-VN" sz="2800" dirty="0"/>
              <a:t>}</a:t>
            </a:r>
            <a:endParaRPr lang="en-US" sz="2800" dirty="0"/>
          </a:p>
          <a:p>
            <a:r>
              <a:rPr lang="en-US" b="1" dirty="0" err="1">
                <a:solidFill>
                  <a:srgbClr val="FF0000"/>
                </a:solidFill>
              </a:rPr>
              <a:t>Ví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dụ</a:t>
            </a:r>
            <a:r>
              <a:rPr lang="en-US" b="1" dirty="0">
                <a:solidFill>
                  <a:srgbClr val="FF0000"/>
                </a:solidFill>
              </a:rPr>
              <a:t>:</a:t>
            </a:r>
            <a:endParaRPr lang="vi-VN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90BB60-AB52-8D88-8645-E8BD80D601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C906A-060A-9D1F-A753-7551E268E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D726D9A-944D-60F4-3D0E-97DA43823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KHÁI NIỆM CLASS TRONG TYPESCRIPT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ADE6D12-D4E1-53FA-1053-A127AE39B3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066176"/>
              </p:ext>
            </p:extLst>
          </p:nvPr>
        </p:nvGraphicFramePr>
        <p:xfrm>
          <a:off x="0" y="3647737"/>
          <a:ext cx="1219199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0267">
                  <a:extLst>
                    <a:ext uri="{9D8B030D-6E8A-4147-A177-3AD203B41FA5}">
                      <a16:colId xmlns:a16="http://schemas.microsoft.com/office/drawing/2014/main" val="941200024"/>
                    </a:ext>
                  </a:extLst>
                </a:gridCol>
                <a:gridCol w="4473390">
                  <a:extLst>
                    <a:ext uri="{9D8B030D-6E8A-4147-A177-3AD203B41FA5}">
                      <a16:colId xmlns:a16="http://schemas.microsoft.com/office/drawing/2014/main" val="4227855520"/>
                    </a:ext>
                  </a:extLst>
                </a:gridCol>
                <a:gridCol w="4618342">
                  <a:extLst>
                    <a:ext uri="{9D8B030D-6E8A-4147-A177-3AD203B41FA5}">
                      <a16:colId xmlns:a16="http://schemas.microsoft.com/office/drawing/2014/main" val="2020234170"/>
                    </a:ext>
                  </a:extLst>
                </a:gridCol>
              </a:tblGrid>
              <a:tr h="2834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SinhVien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{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ten: string;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tuoi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number;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ThongBao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{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hienThi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(): void {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console.log("Xin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chào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sinh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viên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");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}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SinhVien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{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ten: string;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tuoi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number;</a:t>
                      </a:r>
                    </a:p>
                    <a:p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gioiThieu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(): void {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console.log(`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Tôi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tên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là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${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this.ten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}, ${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this.tuoi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tuổi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`);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}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860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7759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BBBC4-8916-C962-F3BF-23CF2FDCF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B961A8-11A6-5F74-AA55-E585BF9FD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966" y="799498"/>
            <a:ext cx="11647639" cy="5459412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Phân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biệt</a:t>
            </a:r>
            <a:r>
              <a:rPr lang="en-US" b="1" dirty="0">
                <a:solidFill>
                  <a:srgbClr val="FF0000"/>
                </a:solidFill>
              </a:rPr>
              <a:t> Class </a:t>
            </a:r>
            <a:r>
              <a:rPr lang="en-US" b="1" dirty="0" err="1">
                <a:solidFill>
                  <a:srgbClr val="FF0000"/>
                </a:solidFill>
              </a:rPr>
              <a:t>và</a:t>
            </a:r>
            <a:r>
              <a:rPr lang="en-US" b="1" dirty="0">
                <a:solidFill>
                  <a:srgbClr val="FF0000"/>
                </a:solidFill>
              </a:rPr>
              <a:t> Object</a:t>
            </a:r>
            <a:endParaRPr lang="vi-VN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D6F383-A424-8F8D-2067-FCE1475A6B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734FF-C346-C456-CA20-2040609120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2166FEF-2277-C3F8-5DDE-F6B135F34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PHÂN BIỆT CLASS VÀ OBJECT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16D99E9-3BEF-4ED4-69A2-0B5AAA894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971852"/>
              </p:ext>
            </p:extLst>
          </p:nvPr>
        </p:nvGraphicFramePr>
        <p:xfrm>
          <a:off x="144966" y="1343885"/>
          <a:ext cx="11902068" cy="4982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7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7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7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2797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Tiêu chí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797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Bản chất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Khuôn mẫu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Thực thể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797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Mục đích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Định </a:t>
                      </a:r>
                      <a:r>
                        <a:rPr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nghĩa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Thực thi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797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Tồn tại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Trừu tượng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Cụ thể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2797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Bộ nhớ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 chiếm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 chiếm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2797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Dữ liệu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Chưa có giá trị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 giá trị thật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2797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 lượng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Thường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 thể nhiều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2797"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Thời</a:t>
                      </a:r>
                      <a:r>
                        <a:rPr sz="2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điểm</a:t>
                      </a:r>
                      <a:endParaRPr sz="20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Khi viết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Khi </a:t>
                      </a:r>
                      <a:r>
                        <a:rPr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chạy</a:t>
                      </a: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chương</a:t>
                      </a: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trình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2568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D094CD-0DBB-9129-F702-1BE866A8B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362" y="799498"/>
            <a:ext cx="11692244" cy="545941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Constructor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 ?</a:t>
            </a:r>
          </a:p>
          <a:p>
            <a:pPr lvl="1"/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b="1" dirty="0" err="1"/>
              <a:t>khởi</a:t>
            </a:r>
            <a:r>
              <a:rPr lang="en-US" b="1" dirty="0"/>
              <a:t> </a:t>
            </a:r>
            <a:r>
              <a:rPr lang="en-US" b="1" dirty="0" err="1"/>
              <a:t>tạo</a:t>
            </a:r>
            <a:r>
              <a:rPr lang="en-US" b="1" dirty="0"/>
              <a:t> </a:t>
            </a:r>
            <a:r>
              <a:rPr lang="en-US" b="1" dirty="0" err="1"/>
              <a:t>giá</a:t>
            </a:r>
            <a:r>
              <a:rPr lang="en-US" b="1" dirty="0"/>
              <a:t> </a:t>
            </a:r>
            <a:r>
              <a:rPr lang="en-US" b="1" dirty="0" err="1"/>
              <a:t>trị</a:t>
            </a:r>
            <a:r>
              <a:rPr lang="en-US" b="1" dirty="0"/>
              <a:t> ban </a:t>
            </a:r>
            <a:r>
              <a:rPr lang="en-US" b="1" dirty="0" err="1"/>
              <a:t>đầu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en-US" dirty="0"/>
          </a:p>
          <a:p>
            <a:pPr lvl="1"/>
            <a:r>
              <a:rPr lang="en-US" dirty="0"/>
              <a:t>Đ</a:t>
            </a:r>
            <a:r>
              <a:rPr lang="vi-VN" dirty="0" err="1"/>
              <a:t>ược</a:t>
            </a:r>
            <a:r>
              <a:rPr lang="vi-VN" dirty="0"/>
              <a:t> chạy </a:t>
            </a:r>
            <a:r>
              <a:rPr lang="vi-VN" b="1" dirty="0"/>
              <a:t>ngay khi tạo đối tượng bằng </a:t>
            </a:r>
            <a:r>
              <a:rPr lang="vi-VN" b="1" i="1" dirty="0" err="1"/>
              <a:t>new</a:t>
            </a:r>
            <a:endParaRPr lang="en-US" dirty="0"/>
          </a:p>
          <a:p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Mỗi</a:t>
            </a:r>
            <a:r>
              <a:rPr lang="en-US" dirty="0"/>
              <a:t> class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b="1" dirty="0"/>
              <a:t>1 constructor</a:t>
            </a:r>
            <a:endParaRPr lang="en-US" dirty="0"/>
          </a:p>
          <a:p>
            <a:pPr lvl="1"/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không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283257-41ED-03CD-E692-D210493B7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F9010-8D1C-3899-847A-A2705D8765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C4F0EB4-34CF-3F58-2951-DF909B1ED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CONSTRUCTOR TRONG TYPESCRIPT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73C177-53BB-78A4-8408-0105DA67E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56" y="3429000"/>
            <a:ext cx="6456556" cy="302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161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B7E0E-1F63-DE03-8684-490E7D913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6567B1-21A3-7A70-B966-49B85E3563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FCF6A-6619-C1BC-1B80-905AF7C89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0030E6F-DA7A-F6EA-5BC9-5932841B4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 constructor có tham số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EB9614-EF62-2D70-6855-FDCD83EBC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20" y="1431982"/>
            <a:ext cx="5968247" cy="37979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9BDBFE-B048-2EE9-DCF6-DAE2021F02F8}"/>
              </a:ext>
            </a:extLst>
          </p:cNvPr>
          <p:cNvSpPr txBox="1"/>
          <p:nvPr/>
        </p:nvSpPr>
        <p:spPr>
          <a:xfrm>
            <a:off x="116220" y="990281"/>
            <a:ext cx="1173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962F09-008E-3F66-C707-C9D0FF0A6858}"/>
              </a:ext>
            </a:extLst>
          </p:cNvPr>
          <p:cNvSpPr txBox="1"/>
          <p:nvPr/>
        </p:nvSpPr>
        <p:spPr>
          <a:xfrm>
            <a:off x="6107535" y="856469"/>
            <a:ext cx="5968245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constructor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là </a:t>
            </a:r>
            <a:r>
              <a:rPr lang="vi-V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nơi nhận dữ liệu ban đầu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khi tạo đối tượng.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 bạn viết </a:t>
            </a:r>
            <a:r>
              <a:rPr lang="vi-V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vi-V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Toyota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2020)</a:t>
            </a:r>
            <a:b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"</a:t>
            </a:r>
            <a:r>
              <a:rPr lang="vi-V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Toyota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và 2020 được </a:t>
            </a:r>
            <a:r>
              <a:rPr lang="vi-V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truyền vào </a:t>
            </a:r>
            <a:r>
              <a:rPr lang="vi-V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constructor</a:t>
            </a:r>
            <a:endParaRPr lang="vi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Constructor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sẽ </a:t>
            </a:r>
            <a:r>
              <a:rPr lang="vi-V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dữ liệu đó vào thuộc tính của đối tượng: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this.brand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vi-V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brand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lưu tên xe.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this.year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vi-V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lưu năm sản xuất.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quả: đối tượng c1 có đầy đủ thông tin:</a:t>
            </a:r>
            <a:b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brand</a:t>
            </a:r>
            <a:r>
              <a:rPr lang="vi-V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</a:t>
            </a:r>
            <a:r>
              <a:rPr lang="vi-V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Toyota</a:t>
            </a:r>
            <a:r>
              <a:rPr lang="vi-V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vi-V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  <a:r>
              <a:rPr lang="vi-V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2020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56C29BA-3E7F-D695-9876-87796AE4B634}"/>
              </a:ext>
            </a:extLst>
          </p:cNvPr>
          <p:cNvCxnSpPr/>
          <p:nvPr/>
        </p:nvCxnSpPr>
        <p:spPr>
          <a:xfrm>
            <a:off x="6107535" y="1693409"/>
            <a:ext cx="0" cy="2598549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3501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26C1C-50B3-9508-1D9C-FE968C637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AC37FA-B034-0FC4-557C-3D1E6CC324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FC7077-CD2B-EA75-4C27-B32289A14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7246F1-A79B-96E6-7746-28F126638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 constructor không tham số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D611F9-522E-DD20-32BF-1C7DE0C03C53}"/>
              </a:ext>
            </a:extLst>
          </p:cNvPr>
          <p:cNvSpPr txBox="1"/>
          <p:nvPr/>
        </p:nvSpPr>
        <p:spPr>
          <a:xfrm>
            <a:off x="116220" y="990281"/>
            <a:ext cx="11735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Ví dụ: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D52888-1C87-F5C3-E73F-C1DCDF41D34A}"/>
              </a:ext>
            </a:extLst>
          </p:cNvPr>
          <p:cNvSpPr txBox="1"/>
          <p:nvPr/>
        </p:nvSpPr>
        <p:spPr>
          <a:xfrm>
            <a:off x="6433958" y="1055614"/>
            <a:ext cx="5522493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Không truyền gì vào, đối tượng vẫn có giá trị mặc định.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701DEC-9E51-9680-0B06-C8B3108A3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20" y="1421168"/>
            <a:ext cx="5082122" cy="3429000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B40D0EA-5DB3-0BCF-B87C-DE4B2426B715}"/>
              </a:ext>
            </a:extLst>
          </p:cNvPr>
          <p:cNvCxnSpPr/>
          <p:nvPr/>
        </p:nvCxnSpPr>
        <p:spPr>
          <a:xfrm>
            <a:off x="6060366" y="1479888"/>
            <a:ext cx="0" cy="2598549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427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8541F-E416-D88B-037B-7B3CF2429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AC9DA-8D5B-2BE5-4771-E75BB3EB71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9ED7A-9456-D188-D9AE-3191667E9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9BA618F-4959-385F-DE0E-3CD09D07D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 constructor không tham số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9B642B-C87C-2D2A-EFC5-58FFE4D2965B}"/>
              </a:ext>
            </a:extLst>
          </p:cNvPr>
          <p:cNvSpPr txBox="1"/>
          <p:nvPr/>
        </p:nvSpPr>
        <p:spPr>
          <a:xfrm>
            <a:off x="156117" y="1034885"/>
            <a:ext cx="1169624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NÊN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constructor?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buộc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soát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vi-V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 nào KHÔNG nên dùng </a:t>
            </a:r>
            <a:r>
              <a:rPr lang="vi-VN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constructor</a:t>
            </a:r>
            <a:r>
              <a:rPr lang="vi-V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Tạo </a:t>
            </a:r>
            <a:r>
              <a:rPr lang="vi-V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trước, gán dữ liệu sau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vi-V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dùng như </a:t>
            </a:r>
            <a:r>
              <a:rPr lang="vi-V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container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dữ liệu</a:t>
            </a:r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Dữ liệu đến từ nhiều bước (</a:t>
            </a:r>
            <a:r>
              <a:rPr lang="vi-V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API…)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312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CBE24-26B0-0320-1A5A-B8BDE6369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64" y="959005"/>
            <a:ext cx="11669942" cy="5299905"/>
          </a:xfrm>
        </p:spPr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Thuộc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tính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(Properties)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 ?</a:t>
            </a:r>
          </a:p>
          <a:p>
            <a:pPr lvl="1"/>
            <a:r>
              <a:rPr lang="vi-VN" sz="2800" dirty="0"/>
              <a:t>Là </a:t>
            </a:r>
            <a:r>
              <a:rPr lang="vi-VN" sz="2800" b="1" dirty="0"/>
              <a:t>biến được khai báo bên trong </a:t>
            </a:r>
            <a:r>
              <a:rPr lang="vi-VN" sz="2800" b="1" dirty="0" err="1"/>
              <a:t>class</a:t>
            </a:r>
            <a:r>
              <a:rPr lang="vi-VN" sz="2800" dirty="0"/>
              <a:t>.</a:t>
            </a:r>
            <a:endParaRPr lang="en-US" sz="2800" dirty="0"/>
          </a:p>
          <a:p>
            <a:pPr lvl="1"/>
            <a:r>
              <a:rPr lang="vi-VN" sz="2800" dirty="0"/>
              <a:t>Dùng để </a:t>
            </a:r>
            <a:r>
              <a:rPr lang="vi-VN" sz="2800" b="1" dirty="0"/>
              <a:t>lưu trữ trạng thái / thông tin</a:t>
            </a:r>
            <a:r>
              <a:rPr lang="vi-VN" sz="2800" dirty="0"/>
              <a:t> của đối tượng.</a:t>
            </a:r>
            <a:endParaRPr lang="en-US" sz="2800" dirty="0"/>
          </a:p>
          <a:p>
            <a:pPr lvl="2"/>
            <a:r>
              <a:rPr lang="vi-VN" sz="2800" dirty="0"/>
              <a:t>Mỗi đối tượng sẽ có </a:t>
            </a:r>
            <a:r>
              <a:rPr lang="vi-VN" sz="2800" b="1" dirty="0"/>
              <a:t>giá trị riêng</a:t>
            </a:r>
            <a:r>
              <a:rPr lang="vi-VN" sz="2800" dirty="0"/>
              <a:t> cho các thuộc tính này.</a:t>
            </a:r>
            <a:endParaRPr lang="en-US" sz="2800" dirty="0"/>
          </a:p>
          <a:p>
            <a:pPr marL="914400" lvl="2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94949C-5103-69EB-DB64-A05245C84C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2D1E9-72C4-F136-15A1-2783D6EBD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BE6C79D-C4F9-C3C2-FAE0-412C112A3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THUỘC TÍNH (PROPERTIES)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8324E3-CBCB-6577-8DC1-7B70022D5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846" y="3301360"/>
            <a:ext cx="4375341" cy="29910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0C7FD3-B81B-AB2F-91FF-C61DBED99784}"/>
              </a:ext>
            </a:extLst>
          </p:cNvPr>
          <p:cNvSpPr txBox="1"/>
          <p:nvPr/>
        </p:nvSpPr>
        <p:spPr>
          <a:xfrm>
            <a:off x="973001" y="2778140"/>
            <a:ext cx="1423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3DEDA88-ED1D-B3DF-BCA4-AEF5D9D82419}"/>
              </a:ext>
            </a:extLst>
          </p:cNvPr>
          <p:cNvSpPr/>
          <p:nvPr/>
        </p:nvSpPr>
        <p:spPr>
          <a:xfrm>
            <a:off x="5589917" y="4157932"/>
            <a:ext cx="210807" cy="207034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E6AFD2-4B52-7FF1-010D-3F0AD1F3B778}"/>
              </a:ext>
            </a:extLst>
          </p:cNvPr>
          <p:cNvSpPr txBox="1"/>
          <p:nvPr/>
        </p:nvSpPr>
        <p:spPr>
          <a:xfrm>
            <a:off x="5955103" y="3925018"/>
            <a:ext cx="61142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và </a:t>
            </a:r>
            <a:r>
              <a:rPr lang="vi-V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chính là 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thuộc tính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lưu thông tin của từng sinh viên.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730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923516-D7F0-2FD6-6ABD-E69D0C35E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12" y="836611"/>
            <a:ext cx="11681093" cy="542229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Phương </a:t>
            </a:r>
            <a:r>
              <a:rPr lang="en-US" b="1" dirty="0" err="1">
                <a:solidFill>
                  <a:srgbClr val="FF0000"/>
                </a:solidFill>
              </a:rPr>
              <a:t>thức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(Methods)</a:t>
            </a:r>
          </a:p>
          <a:p>
            <a:pPr lvl="1"/>
            <a:r>
              <a:rPr lang="fr-FR" sz="2800" dirty="0"/>
              <a:t>Là </a:t>
            </a:r>
            <a:r>
              <a:rPr lang="fr-FR" sz="2800" b="1" dirty="0" err="1"/>
              <a:t>hàm</a:t>
            </a:r>
            <a:r>
              <a:rPr lang="fr-FR" sz="2800" b="1" dirty="0"/>
              <a:t> (</a:t>
            </a:r>
            <a:r>
              <a:rPr lang="fr-FR" sz="2800" b="1" dirty="0" err="1"/>
              <a:t>function</a:t>
            </a:r>
            <a:r>
              <a:rPr lang="fr-FR" sz="2800" b="1" dirty="0"/>
              <a:t>) </a:t>
            </a:r>
            <a:r>
              <a:rPr lang="fr-FR" sz="2800" b="1" dirty="0" err="1"/>
              <a:t>nằm</a:t>
            </a:r>
            <a:r>
              <a:rPr lang="fr-FR" sz="2800" b="1" dirty="0"/>
              <a:t> </a:t>
            </a:r>
            <a:r>
              <a:rPr lang="fr-FR" sz="2800" b="1" dirty="0" err="1"/>
              <a:t>trong</a:t>
            </a:r>
            <a:r>
              <a:rPr lang="fr-FR" sz="2800" b="1" dirty="0"/>
              <a:t> class.</a:t>
            </a:r>
          </a:p>
          <a:p>
            <a:pPr lvl="1"/>
            <a:r>
              <a:rPr lang="vi-VN" sz="2800" dirty="0"/>
              <a:t>Dùng để mô tả </a:t>
            </a:r>
            <a:r>
              <a:rPr lang="vi-VN" sz="2800" b="1" dirty="0"/>
              <a:t>hành động / chức năng</a:t>
            </a:r>
            <a:r>
              <a:rPr lang="vi-VN" sz="2800" dirty="0"/>
              <a:t> của đối tượng.</a:t>
            </a:r>
            <a:endParaRPr lang="en-US" sz="2800" dirty="0"/>
          </a:p>
          <a:p>
            <a:pPr lvl="1"/>
            <a:r>
              <a:rPr lang="vi-VN" sz="2800" dirty="0"/>
              <a:t>Mỗi đối tượng được tạo từ </a:t>
            </a:r>
            <a:r>
              <a:rPr lang="vi-VN" sz="2800" dirty="0" err="1"/>
              <a:t>class</a:t>
            </a:r>
            <a:r>
              <a:rPr lang="vi-VN" sz="2800" dirty="0"/>
              <a:t> có thể </a:t>
            </a:r>
            <a:r>
              <a:rPr lang="vi-VN" sz="2800" b="1" dirty="0"/>
              <a:t>gọi</a:t>
            </a:r>
            <a:r>
              <a:rPr lang="vi-VN" sz="2800" dirty="0"/>
              <a:t> các phương thức này.</a:t>
            </a:r>
            <a:endParaRPr lang="en-US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05B76E-6B3E-00DD-98CD-A51A491A53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19382-3396-5375-03E2-7EA5C14E3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143DFE1-F60E-7126-116F-40F1AE811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PHƯƠNG THỨC (METHODS)</a:t>
            </a:r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BE79CB-A2D6-5278-5E67-A52E4320B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66" y="3052219"/>
            <a:ext cx="5589917" cy="29691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426AF1E-1FAF-9FB3-6A05-C826E7D163C7}"/>
              </a:ext>
            </a:extLst>
          </p:cNvPr>
          <p:cNvSpPr txBox="1"/>
          <p:nvPr/>
        </p:nvSpPr>
        <p:spPr>
          <a:xfrm>
            <a:off x="567558" y="2621332"/>
            <a:ext cx="1268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A8D5E9-2B18-1BA5-7782-3942135FD547}"/>
              </a:ext>
            </a:extLst>
          </p:cNvPr>
          <p:cNvSpPr txBox="1"/>
          <p:nvPr/>
        </p:nvSpPr>
        <p:spPr>
          <a:xfrm>
            <a:off x="7058723" y="3641834"/>
            <a:ext cx="5021766" cy="1867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vi-V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introduce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là 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phương thức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 gọi s1.introduce(), đối tượng thực hiện hành động 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bản thân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D9C42E6-7FCF-5F1F-B051-94FB3D8D0942}"/>
              </a:ext>
            </a:extLst>
          </p:cNvPr>
          <p:cNvSpPr/>
          <p:nvPr/>
        </p:nvSpPr>
        <p:spPr>
          <a:xfrm>
            <a:off x="6642340" y="4036957"/>
            <a:ext cx="264248" cy="207443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680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F3E51-545F-CBD0-34BF-7DCE7D98E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8BA021-AB1C-30BB-5E2B-7A7FC7600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816" y="914400"/>
            <a:ext cx="11898350" cy="53445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👉 </a:t>
            </a:r>
            <a:r>
              <a:rPr lang="vi-VN" b="1" dirty="0">
                <a:solidFill>
                  <a:srgbClr val="FF0000"/>
                </a:solidFill>
              </a:rPr>
              <a:t>Phạm vi truy cập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/>
              <a:t>dùng để </a:t>
            </a:r>
            <a:r>
              <a:rPr lang="vi-VN" b="1" dirty="0"/>
              <a:t>quy định ai được phép truy cập</a:t>
            </a:r>
            <a:r>
              <a:rPr lang="vi-VN" dirty="0"/>
              <a:t> vào</a:t>
            </a:r>
            <a:r>
              <a:rPr lang="en-US" dirty="0"/>
              <a:t> t</a:t>
            </a:r>
            <a:r>
              <a:rPr lang="vi-VN" dirty="0" err="1"/>
              <a:t>huộc</a:t>
            </a:r>
            <a:r>
              <a:rPr lang="vi-VN" dirty="0"/>
              <a:t> tính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vi-VN" dirty="0"/>
              <a:t> Phương thức trong </a:t>
            </a:r>
            <a:r>
              <a:rPr lang="vi-VN" b="1" dirty="0" err="1"/>
              <a:t>class</a:t>
            </a:r>
            <a:endParaRPr lang="vi-VN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sv-SE" dirty="0"/>
              <a:t>TypeScript có </a:t>
            </a:r>
            <a:r>
              <a:rPr lang="sv-SE" b="1" dirty="0"/>
              <a:t>3 phạm vi truy cập chính</a:t>
            </a:r>
            <a:r>
              <a:rPr lang="sv-SE" dirty="0"/>
              <a:t>:</a:t>
            </a:r>
            <a:endParaRPr lang="en-US" b="1" dirty="0">
              <a:solidFill>
                <a:srgbClr val="FF0000"/>
              </a:solidFill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vi-VN" b="1" dirty="0">
                <a:solidFill>
                  <a:srgbClr val="FF0000"/>
                </a:solidFill>
              </a:rPr>
              <a:t>P</a:t>
            </a:r>
            <a:r>
              <a:rPr lang="en-US" b="1" dirty="0" err="1">
                <a:solidFill>
                  <a:srgbClr val="FF0000"/>
                </a:solidFill>
              </a:rPr>
              <a:t>ublic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, </a:t>
            </a:r>
            <a:r>
              <a:rPr lang="vi-VN" b="1" dirty="0">
                <a:solidFill>
                  <a:srgbClr val="FF0000"/>
                </a:solidFill>
              </a:rPr>
              <a:t>P</a:t>
            </a:r>
            <a:r>
              <a:rPr lang="en-US" b="1" dirty="0" err="1">
                <a:solidFill>
                  <a:srgbClr val="FF0000"/>
                </a:solidFill>
              </a:rPr>
              <a:t>rivate</a:t>
            </a:r>
            <a:r>
              <a:rPr lang="en-US" b="1" dirty="0">
                <a:solidFill>
                  <a:srgbClr val="FF0000"/>
                </a:solidFill>
              </a:rPr>
              <a:t>, </a:t>
            </a:r>
            <a:r>
              <a:rPr lang="vi-VN" b="1" dirty="0">
                <a:solidFill>
                  <a:srgbClr val="FF0000"/>
                </a:solidFill>
              </a:rPr>
              <a:t>P</a:t>
            </a:r>
            <a:r>
              <a:rPr lang="en-US" b="1" dirty="0" err="1">
                <a:solidFill>
                  <a:srgbClr val="FF0000"/>
                </a:solidFill>
              </a:rPr>
              <a:t>rotected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2B6358-5511-0FF3-2110-A055A75004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B9173-C283-D5A2-0D2D-81BF92F2D3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4F92EE1-B96A-B7AA-4017-E095E093F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PHẠM VI TRUY CẬP (Access Modifiers)</a:t>
            </a:r>
          </a:p>
        </p:txBody>
      </p:sp>
    </p:spTree>
    <p:extLst>
      <p:ext uri="{BB962C8B-B14F-4D97-AF65-F5344CB8AC3E}">
        <p14:creationId xmlns:p14="http://schemas.microsoft.com/office/powerpoint/2010/main" val="4257902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BE498E-97F6-D033-EBE5-B6171DC2D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80946"/>
            <a:ext cx="11792605" cy="537796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Public</a:t>
            </a:r>
            <a:r>
              <a:rPr lang="en-US" b="1" dirty="0"/>
              <a:t>: </a:t>
            </a:r>
          </a:p>
          <a:p>
            <a:pPr marL="457200" lvl="1" indent="0">
              <a:buNone/>
            </a:pPr>
            <a:r>
              <a:rPr lang="vi-VN" dirty="0"/>
              <a:t>Thuộc tính hoặc phương thức có </a:t>
            </a:r>
            <a:r>
              <a:rPr lang="vi-VN" dirty="0" err="1"/>
              <a:t>public</a:t>
            </a:r>
            <a:r>
              <a:rPr lang="vi-VN" dirty="0"/>
              <a:t> có thể được dùng:</a:t>
            </a:r>
            <a:endParaRPr lang="en-US" dirty="0"/>
          </a:p>
          <a:p>
            <a:pPr lvl="2"/>
            <a:r>
              <a:rPr lang="en-US" dirty="0"/>
              <a:t>Trong </a:t>
            </a:r>
            <a:r>
              <a:rPr lang="en-US" dirty="0" err="1"/>
              <a:t>chính</a:t>
            </a:r>
            <a:r>
              <a:rPr lang="en-US" dirty="0"/>
              <a:t> class</a:t>
            </a:r>
          </a:p>
          <a:p>
            <a:pPr lvl="2"/>
            <a:r>
              <a:rPr lang="vi-VN" dirty="0"/>
              <a:t>Từ đối tượng được tạo ra</a:t>
            </a:r>
            <a:endParaRPr lang="en-US" dirty="0"/>
          </a:p>
          <a:p>
            <a:pPr lvl="2"/>
            <a:r>
              <a:rPr lang="en-US" dirty="0" err="1"/>
              <a:t>Từ</a:t>
            </a:r>
            <a:r>
              <a:rPr lang="en-US" dirty="0"/>
              <a:t> class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thừa</a:t>
            </a:r>
            <a:endParaRPr lang="en-US" dirty="0"/>
          </a:p>
          <a:p>
            <a:pPr lvl="2"/>
            <a:r>
              <a:rPr lang="vi-VN" dirty="0"/>
              <a:t>Bên ngoài mọi nơi trong chương trình</a:t>
            </a:r>
            <a:endParaRPr lang="en-US" dirty="0"/>
          </a:p>
          <a:p>
            <a:pPr lvl="2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</a:t>
            </a:r>
          </a:p>
          <a:p>
            <a:pPr lvl="2"/>
            <a:endParaRPr lang="en-US" dirty="0"/>
          </a:p>
          <a:p>
            <a:pPr marL="914400" lvl="2" indent="0">
              <a:buNone/>
            </a:pPr>
            <a:r>
              <a:rPr lang="en-US" dirty="0"/>
              <a:t>class </a:t>
            </a:r>
            <a:r>
              <a:rPr lang="en-US" dirty="0" err="1"/>
              <a:t>SinhVien</a:t>
            </a:r>
            <a:r>
              <a:rPr lang="en-US" dirty="0"/>
              <a:t> {</a:t>
            </a:r>
          </a:p>
          <a:p>
            <a:pPr marL="914400" lvl="2" indent="0">
              <a:buNone/>
            </a:pPr>
            <a:r>
              <a:rPr lang="en-US" dirty="0"/>
              <a:t>  </a:t>
            </a:r>
            <a:r>
              <a:rPr lang="en-US" dirty="0">
                <a:solidFill>
                  <a:srgbClr val="FF0000"/>
                </a:solidFill>
              </a:rPr>
              <a:t>public</a:t>
            </a:r>
            <a:r>
              <a:rPr lang="en-US" dirty="0"/>
              <a:t> ten: string;</a:t>
            </a:r>
          </a:p>
          <a:p>
            <a:pPr marL="914400" lvl="2" indent="0">
              <a:buNone/>
            </a:pPr>
            <a:r>
              <a:rPr lang="en-US" dirty="0"/>
              <a:t>}</a:t>
            </a:r>
          </a:p>
          <a:p>
            <a:pPr lvl="2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06DD50-A6E6-0B4B-21E4-B50EE8B0D5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86109-97BC-AC5E-3A41-FF7CF31E8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45F0982-CE8C-C6A1-B014-13B51126E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PHẠM VI TRUY CẬP – PUBLIC</a:t>
            </a:r>
          </a:p>
        </p:txBody>
      </p:sp>
    </p:spTree>
    <p:extLst>
      <p:ext uri="{BB962C8B-B14F-4D97-AF65-F5344CB8AC3E}">
        <p14:creationId xmlns:p14="http://schemas.microsoft.com/office/powerpoint/2010/main" val="3337702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65A6DC-3CF5-7382-3A45-ACDDE67DB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60" y="799499"/>
            <a:ext cx="11714546" cy="545941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Private</a:t>
            </a:r>
            <a:r>
              <a:rPr lang="en-US" b="1" dirty="0"/>
              <a:t>:</a:t>
            </a:r>
          </a:p>
          <a:p>
            <a:pPr lvl="1"/>
            <a:r>
              <a:rPr lang="en-US" b="1" dirty="0"/>
              <a:t>C</a:t>
            </a:r>
            <a:r>
              <a:rPr lang="vi-VN" b="1" dirty="0"/>
              <a:t>hỉ được truy cập bên trong </a:t>
            </a:r>
            <a:r>
              <a:rPr lang="vi-VN" b="1" dirty="0" err="1"/>
              <a:t>class</a:t>
            </a:r>
            <a:r>
              <a:rPr lang="vi-VN" dirty="0"/>
              <a:t>.</a:t>
            </a:r>
            <a:endParaRPr lang="en-US" dirty="0"/>
          </a:p>
          <a:p>
            <a:pPr lvl="1"/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đích</a:t>
            </a:r>
            <a:r>
              <a:rPr lang="en-US" dirty="0"/>
              <a:t>: </a:t>
            </a:r>
            <a:r>
              <a:rPr lang="en-US" b="1" dirty="0" err="1"/>
              <a:t>bảo</a:t>
            </a:r>
            <a:r>
              <a:rPr lang="en-US" b="1" dirty="0"/>
              <a:t> </a:t>
            </a:r>
            <a:r>
              <a:rPr lang="en-US" b="1" dirty="0" err="1"/>
              <a:t>vệ</a:t>
            </a:r>
            <a:r>
              <a:rPr lang="en-US" b="1" dirty="0"/>
              <a:t> </a:t>
            </a:r>
            <a:r>
              <a:rPr lang="en-US" b="1" dirty="0" err="1"/>
              <a:t>dữ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r>
              <a:rPr lang="en-US" dirty="0"/>
              <a:t>, </a:t>
            </a:r>
            <a:r>
              <a:rPr lang="en-US" dirty="0" err="1"/>
              <a:t>tránh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ngoài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</a:t>
            </a:r>
          </a:p>
          <a:p>
            <a:pPr marL="914400" lvl="2" indent="0">
              <a:buNone/>
            </a:pPr>
            <a:r>
              <a:rPr lang="en-US" dirty="0"/>
              <a:t>class </a:t>
            </a:r>
            <a:r>
              <a:rPr lang="en-US" dirty="0" err="1"/>
              <a:t>SinhVien</a:t>
            </a:r>
            <a:r>
              <a:rPr lang="en-US" dirty="0"/>
              <a:t> {</a:t>
            </a:r>
          </a:p>
          <a:p>
            <a:pPr marL="914400" lvl="2" indent="0">
              <a:buNone/>
            </a:pPr>
            <a:r>
              <a:rPr lang="en-US" dirty="0"/>
              <a:t>  private </a:t>
            </a:r>
            <a:r>
              <a:rPr lang="en-US" dirty="0" err="1"/>
              <a:t>tuoi</a:t>
            </a:r>
            <a:r>
              <a:rPr lang="en-US" dirty="0"/>
              <a:t>: number = 20;</a:t>
            </a:r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r>
              <a:rPr lang="en-US" dirty="0"/>
              <a:t>  public </a:t>
            </a:r>
            <a:r>
              <a:rPr lang="en-US" dirty="0" err="1"/>
              <a:t>hienThiTuoi</a:t>
            </a:r>
            <a:r>
              <a:rPr lang="en-US" dirty="0"/>
              <a:t>(): void {</a:t>
            </a:r>
          </a:p>
          <a:p>
            <a:pPr marL="914400" lvl="2" indent="0">
              <a:buNone/>
            </a:pPr>
            <a:r>
              <a:rPr lang="en-US" dirty="0"/>
              <a:t>    console.log(</a:t>
            </a:r>
            <a:r>
              <a:rPr lang="en-US" dirty="0" err="1"/>
              <a:t>this.tuoi</a:t>
            </a:r>
            <a:r>
              <a:rPr lang="en-US" dirty="0"/>
              <a:t>); // ✅ OK</a:t>
            </a:r>
          </a:p>
          <a:p>
            <a:pPr marL="914400" lvl="2" indent="0">
              <a:buNone/>
            </a:pPr>
            <a:r>
              <a:rPr lang="en-US" dirty="0"/>
              <a:t>  }</a:t>
            </a:r>
          </a:p>
          <a:p>
            <a:pPr marL="914400" lvl="2" indent="0">
              <a:buNone/>
            </a:pPr>
            <a:r>
              <a:rPr lang="en-US" dirty="0"/>
              <a:t>}</a:t>
            </a:r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r>
              <a:rPr lang="en-US" dirty="0"/>
              <a:t>const </a:t>
            </a:r>
            <a:r>
              <a:rPr lang="en-US" dirty="0" err="1"/>
              <a:t>sv</a:t>
            </a:r>
            <a:r>
              <a:rPr lang="en-US" dirty="0"/>
              <a:t> = new </a:t>
            </a:r>
            <a:r>
              <a:rPr lang="en-US" dirty="0" err="1"/>
              <a:t>SinhVien</a:t>
            </a:r>
            <a:r>
              <a:rPr lang="en-US" dirty="0"/>
              <a:t>();</a:t>
            </a:r>
          </a:p>
          <a:p>
            <a:pPr marL="914400" lvl="2" indent="0">
              <a:buNone/>
            </a:pPr>
            <a:r>
              <a:rPr lang="en-US" dirty="0" err="1"/>
              <a:t>sv.tuoi</a:t>
            </a:r>
            <a:r>
              <a:rPr lang="en-US" dirty="0"/>
              <a:t> = 21; // ❌ </a:t>
            </a:r>
            <a:r>
              <a:rPr lang="en-US" dirty="0" err="1"/>
              <a:t>Lỗi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B2116F-19FF-0CC1-2FEC-43B0F6EF1D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5172C-042B-7734-64C5-A62A0456F6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68A6EDF-E058-4AEB-9649-A3C5F914B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PHẠM VI TRUY CẬP – PRIVATE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5204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3C6A61-BD15-1B53-C70C-9EF0233C6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99498"/>
            <a:ext cx="12192000" cy="545941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</a:t>
            </a:r>
            <a:r>
              <a:rPr lang="vi-VN" b="1" dirty="0" err="1">
                <a:solidFill>
                  <a:srgbClr val="FF0000"/>
                </a:solidFill>
              </a:rPr>
              <a:t>rotected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dirty="0"/>
              <a:t>:</a:t>
            </a:r>
          </a:p>
          <a:p>
            <a:pPr lvl="1"/>
            <a:r>
              <a:rPr lang="en-US" sz="2800" b="1" dirty="0"/>
              <a:t>C</a:t>
            </a:r>
            <a:r>
              <a:rPr lang="vi-VN" sz="2800" b="1" dirty="0"/>
              <a:t>hỉ được truy cập bên trong </a:t>
            </a:r>
            <a:r>
              <a:rPr lang="vi-VN" sz="2800" b="1" dirty="0" err="1"/>
              <a:t>class</a:t>
            </a:r>
            <a:r>
              <a:rPr lang="vi-VN" sz="2800" b="1" dirty="0"/>
              <a:t> và các </a:t>
            </a:r>
            <a:r>
              <a:rPr lang="vi-VN" sz="2800" b="1" dirty="0" err="1"/>
              <a:t>class</a:t>
            </a:r>
            <a:r>
              <a:rPr lang="vi-VN" sz="2800" b="1" dirty="0"/>
              <a:t> kế thừa (</a:t>
            </a:r>
            <a:r>
              <a:rPr lang="vi-VN" sz="2800" b="1" dirty="0" err="1"/>
              <a:t>subclass</a:t>
            </a:r>
            <a:r>
              <a:rPr lang="vi-VN" sz="2800" b="1" dirty="0"/>
              <a:t>)</a:t>
            </a:r>
            <a:r>
              <a:rPr lang="vi-VN" sz="2800" dirty="0"/>
              <a:t>.</a:t>
            </a:r>
            <a:endParaRPr lang="en-US" sz="2800" dirty="0"/>
          </a:p>
          <a:p>
            <a:pPr lvl="1"/>
            <a:r>
              <a:rPr lang="vi-VN" sz="2800" dirty="0"/>
              <a:t>Mục đích: </a:t>
            </a:r>
            <a:r>
              <a:rPr lang="vi-VN" sz="2800" b="1" dirty="0"/>
              <a:t>chia sẻ dữ liệu cho </a:t>
            </a:r>
            <a:r>
              <a:rPr lang="vi-VN" sz="2800" b="1" dirty="0" err="1"/>
              <a:t>class</a:t>
            </a:r>
            <a:r>
              <a:rPr lang="vi-VN" sz="2800" b="1" dirty="0"/>
              <a:t> con nhưng vẫn ẩn với bên ngoài</a:t>
            </a:r>
            <a:r>
              <a:rPr lang="vi-VN" sz="2800" dirty="0"/>
              <a:t>.</a:t>
            </a:r>
            <a:endParaRPr lang="en-US" sz="2800" dirty="0"/>
          </a:p>
          <a:p>
            <a:pPr lvl="1"/>
            <a:r>
              <a:rPr lang="en-US" sz="2800" dirty="0" err="1"/>
              <a:t>Ví</a:t>
            </a:r>
            <a:r>
              <a:rPr lang="en-US" sz="2800" dirty="0"/>
              <a:t> </a:t>
            </a:r>
            <a:r>
              <a:rPr lang="en-US" sz="2800" dirty="0" err="1"/>
              <a:t>dụ</a:t>
            </a:r>
            <a:r>
              <a:rPr lang="en-US" sz="2800" dirty="0"/>
              <a:t>: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F15A95-D277-7FD2-95B9-E63775FCDC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075FE-CD93-4B2A-C8D4-CF70C7853E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A1FE1C3-798C-6E85-6612-7B7C13DEA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PHẠM VI TRUY CẬP – PROTECTED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5B67A4-015E-2DE3-4D3C-8E717BCE5173}"/>
              </a:ext>
            </a:extLst>
          </p:cNvPr>
          <p:cNvSpPr txBox="1"/>
          <p:nvPr/>
        </p:nvSpPr>
        <p:spPr>
          <a:xfrm>
            <a:off x="758283" y="2617996"/>
            <a:ext cx="8350881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SinhVien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protected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string = "SV001";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SinhVienIT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SinhVien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public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hienThiMaSo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 void {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console.log(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this.maSo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// ✅ OK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SinhVienIT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sv.maSo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// ❌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166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D88C8E-EC4B-1F90-5966-402B4C4D7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362" y="799498"/>
            <a:ext cx="12091638" cy="5459412"/>
          </a:xfrm>
        </p:spPr>
        <p:txBody>
          <a:bodyPr>
            <a:normAutofit fontScale="62500" lnSpcReduction="20000"/>
          </a:bodyPr>
          <a:lstStyle/>
          <a:p>
            <a:r>
              <a:rPr lang="en-US" sz="4000" b="1" dirty="0" err="1">
                <a:solidFill>
                  <a:srgbClr val="FF0000"/>
                </a:solidFill>
              </a:rPr>
              <a:t>Gọi</a:t>
            </a:r>
            <a:r>
              <a:rPr lang="en-US" sz="4000" b="1" dirty="0">
                <a:solidFill>
                  <a:srgbClr val="FF0000"/>
                </a:solidFill>
              </a:rPr>
              <a:t> </a:t>
            </a:r>
            <a:r>
              <a:rPr lang="en-US" sz="4000" b="1" dirty="0" err="1">
                <a:solidFill>
                  <a:srgbClr val="FF0000"/>
                </a:solidFill>
              </a:rPr>
              <a:t>phương</a:t>
            </a:r>
            <a:r>
              <a:rPr lang="en-US" sz="4000" b="1" dirty="0">
                <a:solidFill>
                  <a:srgbClr val="FF0000"/>
                </a:solidFill>
              </a:rPr>
              <a:t> </a:t>
            </a:r>
            <a:r>
              <a:rPr lang="en-US" sz="4000" b="1" dirty="0" err="1">
                <a:solidFill>
                  <a:srgbClr val="FF0000"/>
                </a:solidFill>
              </a:rPr>
              <a:t>thức</a:t>
            </a:r>
            <a:r>
              <a:rPr lang="en-US" sz="4000" b="1" dirty="0">
                <a:solidFill>
                  <a:srgbClr val="FF0000"/>
                </a:solidFill>
              </a:rPr>
              <a:t> </a:t>
            </a:r>
            <a:r>
              <a:rPr lang="en-US" sz="4000" b="1" dirty="0" err="1">
                <a:solidFill>
                  <a:srgbClr val="FF0000"/>
                </a:solidFill>
              </a:rPr>
              <a:t>từ</a:t>
            </a:r>
            <a:r>
              <a:rPr lang="en-US" sz="4000" b="1" dirty="0">
                <a:solidFill>
                  <a:srgbClr val="FF0000"/>
                </a:solidFill>
              </a:rPr>
              <a:t> </a:t>
            </a:r>
            <a:r>
              <a:rPr lang="en-US" sz="4000" b="1" dirty="0" err="1">
                <a:solidFill>
                  <a:srgbClr val="FF0000"/>
                </a:solidFill>
              </a:rPr>
              <a:t>đối</a:t>
            </a:r>
            <a:r>
              <a:rPr lang="en-US" sz="4000" b="1" dirty="0">
                <a:solidFill>
                  <a:srgbClr val="FF0000"/>
                </a:solidFill>
              </a:rPr>
              <a:t> </a:t>
            </a:r>
            <a:r>
              <a:rPr lang="en-US" sz="4000" b="1" dirty="0" err="1">
                <a:solidFill>
                  <a:srgbClr val="FF0000"/>
                </a:solidFill>
              </a:rPr>
              <a:t>tượng</a:t>
            </a:r>
            <a:r>
              <a:rPr lang="en-US" sz="4000" dirty="0"/>
              <a:t> :</a:t>
            </a:r>
            <a:r>
              <a:rPr lang="en-US" sz="4000" b="1" dirty="0"/>
              <a:t> </a:t>
            </a:r>
            <a:r>
              <a:rPr lang="vi-VN" sz="4000" b="1" dirty="0"/>
              <a:t>Là sử dụng đối tượng để gọi phương thức của </a:t>
            </a:r>
            <a:r>
              <a:rPr lang="vi-VN" sz="4000" b="1" dirty="0" err="1"/>
              <a:t>class</a:t>
            </a:r>
            <a:endParaRPr lang="en-US" sz="4000" b="1" dirty="0"/>
          </a:p>
          <a:p>
            <a:r>
              <a:rPr lang="en-US" sz="2900" b="1" dirty="0" err="1"/>
              <a:t>Ví</a:t>
            </a:r>
            <a:r>
              <a:rPr lang="en-US" sz="2900" b="1" dirty="0"/>
              <a:t> </a:t>
            </a:r>
            <a:r>
              <a:rPr lang="en-US" sz="2900" b="1" dirty="0" err="1"/>
              <a:t>dụ</a:t>
            </a:r>
            <a:r>
              <a:rPr lang="en-US" sz="2900" b="1" dirty="0"/>
              <a:t>:</a:t>
            </a:r>
          </a:p>
          <a:p>
            <a:pPr marL="457200" lvl="1" indent="0">
              <a:buNone/>
            </a:pPr>
            <a:r>
              <a:rPr lang="vi-VN" sz="2900" dirty="0" err="1"/>
              <a:t>class</a:t>
            </a:r>
            <a:r>
              <a:rPr lang="vi-VN" sz="2900" dirty="0"/>
              <a:t> </a:t>
            </a:r>
            <a:r>
              <a:rPr lang="vi-VN" sz="2900" dirty="0" err="1"/>
              <a:t>DenDien</a:t>
            </a:r>
            <a:r>
              <a:rPr lang="vi-VN" sz="2900" dirty="0"/>
              <a:t> {</a:t>
            </a:r>
          </a:p>
          <a:p>
            <a:pPr marL="457200" lvl="1" indent="0">
              <a:buNone/>
            </a:pPr>
            <a:r>
              <a:rPr lang="vi-VN" sz="2900" dirty="0"/>
              <a:t>  </a:t>
            </a:r>
            <a:r>
              <a:rPr lang="vi-VN" sz="2900" dirty="0" err="1"/>
              <a:t>public</a:t>
            </a:r>
            <a:r>
              <a:rPr lang="vi-VN" sz="2900" dirty="0"/>
              <a:t> </a:t>
            </a:r>
            <a:r>
              <a:rPr lang="vi-VN" sz="2900" dirty="0" err="1"/>
              <a:t>trangThai</a:t>
            </a:r>
            <a:r>
              <a:rPr lang="vi-VN" sz="2900" dirty="0"/>
              <a:t>: </a:t>
            </a:r>
            <a:r>
              <a:rPr lang="vi-VN" sz="2900" dirty="0" err="1"/>
              <a:t>string</a:t>
            </a:r>
            <a:r>
              <a:rPr lang="vi-VN" sz="2900" dirty="0"/>
              <a:t>; </a:t>
            </a:r>
          </a:p>
          <a:p>
            <a:pPr marL="457200" lvl="1" indent="0">
              <a:buNone/>
            </a:pPr>
            <a:endParaRPr lang="vi-VN" sz="2900" dirty="0"/>
          </a:p>
          <a:p>
            <a:pPr marL="457200" lvl="1" indent="0">
              <a:buNone/>
            </a:pPr>
            <a:r>
              <a:rPr lang="vi-VN" sz="2900" dirty="0" err="1"/>
              <a:t>public</a:t>
            </a:r>
            <a:r>
              <a:rPr lang="vi-VN" sz="2900" dirty="0"/>
              <a:t> </a:t>
            </a:r>
            <a:r>
              <a:rPr lang="vi-VN" sz="2900" dirty="0" err="1"/>
              <a:t>bat</a:t>
            </a:r>
            <a:r>
              <a:rPr lang="vi-VN" sz="2900" dirty="0"/>
              <a:t>(): </a:t>
            </a:r>
            <a:r>
              <a:rPr lang="vi-VN" sz="2900" dirty="0" err="1"/>
              <a:t>void</a:t>
            </a:r>
            <a:r>
              <a:rPr lang="vi-VN" sz="2900" dirty="0"/>
              <a:t> {</a:t>
            </a:r>
          </a:p>
          <a:p>
            <a:pPr marL="457200" lvl="1" indent="0">
              <a:buNone/>
            </a:pPr>
            <a:r>
              <a:rPr lang="vi-VN" sz="2900" dirty="0"/>
              <a:t>    </a:t>
            </a:r>
            <a:r>
              <a:rPr lang="vi-VN" sz="2900" dirty="0" err="1"/>
              <a:t>this.trangThai</a:t>
            </a:r>
            <a:r>
              <a:rPr lang="vi-VN" sz="2900" dirty="0"/>
              <a:t> = "Bật";</a:t>
            </a:r>
          </a:p>
          <a:p>
            <a:pPr marL="457200" lvl="1" indent="0">
              <a:buNone/>
            </a:pPr>
            <a:r>
              <a:rPr lang="vi-VN" sz="2900" dirty="0"/>
              <a:t>    console.log("Đèn đã được bật");</a:t>
            </a:r>
          </a:p>
          <a:p>
            <a:pPr marL="457200" lvl="1" indent="0">
              <a:buNone/>
            </a:pPr>
            <a:r>
              <a:rPr lang="vi-VN" sz="2900" dirty="0"/>
              <a:t>  }</a:t>
            </a:r>
          </a:p>
          <a:p>
            <a:pPr marL="457200" lvl="1" indent="0">
              <a:buNone/>
            </a:pPr>
            <a:endParaRPr lang="vi-VN" sz="2900" dirty="0"/>
          </a:p>
          <a:p>
            <a:pPr marL="457200" lvl="1" indent="0">
              <a:buNone/>
            </a:pPr>
            <a:r>
              <a:rPr lang="vi-VN" sz="2900" dirty="0"/>
              <a:t>  </a:t>
            </a:r>
            <a:r>
              <a:rPr lang="vi-VN" sz="2900" dirty="0" err="1"/>
              <a:t>public</a:t>
            </a:r>
            <a:r>
              <a:rPr lang="vi-VN" sz="2900" dirty="0"/>
              <a:t> </a:t>
            </a:r>
            <a:r>
              <a:rPr lang="vi-VN" sz="2900" dirty="0" err="1"/>
              <a:t>tat</a:t>
            </a:r>
            <a:r>
              <a:rPr lang="vi-VN" sz="2900" dirty="0"/>
              <a:t>(): </a:t>
            </a:r>
            <a:r>
              <a:rPr lang="vi-VN" sz="2900" dirty="0" err="1"/>
              <a:t>void</a:t>
            </a:r>
            <a:r>
              <a:rPr lang="vi-VN" sz="2900" dirty="0"/>
              <a:t> {</a:t>
            </a:r>
          </a:p>
          <a:p>
            <a:pPr marL="457200" lvl="1" indent="0">
              <a:buNone/>
            </a:pPr>
            <a:r>
              <a:rPr lang="vi-VN" sz="2900" dirty="0"/>
              <a:t>    </a:t>
            </a:r>
            <a:r>
              <a:rPr lang="vi-VN" sz="2900" dirty="0" err="1"/>
              <a:t>this.trangThai</a:t>
            </a:r>
            <a:r>
              <a:rPr lang="vi-VN" sz="2900" dirty="0"/>
              <a:t> = "Tắt";</a:t>
            </a:r>
          </a:p>
          <a:p>
            <a:pPr marL="457200" lvl="1" indent="0">
              <a:buNone/>
            </a:pPr>
            <a:r>
              <a:rPr lang="vi-VN" sz="2900" dirty="0"/>
              <a:t>    console.log("Đèn đã được tắt");</a:t>
            </a:r>
          </a:p>
          <a:p>
            <a:pPr marL="457200" lvl="1" indent="0">
              <a:buNone/>
            </a:pPr>
            <a:r>
              <a:rPr lang="vi-VN" sz="2900" dirty="0"/>
              <a:t>  }</a:t>
            </a:r>
          </a:p>
          <a:p>
            <a:pPr marL="457200" lvl="1" indent="0">
              <a:buNone/>
            </a:pPr>
            <a:r>
              <a:rPr lang="vi-VN" sz="2900" dirty="0"/>
              <a:t>}</a:t>
            </a:r>
            <a:endParaRPr lang="en-US" sz="2900" dirty="0"/>
          </a:p>
          <a:p>
            <a:pPr marL="457200" lvl="1" indent="0">
              <a:buNone/>
            </a:pPr>
            <a:r>
              <a:rPr lang="vi-VN" sz="2900" dirty="0" err="1"/>
              <a:t>const</a:t>
            </a:r>
            <a:r>
              <a:rPr lang="vi-VN" sz="2900" dirty="0"/>
              <a:t> </a:t>
            </a:r>
            <a:r>
              <a:rPr lang="vi-VN" sz="2900" dirty="0" err="1"/>
              <a:t>den</a:t>
            </a:r>
            <a:r>
              <a:rPr lang="vi-VN" sz="2900" dirty="0"/>
              <a:t> = </a:t>
            </a:r>
            <a:r>
              <a:rPr lang="vi-VN" sz="2900" dirty="0" err="1"/>
              <a:t>new</a:t>
            </a:r>
            <a:r>
              <a:rPr lang="vi-VN" sz="2900" dirty="0"/>
              <a:t> </a:t>
            </a:r>
            <a:r>
              <a:rPr lang="vi-VN" sz="2900" dirty="0" err="1"/>
              <a:t>DenDien</a:t>
            </a:r>
            <a:r>
              <a:rPr lang="vi-VN" sz="2900" dirty="0"/>
              <a:t>(); // tạo đối tượng</a:t>
            </a:r>
          </a:p>
          <a:p>
            <a:pPr marL="457200" lvl="1" indent="0">
              <a:buNone/>
            </a:pPr>
            <a:endParaRPr lang="vi-VN" sz="2900" dirty="0"/>
          </a:p>
          <a:p>
            <a:pPr marL="457200" lvl="1" indent="0">
              <a:buNone/>
            </a:pPr>
            <a:r>
              <a:rPr lang="vi-VN" sz="2900" dirty="0"/>
              <a:t>// Gọi phương thức từ đối tượng</a:t>
            </a:r>
          </a:p>
          <a:p>
            <a:pPr marL="457200" lvl="1" indent="0">
              <a:buNone/>
            </a:pPr>
            <a:r>
              <a:rPr lang="vi-VN" sz="2900" dirty="0"/>
              <a:t>den.bat();</a:t>
            </a:r>
          </a:p>
          <a:p>
            <a:pPr marL="457200" lvl="1" indent="0">
              <a:buNone/>
            </a:pPr>
            <a:r>
              <a:rPr lang="vi-VN" sz="2900" dirty="0" err="1"/>
              <a:t>den.tat</a:t>
            </a:r>
            <a:r>
              <a:rPr lang="vi-VN" sz="2900" dirty="0"/>
              <a:t>();</a:t>
            </a:r>
          </a:p>
          <a:p>
            <a:pPr marL="457200" lvl="1" indent="0">
              <a:buNone/>
            </a:pPr>
            <a:endParaRPr lang="vi-VN" dirty="0"/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688AB5-E182-6662-F519-44B7283B9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4063A-5D24-D508-966C-E79F42484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16CA69F-3E0E-702E-F63D-394BADCA7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GỌI PHƯƠNG THỨC TỪ ĐỐI TƯỢNG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839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B46CD2-EE82-5D48-E924-60ED5C80C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80946"/>
            <a:ext cx="12192000" cy="5377964"/>
          </a:xfrm>
        </p:spPr>
        <p:txBody>
          <a:bodyPr>
            <a:normAutofit fontScale="92500" lnSpcReduction="20000"/>
          </a:bodyPr>
          <a:lstStyle/>
          <a:p>
            <a:r>
              <a:rPr lang="en-US" sz="3000" b="1" dirty="0" err="1">
                <a:solidFill>
                  <a:srgbClr val="FF0000"/>
                </a:solidFill>
              </a:rPr>
              <a:t>Truy</a:t>
            </a:r>
            <a:r>
              <a:rPr lang="en-US" sz="3000" b="1" dirty="0">
                <a:solidFill>
                  <a:srgbClr val="FF0000"/>
                </a:solidFill>
              </a:rPr>
              <a:t> </a:t>
            </a:r>
            <a:r>
              <a:rPr lang="en-US" sz="3000" b="1" dirty="0" err="1">
                <a:solidFill>
                  <a:srgbClr val="FF0000"/>
                </a:solidFill>
              </a:rPr>
              <a:t>cập</a:t>
            </a:r>
            <a:r>
              <a:rPr lang="en-US" sz="3000" b="1" dirty="0">
                <a:solidFill>
                  <a:srgbClr val="FF0000"/>
                </a:solidFill>
              </a:rPr>
              <a:t> </a:t>
            </a:r>
            <a:r>
              <a:rPr lang="en-US" sz="3000" b="1" dirty="0" err="1">
                <a:solidFill>
                  <a:srgbClr val="FF0000"/>
                </a:solidFill>
              </a:rPr>
              <a:t>thuộc</a:t>
            </a:r>
            <a:r>
              <a:rPr lang="en-US" sz="3000" b="1" dirty="0">
                <a:solidFill>
                  <a:srgbClr val="FF0000"/>
                </a:solidFill>
              </a:rPr>
              <a:t> </a:t>
            </a:r>
            <a:r>
              <a:rPr lang="en-US" sz="3000" b="1" dirty="0" err="1">
                <a:solidFill>
                  <a:srgbClr val="FF0000"/>
                </a:solidFill>
              </a:rPr>
              <a:t>tính</a:t>
            </a:r>
            <a:r>
              <a:rPr lang="en-US" sz="3000" b="1" dirty="0">
                <a:solidFill>
                  <a:srgbClr val="FF0000"/>
                </a:solidFill>
              </a:rPr>
              <a:t> </a:t>
            </a:r>
            <a:r>
              <a:rPr lang="en-US" sz="3000" b="1" dirty="0" err="1">
                <a:solidFill>
                  <a:srgbClr val="FF0000"/>
                </a:solidFill>
              </a:rPr>
              <a:t>từ</a:t>
            </a:r>
            <a:r>
              <a:rPr lang="en-US" sz="3000" b="1" dirty="0">
                <a:solidFill>
                  <a:srgbClr val="FF0000"/>
                </a:solidFill>
              </a:rPr>
              <a:t> </a:t>
            </a:r>
            <a:r>
              <a:rPr lang="en-US" sz="3000" b="1" dirty="0" err="1">
                <a:solidFill>
                  <a:srgbClr val="FF0000"/>
                </a:solidFill>
              </a:rPr>
              <a:t>đối</a:t>
            </a:r>
            <a:r>
              <a:rPr lang="en-US" sz="3000" b="1" dirty="0">
                <a:solidFill>
                  <a:srgbClr val="FF0000"/>
                </a:solidFill>
              </a:rPr>
              <a:t> </a:t>
            </a:r>
            <a:r>
              <a:rPr lang="en-US" sz="3000" b="1" dirty="0" err="1">
                <a:solidFill>
                  <a:srgbClr val="FF0000"/>
                </a:solidFill>
              </a:rPr>
              <a:t>tượng</a:t>
            </a:r>
            <a:r>
              <a:rPr lang="en-US" sz="3000" dirty="0"/>
              <a:t>:</a:t>
            </a:r>
            <a:r>
              <a:rPr lang="vi-VN" sz="3000" dirty="0"/>
              <a:t> Là lấy hoặc gán giá trị cho thuộc tính (</a:t>
            </a:r>
            <a:r>
              <a:rPr lang="vi-VN" sz="3000" dirty="0" err="1"/>
              <a:t>property</a:t>
            </a:r>
            <a:r>
              <a:rPr lang="vi-VN" sz="3000" dirty="0"/>
              <a:t>) của một đối tượng được tạo từ </a:t>
            </a:r>
            <a:r>
              <a:rPr lang="vi-VN" sz="3000" dirty="0" err="1"/>
              <a:t>class</a:t>
            </a:r>
            <a:r>
              <a:rPr lang="vi-VN" sz="3000" dirty="0"/>
              <a:t>.</a:t>
            </a:r>
            <a:endParaRPr lang="en-US" sz="3000" dirty="0"/>
          </a:p>
          <a:p>
            <a:r>
              <a:rPr lang="en-US" b="1" dirty="0" err="1">
                <a:solidFill>
                  <a:srgbClr val="FF0000"/>
                </a:solidFill>
              </a:rPr>
              <a:t>Ví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dụ</a:t>
            </a:r>
            <a:r>
              <a:rPr lang="en-US" b="1" dirty="0">
                <a:solidFill>
                  <a:srgbClr val="FF0000"/>
                </a:solidFill>
              </a:rPr>
              <a:t>:</a:t>
            </a:r>
          </a:p>
          <a:p>
            <a:pPr marL="457200" lvl="1" indent="0">
              <a:buNone/>
            </a:pPr>
            <a:r>
              <a:rPr lang="en-US" sz="2600" dirty="0"/>
              <a:t>class </a:t>
            </a:r>
            <a:r>
              <a:rPr lang="en-US" sz="2600" dirty="0" err="1"/>
              <a:t>XeMay</a:t>
            </a:r>
            <a:r>
              <a:rPr lang="en-US" sz="2600" dirty="0"/>
              <a:t> {</a:t>
            </a:r>
          </a:p>
          <a:p>
            <a:pPr marL="457200" lvl="1" indent="0">
              <a:buNone/>
            </a:pPr>
            <a:r>
              <a:rPr lang="en-US" sz="2600" dirty="0"/>
              <a:t>  public </a:t>
            </a:r>
            <a:r>
              <a:rPr lang="en-US" sz="2600" dirty="0" err="1"/>
              <a:t>hangXe</a:t>
            </a:r>
            <a:r>
              <a:rPr lang="en-US" sz="2600" dirty="0"/>
              <a:t>: string;</a:t>
            </a:r>
          </a:p>
          <a:p>
            <a:pPr marL="457200" lvl="1" indent="0">
              <a:buNone/>
            </a:pPr>
            <a:r>
              <a:rPr lang="en-US" sz="2600" dirty="0"/>
              <a:t>  public </a:t>
            </a:r>
            <a:r>
              <a:rPr lang="en-US" sz="2600" dirty="0" err="1"/>
              <a:t>mauSac</a:t>
            </a:r>
            <a:r>
              <a:rPr lang="en-US" sz="2600" dirty="0"/>
              <a:t>: string;</a:t>
            </a:r>
          </a:p>
          <a:p>
            <a:pPr marL="457200" lvl="1" indent="0">
              <a:buNone/>
            </a:pPr>
            <a:r>
              <a:rPr lang="en-US" sz="2600" dirty="0"/>
              <a:t>}</a:t>
            </a:r>
          </a:p>
          <a:p>
            <a:pPr marL="457200" lvl="1" indent="0">
              <a:buNone/>
            </a:pPr>
            <a:r>
              <a:rPr lang="vi-VN" sz="2600" dirty="0" err="1"/>
              <a:t>const</a:t>
            </a:r>
            <a:r>
              <a:rPr lang="vi-VN" sz="2600" dirty="0"/>
              <a:t> xe = </a:t>
            </a:r>
            <a:r>
              <a:rPr lang="vi-VN" sz="2600" dirty="0" err="1"/>
              <a:t>new</a:t>
            </a:r>
            <a:r>
              <a:rPr lang="vi-VN" sz="2600" dirty="0"/>
              <a:t> </a:t>
            </a:r>
            <a:r>
              <a:rPr lang="vi-VN" sz="2600" dirty="0" err="1"/>
              <a:t>XeMay</a:t>
            </a:r>
            <a:r>
              <a:rPr lang="vi-VN" sz="2600" dirty="0"/>
              <a:t>();   // tạo đối tượng</a:t>
            </a:r>
          </a:p>
          <a:p>
            <a:pPr marL="457200" lvl="1" indent="0">
              <a:buNone/>
            </a:pPr>
            <a:endParaRPr lang="vi-VN" sz="2600" dirty="0"/>
          </a:p>
          <a:p>
            <a:pPr marL="457200" lvl="1" indent="0">
              <a:buNone/>
            </a:pPr>
            <a:r>
              <a:rPr lang="vi-VN" sz="2600" dirty="0"/>
              <a:t>// Truy cập (gán) thuộc tính từ đối tượng</a:t>
            </a:r>
          </a:p>
          <a:p>
            <a:pPr marL="457200" lvl="1" indent="0">
              <a:buNone/>
            </a:pPr>
            <a:r>
              <a:rPr lang="vi-VN" sz="2600" dirty="0" err="1"/>
              <a:t>xe.hangXe</a:t>
            </a:r>
            <a:r>
              <a:rPr lang="vi-VN" sz="2600" dirty="0"/>
              <a:t> = "</a:t>
            </a:r>
            <a:r>
              <a:rPr lang="vi-VN" sz="2600" dirty="0" err="1"/>
              <a:t>Honda</a:t>
            </a:r>
            <a:r>
              <a:rPr lang="vi-VN" sz="2600" dirty="0"/>
              <a:t>";</a:t>
            </a:r>
          </a:p>
          <a:p>
            <a:pPr marL="457200" lvl="1" indent="0">
              <a:buNone/>
            </a:pPr>
            <a:r>
              <a:rPr lang="vi-VN" sz="2600" dirty="0" err="1"/>
              <a:t>xe.mauSac</a:t>
            </a:r>
            <a:r>
              <a:rPr lang="vi-VN" sz="2600" dirty="0"/>
              <a:t> = "Đỏ";</a:t>
            </a:r>
          </a:p>
          <a:p>
            <a:pPr marL="457200" lvl="1" indent="0">
              <a:buNone/>
            </a:pPr>
            <a:endParaRPr lang="vi-VN" sz="2600" dirty="0"/>
          </a:p>
          <a:p>
            <a:pPr marL="457200" lvl="1" indent="0">
              <a:buNone/>
            </a:pPr>
            <a:r>
              <a:rPr lang="vi-VN" sz="2600" dirty="0"/>
              <a:t>// Truy cập (đọc) thuộc tính từ đối tượng</a:t>
            </a:r>
          </a:p>
          <a:p>
            <a:pPr marL="457200" lvl="1" indent="0">
              <a:buNone/>
            </a:pPr>
            <a:r>
              <a:rPr lang="vi-VN" sz="2600" dirty="0"/>
              <a:t>console.log("Hãng xe:", </a:t>
            </a:r>
            <a:r>
              <a:rPr lang="vi-VN" sz="2600" dirty="0" err="1"/>
              <a:t>xe.hangXe</a:t>
            </a:r>
            <a:r>
              <a:rPr lang="vi-VN" sz="2600" dirty="0"/>
              <a:t>);</a:t>
            </a:r>
          </a:p>
          <a:p>
            <a:pPr marL="457200" lvl="1" indent="0">
              <a:buNone/>
            </a:pPr>
            <a:r>
              <a:rPr lang="vi-VN" sz="2600" dirty="0"/>
              <a:t>console.log("Màu sắc:", </a:t>
            </a:r>
            <a:r>
              <a:rPr lang="vi-VN" sz="2600" dirty="0" err="1"/>
              <a:t>xe.mauSac</a:t>
            </a:r>
            <a:r>
              <a:rPr lang="vi-VN" sz="2600" dirty="0"/>
              <a:t>);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5120F0-E06B-FA52-9005-0A36E2319D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529A8-1FB0-CF9C-7C0E-C735CA8A1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D9C191D-6165-E54F-4874-E4F87B24A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TRUY CẬP THUỘC TÍNH TỪ ĐỐI TƯỢNG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C5FAA7-F42F-B586-56BE-D568167E48BA}"/>
              </a:ext>
            </a:extLst>
          </p:cNvPr>
          <p:cNvSpPr txBox="1"/>
          <p:nvPr/>
        </p:nvSpPr>
        <p:spPr>
          <a:xfrm>
            <a:off x="6512943" y="3062377"/>
            <a:ext cx="3769744" cy="1388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821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8FC723-BCF4-AAF2-0B29-AD72F9EE5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816" y="1024758"/>
            <a:ext cx="11954106" cy="52341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vi-VN" b="1" dirty="0"/>
              <a:t>Bài 1: </a:t>
            </a:r>
            <a:endParaRPr lang="en-US" b="1" dirty="0"/>
          </a:p>
          <a:p>
            <a:r>
              <a:rPr lang="en-US" dirty="0" err="1"/>
              <a:t>Tạo</a:t>
            </a:r>
            <a:r>
              <a:rPr lang="en-US" dirty="0"/>
              <a:t> </a:t>
            </a:r>
            <a:r>
              <a:rPr lang="vi-VN" dirty="0" err="1"/>
              <a:t>class</a:t>
            </a:r>
            <a:r>
              <a:rPr lang="vi-VN" dirty="0"/>
              <a:t> </a:t>
            </a:r>
            <a:r>
              <a:rPr lang="vi-VN" dirty="0" err="1">
                <a:solidFill>
                  <a:srgbClr val="FF0000"/>
                </a:solidFill>
              </a:rPr>
              <a:t>SinhVien</a:t>
            </a:r>
            <a:r>
              <a:rPr lang="vi-VN" dirty="0"/>
              <a:t> được khai báo là </a:t>
            </a:r>
            <a:r>
              <a:rPr lang="vi-VN" b="1" dirty="0" err="1">
                <a:solidFill>
                  <a:srgbClr val="FF0000"/>
                </a:solidFill>
              </a:rPr>
              <a:t>public</a:t>
            </a:r>
            <a:r>
              <a:rPr lang="vi-VN" dirty="0"/>
              <a:t>. Chương trình cho phép truy cập và thay đổi trực tiếp các thuộc tính này từ bên ngoài </a:t>
            </a:r>
            <a:r>
              <a:rPr lang="vi-VN" dirty="0" err="1"/>
              <a:t>class</a:t>
            </a:r>
            <a:r>
              <a:rPr lang="vi-VN" dirty="0"/>
              <a:t>.</a:t>
            </a:r>
            <a:br>
              <a:rPr lang="en-US" dirty="0"/>
            </a:br>
            <a:r>
              <a:rPr lang="en-US" dirty="0"/>
              <a:t>Class </a:t>
            </a:r>
            <a:r>
              <a:rPr lang="en-US" dirty="0" err="1"/>
              <a:t>SinhVien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4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: </a:t>
            </a:r>
            <a:r>
              <a:rPr lang="en-US" dirty="0" err="1"/>
              <a:t>hoTen</a:t>
            </a:r>
            <a:r>
              <a:rPr lang="en-US" dirty="0"/>
              <a:t>: </a:t>
            </a:r>
            <a:r>
              <a:rPr lang="en-US" dirty="0" err="1"/>
              <a:t>tuoi</a:t>
            </a:r>
            <a:r>
              <a:rPr lang="en-US" dirty="0"/>
              <a:t>: </a:t>
            </a:r>
            <a:r>
              <a:rPr lang="en-US" dirty="0" err="1"/>
              <a:t>diemTrungBinhvà</a:t>
            </a:r>
            <a:r>
              <a:rPr lang="en-US" dirty="0"/>
              <a:t> </a:t>
            </a:r>
            <a:r>
              <a:rPr lang="en-US" dirty="0" err="1"/>
              <a:t>tinhTrang</a:t>
            </a:r>
            <a:r>
              <a:rPr lang="en-US" dirty="0"/>
              <a:t> (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hay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…..)</a:t>
            </a:r>
          </a:p>
          <a:p>
            <a:r>
              <a:rPr lang="en-US" dirty="0" err="1"/>
              <a:t>Viết</a:t>
            </a:r>
            <a:r>
              <a:rPr lang="en-US" dirty="0"/>
              <a:t> 2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: hoc()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tình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xeploai</a:t>
            </a:r>
            <a:r>
              <a:rPr lang="en-US" dirty="0"/>
              <a:t>()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: </a:t>
            </a:r>
          </a:p>
          <a:p>
            <a:pPr lvl="1"/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diemTrungBinh</a:t>
            </a:r>
            <a:r>
              <a:rPr lang="en-US" dirty="0"/>
              <a:t> &gt;= 8 : </a:t>
            </a:r>
            <a:r>
              <a:rPr lang="en-US" dirty="0" err="1"/>
              <a:t>Giỏi</a:t>
            </a:r>
            <a:endParaRPr lang="en-US" dirty="0"/>
          </a:p>
          <a:p>
            <a:pPr lvl="1"/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diemTrungBinh</a:t>
            </a:r>
            <a:r>
              <a:rPr lang="en-US" dirty="0"/>
              <a:t> &gt;= 6,5 </a:t>
            </a:r>
            <a:r>
              <a:rPr lang="en-US" dirty="0" err="1"/>
              <a:t>Khá</a:t>
            </a:r>
            <a:endParaRPr lang="en-US" dirty="0"/>
          </a:p>
          <a:p>
            <a:pPr lvl="1"/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diemTrungBinh</a:t>
            </a:r>
            <a:r>
              <a:rPr lang="en-US" dirty="0"/>
              <a:t> &gt;= 5 Trung </a:t>
            </a:r>
            <a:r>
              <a:rPr lang="en-US" dirty="0" err="1"/>
              <a:t>bình</a:t>
            </a:r>
            <a:endParaRPr lang="en-US" dirty="0"/>
          </a:p>
          <a:p>
            <a:pPr lvl="1"/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diemTrungBinh</a:t>
            </a:r>
            <a:r>
              <a:rPr lang="en-US" dirty="0"/>
              <a:t> &lt; 5 </a:t>
            </a:r>
            <a:r>
              <a:rPr lang="en-US" dirty="0" err="1"/>
              <a:t>Yếu</a:t>
            </a:r>
            <a:endParaRPr lang="en-US" dirty="0"/>
          </a:p>
          <a:p>
            <a:r>
              <a:rPr lang="en-US" dirty="0"/>
              <a:t> In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đó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C217AB-617A-51BC-FAE2-ACCC542896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FB1C7-C26E-CF86-CE8E-02300C841A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CF4C3A4-B78A-D535-C39F-00F64022E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 THỰC HÀNH SỐ 1</a:t>
            </a:r>
          </a:p>
        </p:txBody>
      </p:sp>
    </p:spTree>
    <p:extLst>
      <p:ext uri="{BB962C8B-B14F-4D97-AF65-F5344CB8AC3E}">
        <p14:creationId xmlns:p14="http://schemas.microsoft.com/office/powerpoint/2010/main" val="37669471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2A3B4-7DD7-2BDF-D891-F2415E617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1CAFDBE-CC65-9652-BCEA-BD86D2E39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59" y="914400"/>
            <a:ext cx="11714547" cy="534451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4000" dirty="0"/>
              <a:t>class </a:t>
            </a:r>
            <a:r>
              <a:rPr lang="en-US" sz="4000" dirty="0" err="1"/>
              <a:t>SinhVien</a:t>
            </a:r>
            <a:r>
              <a:rPr lang="en-US" sz="4000" dirty="0"/>
              <a:t> {</a:t>
            </a:r>
          </a:p>
          <a:p>
            <a:pPr marL="0" indent="0">
              <a:buNone/>
            </a:pPr>
            <a:r>
              <a:rPr lang="en-US" sz="4000" dirty="0"/>
              <a:t>  public </a:t>
            </a:r>
            <a:r>
              <a:rPr lang="en-US" sz="4000" dirty="0" err="1"/>
              <a:t>hoTen</a:t>
            </a:r>
            <a:r>
              <a:rPr lang="en-US" sz="4000" dirty="0"/>
              <a:t>: string;</a:t>
            </a:r>
          </a:p>
          <a:p>
            <a:pPr marL="0" indent="0">
              <a:buNone/>
            </a:pPr>
            <a:r>
              <a:rPr lang="en-US" sz="4000" dirty="0"/>
              <a:t>  public </a:t>
            </a:r>
            <a:r>
              <a:rPr lang="en-US" sz="4000" dirty="0" err="1"/>
              <a:t>tuoi</a:t>
            </a:r>
            <a:r>
              <a:rPr lang="en-US" sz="4000" dirty="0"/>
              <a:t>: number;</a:t>
            </a:r>
          </a:p>
          <a:p>
            <a:pPr marL="0" indent="0">
              <a:buNone/>
            </a:pPr>
            <a:r>
              <a:rPr lang="en-US" sz="4000" dirty="0"/>
              <a:t>  public </a:t>
            </a:r>
            <a:r>
              <a:rPr lang="en-US" sz="4000" dirty="0" err="1"/>
              <a:t>diemTrungBinh</a:t>
            </a:r>
            <a:r>
              <a:rPr lang="en-US" sz="4000" dirty="0"/>
              <a:t>: number;</a:t>
            </a:r>
          </a:p>
          <a:p>
            <a:pPr marL="0" indent="0">
              <a:buNone/>
            </a:pPr>
            <a:r>
              <a:rPr lang="en-US" sz="4000" dirty="0"/>
              <a:t>  public </a:t>
            </a:r>
            <a:r>
              <a:rPr lang="en-US" sz="4000" dirty="0" err="1"/>
              <a:t>tinhTrang</a:t>
            </a:r>
            <a:r>
              <a:rPr lang="en-US" sz="4000" dirty="0"/>
              <a:t>: string;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  public hoc(): void {</a:t>
            </a:r>
          </a:p>
          <a:p>
            <a:pPr marL="0" indent="0">
              <a:buNone/>
            </a:pPr>
            <a:r>
              <a:rPr lang="en-US" sz="4000" dirty="0"/>
              <a:t>    console.log(`</a:t>
            </a:r>
            <a:r>
              <a:rPr lang="en-US" sz="4000" dirty="0" err="1"/>
              <a:t>Tình</a:t>
            </a:r>
            <a:r>
              <a:rPr lang="en-US" sz="4000" dirty="0"/>
              <a:t> </a:t>
            </a:r>
            <a:r>
              <a:rPr lang="en-US" sz="4000" dirty="0" err="1"/>
              <a:t>trạng</a:t>
            </a:r>
            <a:r>
              <a:rPr lang="en-US" sz="4000" dirty="0"/>
              <a:t> </a:t>
            </a:r>
            <a:r>
              <a:rPr lang="en-US" sz="4000" dirty="0" err="1"/>
              <a:t>học</a:t>
            </a:r>
            <a:r>
              <a:rPr lang="en-US" sz="4000" dirty="0"/>
              <a:t> </a:t>
            </a:r>
            <a:r>
              <a:rPr lang="en-US" sz="4000" dirty="0" err="1"/>
              <a:t>tập</a:t>
            </a:r>
            <a:r>
              <a:rPr lang="en-US" sz="4000" dirty="0"/>
              <a:t>: ${</a:t>
            </a:r>
            <a:r>
              <a:rPr lang="en-US" sz="4000" dirty="0" err="1"/>
              <a:t>this.tinhTrang</a:t>
            </a:r>
            <a:r>
              <a:rPr lang="en-US" sz="4000" dirty="0"/>
              <a:t>}`);</a:t>
            </a:r>
          </a:p>
          <a:p>
            <a:pPr marL="0" indent="0">
              <a:buNone/>
            </a:pPr>
            <a:r>
              <a:rPr lang="en-US" sz="4000" dirty="0"/>
              <a:t>  }</a:t>
            </a:r>
          </a:p>
          <a:p>
            <a:pPr marL="0" indent="0">
              <a:buNone/>
            </a:pPr>
            <a:r>
              <a:rPr lang="en-US" sz="4000" dirty="0"/>
              <a:t>  public </a:t>
            </a:r>
            <a:r>
              <a:rPr lang="en-US" sz="4000" dirty="0" err="1"/>
              <a:t>xepLoai</a:t>
            </a:r>
            <a:r>
              <a:rPr lang="en-US" sz="4000" dirty="0"/>
              <a:t>(): string {</a:t>
            </a:r>
          </a:p>
          <a:p>
            <a:pPr marL="0" indent="0">
              <a:buNone/>
            </a:pPr>
            <a:r>
              <a:rPr lang="en-US" sz="4000" dirty="0"/>
              <a:t>    if (</a:t>
            </a:r>
            <a:r>
              <a:rPr lang="en-US" sz="4000" dirty="0" err="1"/>
              <a:t>this.diemTrungBinh</a:t>
            </a:r>
            <a:r>
              <a:rPr lang="en-US" sz="4000" dirty="0"/>
              <a:t> &gt;= 8) return "</a:t>
            </a:r>
            <a:r>
              <a:rPr lang="en-US" sz="4000" dirty="0" err="1"/>
              <a:t>Giỏi</a:t>
            </a:r>
            <a:r>
              <a:rPr lang="en-US" sz="4000" dirty="0"/>
              <a:t>";</a:t>
            </a:r>
          </a:p>
          <a:p>
            <a:pPr marL="0" indent="0">
              <a:buNone/>
            </a:pPr>
            <a:r>
              <a:rPr lang="en-US" sz="4000" dirty="0"/>
              <a:t>    if (</a:t>
            </a:r>
            <a:r>
              <a:rPr lang="en-US" sz="4000" dirty="0" err="1"/>
              <a:t>this.diemTrungBinh</a:t>
            </a:r>
            <a:r>
              <a:rPr lang="en-US" sz="4000" dirty="0"/>
              <a:t> &gt;= 6.5) return "</a:t>
            </a:r>
            <a:r>
              <a:rPr lang="en-US" sz="4000" dirty="0" err="1"/>
              <a:t>Khá</a:t>
            </a:r>
            <a:r>
              <a:rPr lang="en-US" sz="4000" dirty="0"/>
              <a:t>";</a:t>
            </a:r>
          </a:p>
          <a:p>
            <a:pPr marL="0" indent="0">
              <a:buNone/>
            </a:pPr>
            <a:r>
              <a:rPr lang="en-US" sz="4000" dirty="0"/>
              <a:t>    if (</a:t>
            </a:r>
            <a:r>
              <a:rPr lang="en-US" sz="4000" dirty="0" err="1"/>
              <a:t>this.diemTrungBinh</a:t>
            </a:r>
            <a:r>
              <a:rPr lang="en-US" sz="4000" dirty="0"/>
              <a:t> &gt;= 5) return "Trung </a:t>
            </a:r>
            <a:r>
              <a:rPr lang="en-US" sz="4000" dirty="0" err="1"/>
              <a:t>bình</a:t>
            </a:r>
            <a:r>
              <a:rPr lang="en-US" sz="4000" dirty="0"/>
              <a:t>";</a:t>
            </a:r>
          </a:p>
          <a:p>
            <a:pPr marL="0" indent="0">
              <a:buNone/>
            </a:pPr>
            <a:r>
              <a:rPr lang="en-US" sz="4000" dirty="0"/>
              <a:t>    return "</a:t>
            </a:r>
            <a:r>
              <a:rPr lang="en-US" sz="4000" dirty="0" err="1"/>
              <a:t>Yếu</a:t>
            </a:r>
            <a:r>
              <a:rPr lang="en-US" sz="4000" dirty="0"/>
              <a:t>";</a:t>
            </a:r>
          </a:p>
          <a:p>
            <a:pPr marL="0" indent="0">
              <a:buNone/>
            </a:pPr>
            <a:r>
              <a:rPr lang="en-US" sz="4000" dirty="0"/>
              <a:t>  }</a:t>
            </a:r>
          </a:p>
          <a:p>
            <a:pPr marL="0" indent="0">
              <a:buNone/>
            </a:pPr>
            <a:r>
              <a:rPr lang="en-US" sz="4000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5EF6B8-7019-AA36-C86B-7D7B500BC1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F11B7-613F-F9B9-5602-082D287EA5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9937444-D033-EC89-F34D-7639449E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 THỰC HÀNH SỐ 1</a:t>
            </a:r>
          </a:p>
        </p:txBody>
      </p:sp>
    </p:spTree>
    <p:extLst>
      <p:ext uri="{BB962C8B-B14F-4D97-AF65-F5344CB8AC3E}">
        <p14:creationId xmlns:p14="http://schemas.microsoft.com/office/powerpoint/2010/main" val="6402740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A433C-01B5-FB52-6C9B-E8DE6905C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AB998F-F5C6-412A-7AA5-DB6AB9D88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59" y="1024758"/>
            <a:ext cx="11714547" cy="523415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const sv1 = new </a:t>
            </a:r>
            <a:r>
              <a:rPr lang="en-US" dirty="0" err="1"/>
              <a:t>SinhVien</a:t>
            </a:r>
            <a:r>
              <a:rPr lang="en-US" dirty="0"/>
              <a:t>(); // object </a:t>
            </a:r>
            <a:r>
              <a:rPr lang="en-US" dirty="0" err="1"/>
              <a:t>rỗng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sv1.hoTen = "Nguyễn Văn A";</a:t>
            </a:r>
          </a:p>
          <a:p>
            <a:pPr marL="0" indent="0">
              <a:buNone/>
            </a:pPr>
            <a:r>
              <a:rPr lang="en-US" dirty="0"/>
              <a:t>sv1.tuoi = 20;</a:t>
            </a:r>
          </a:p>
          <a:p>
            <a:pPr marL="0" indent="0">
              <a:buNone/>
            </a:pPr>
            <a:r>
              <a:rPr lang="en-US" dirty="0"/>
              <a:t>sv1.diemTrungBinh = 7.2;</a:t>
            </a:r>
          </a:p>
          <a:p>
            <a:pPr marL="0" indent="0">
              <a:buNone/>
            </a:pPr>
            <a:r>
              <a:rPr lang="en-US" dirty="0"/>
              <a:t>sv1.tinhTrang = "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";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sv1.hoc();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console.log(</a:t>
            </a:r>
          </a:p>
          <a:p>
            <a:pPr marL="0" indent="0">
              <a:buNone/>
            </a:pPr>
            <a:r>
              <a:rPr lang="en-US" dirty="0"/>
              <a:t>  `Sinh </a:t>
            </a:r>
            <a:r>
              <a:rPr lang="en-US" dirty="0" err="1"/>
              <a:t>viên</a:t>
            </a:r>
            <a:r>
              <a:rPr lang="en-US" dirty="0"/>
              <a:t>: ${sv1.hoTen} - ${sv1.tuoi} </a:t>
            </a:r>
            <a:r>
              <a:rPr lang="en-US" dirty="0" err="1"/>
              <a:t>tuổi</a:t>
            </a:r>
            <a:r>
              <a:rPr lang="en-US" dirty="0"/>
              <a:t> - </a:t>
            </a:r>
            <a:r>
              <a:rPr lang="en-US" dirty="0" err="1"/>
              <a:t>Điểm</a:t>
            </a:r>
            <a:r>
              <a:rPr lang="en-US" dirty="0"/>
              <a:t> TB: ${sv1.diemTrungBinh} -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: ${sv1.xepLoai()}`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3FC7AA-D78F-34D7-0535-C4EF78C25A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614A1-B464-B69F-EA37-C5B925FA0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45B4FDD-7C45-723F-DDF1-86C9FF46E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BÀI TẬP THỰC HÀNH SỐ 1</a:t>
            </a:r>
          </a:p>
        </p:txBody>
      </p:sp>
    </p:spTree>
    <p:extLst>
      <p:ext uri="{BB962C8B-B14F-4D97-AF65-F5344CB8AC3E}">
        <p14:creationId xmlns:p14="http://schemas.microsoft.com/office/powerpoint/2010/main" val="38504897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D423DF-E355-8469-99D4-34D1151EC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12" y="1024758"/>
            <a:ext cx="11954108" cy="5234152"/>
          </a:xfrm>
        </p:spPr>
        <p:txBody>
          <a:bodyPr/>
          <a:lstStyle/>
          <a:p>
            <a:r>
              <a:rPr lang="en-US" b="1" dirty="0" err="1"/>
              <a:t>Bài</a:t>
            </a:r>
            <a:r>
              <a:rPr lang="en-US" b="1" dirty="0"/>
              <a:t> 2: Quản </a:t>
            </a:r>
            <a:r>
              <a:rPr lang="en-US" b="1" dirty="0" err="1"/>
              <a:t>lý</a:t>
            </a:r>
            <a:r>
              <a:rPr lang="en-US" b="1" dirty="0"/>
              <a:t> </a:t>
            </a:r>
            <a:r>
              <a:rPr lang="en-US" b="1" dirty="0" err="1"/>
              <a:t>đơn</a:t>
            </a:r>
            <a:r>
              <a:rPr lang="en-US" b="1" dirty="0"/>
              <a:t> </a:t>
            </a:r>
            <a:r>
              <a:rPr lang="en-US" b="1" dirty="0" err="1"/>
              <a:t>hàng</a:t>
            </a:r>
            <a:r>
              <a:rPr lang="en-US" b="1" dirty="0"/>
              <a:t> – </a:t>
            </a:r>
            <a:r>
              <a:rPr lang="en-US" b="1" dirty="0" err="1"/>
              <a:t>Tính</a:t>
            </a:r>
            <a:r>
              <a:rPr lang="en-US" b="1" dirty="0"/>
              <a:t> </a:t>
            </a:r>
            <a:r>
              <a:rPr lang="en-US" b="1" dirty="0" err="1"/>
              <a:t>tổng</a:t>
            </a:r>
            <a:r>
              <a:rPr lang="en-US" b="1" dirty="0"/>
              <a:t> </a:t>
            </a:r>
            <a:r>
              <a:rPr lang="en-US" b="1" dirty="0" err="1"/>
              <a:t>hóa</a:t>
            </a:r>
            <a:r>
              <a:rPr lang="en-US" b="1" dirty="0"/>
              <a:t> </a:t>
            </a:r>
            <a:r>
              <a:rPr lang="en-US" b="1" dirty="0" err="1"/>
              <a:t>đơn</a:t>
            </a:r>
            <a:endParaRPr lang="en-US" dirty="0"/>
          </a:p>
          <a:p>
            <a:r>
              <a:rPr lang="en-US" b="1" dirty="0" err="1"/>
              <a:t>Yêu</a:t>
            </a:r>
            <a:r>
              <a:rPr lang="en-US" b="1" dirty="0"/>
              <a:t> </a:t>
            </a:r>
            <a:r>
              <a:rPr lang="en-US" b="1" dirty="0" err="1"/>
              <a:t>cầu</a:t>
            </a:r>
            <a:r>
              <a:rPr lang="en-US" b="1" dirty="0"/>
              <a:t>:</a:t>
            </a:r>
            <a:endParaRPr lang="en-US" dirty="0"/>
          </a:p>
          <a:p>
            <a:pPr lvl="1"/>
            <a:r>
              <a:rPr lang="en-US" dirty="0" err="1"/>
              <a:t>Tạo</a:t>
            </a:r>
            <a:r>
              <a:rPr lang="en-US" dirty="0"/>
              <a:t> class Order </a:t>
            </a:r>
            <a:r>
              <a:rPr lang="en-US" dirty="0" err="1"/>
              <a:t>với</a:t>
            </a:r>
            <a:r>
              <a:rPr lang="en-US" dirty="0"/>
              <a:t> customer, amount</a:t>
            </a:r>
          </a:p>
          <a:p>
            <a:pPr lvl="1"/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hàng</a:t>
            </a:r>
            <a:endParaRPr lang="en-US" dirty="0"/>
          </a:p>
          <a:p>
            <a:pPr lvl="1"/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show()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đơn</a:t>
            </a:r>
            <a:endParaRPr lang="en-US" dirty="0"/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76105E-45E3-338C-EBDD-961E65A496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9AB82-AB39-ED63-C41B-2797D0A79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967B40E-27C4-63B3-17F6-0CD0EE361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BÀI TẬP THỰC HÀNH SỐ 2(BTVN)</a:t>
            </a:r>
          </a:p>
        </p:txBody>
      </p:sp>
    </p:spTree>
    <p:extLst>
      <p:ext uri="{BB962C8B-B14F-4D97-AF65-F5344CB8AC3E}">
        <p14:creationId xmlns:p14="http://schemas.microsoft.com/office/powerpoint/2010/main" val="8473103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8800">
                <a:solidFill>
                  <a:srgbClr val="0000CC"/>
                </a:solidFill>
              </a:rPr>
              <a:t>THANK YOU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33AD92-5E87-E375-BEDD-20E8E001E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20BA4-9A69-0F54-B570-F9F236F71D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096323"/>
      </p:ext>
    </p:extLst>
  </p:cSld>
  <p:clrMapOvr>
    <a:masterClrMapping/>
  </p:clrMapOvr>
</p:sld>
</file>

<file path=ppt/theme/theme1.xml><?xml version="1.0" encoding="utf-8"?>
<a:theme xmlns:a="http://schemas.openxmlformats.org/drawingml/2006/main" name="Blue - v3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ain font">
      <a:majorFont>
        <a:latin typeface="Nunito Bold"/>
        <a:ea typeface=""/>
        <a:cs typeface=""/>
      </a:majorFont>
      <a:minorFont>
        <a:latin typeface="Nuni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15605</TotalTime>
  <Words>2091</Words>
  <Application>Microsoft Office PowerPoint</Application>
  <PresentationFormat>Widescreen</PresentationFormat>
  <Paragraphs>323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Courier New</vt:lpstr>
      <vt:lpstr>Nunito</vt:lpstr>
      <vt:lpstr>Times New Roman</vt:lpstr>
      <vt:lpstr>Wingdings</vt:lpstr>
      <vt:lpstr>Blue - v3</vt:lpstr>
      <vt:lpstr>PowerPoint Presentation</vt:lpstr>
      <vt:lpstr>LẬP TRÌNH HƯỚNG ĐỐI TƯỢNG (OOP)</vt:lpstr>
      <vt:lpstr>LẬP TRÌNH HƯỚNG ĐỐI TƯỢNG (OOP)</vt:lpstr>
      <vt:lpstr>KHÁI NIỆM CLASS TRONG TYPESCRIPT</vt:lpstr>
      <vt:lpstr>KHÁI NIỆM CLASS TRONG TYPESCRIPT</vt:lpstr>
      <vt:lpstr>PHÂN BIỆT CLASS VÀ OBJECT</vt:lpstr>
      <vt:lpstr>CONSTRUCTOR TRONG TYPESCRIPT</vt:lpstr>
      <vt:lpstr>Ví dụ constructor có tham số</vt:lpstr>
      <vt:lpstr>Ví dụ constructor không tham số</vt:lpstr>
      <vt:lpstr>Ví dụ constructor không tham số</vt:lpstr>
      <vt:lpstr>THUỘC TÍNH (PROPERTIES)</vt:lpstr>
      <vt:lpstr>PHƯƠNG THỨC (METHODS)</vt:lpstr>
      <vt:lpstr>PHẠM VI TRUY CẬP (Access Modifiers)</vt:lpstr>
      <vt:lpstr>PHẠM VI TRUY CẬP – PUBLIC</vt:lpstr>
      <vt:lpstr>PHẠM VI TRUY CẬP – PRIVATE</vt:lpstr>
      <vt:lpstr>PHẠM VI TRUY CẬP – PROTECTED</vt:lpstr>
      <vt:lpstr>GỌI PHƯƠNG THỨC TỪ ĐỐI TƯỢNG</vt:lpstr>
      <vt:lpstr>TRUY CẬP THUỘC TÍNH TỪ ĐỐI TƯỢNG</vt:lpstr>
      <vt:lpstr>BÀI TẬP THỰC HÀNH SỐ 1</vt:lpstr>
      <vt:lpstr>BÀI TẬP THỰC HÀNH SỐ 1</vt:lpstr>
      <vt:lpstr>BÀI TẬP THỰC HÀNH SỐ 1</vt:lpstr>
      <vt:lpstr>BÀI TẬP THỰC HÀNH SỐ 2(BTVN)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This PC</dc:creator>
  <cp:lastModifiedBy>Thắng Vĩnh</cp:lastModifiedBy>
  <cp:revision>322</cp:revision>
  <dcterms:created xsi:type="dcterms:W3CDTF">2021-12-20T01:48:15Z</dcterms:created>
  <dcterms:modified xsi:type="dcterms:W3CDTF">2026-03-24T10:55:03Z</dcterms:modified>
</cp:coreProperties>
</file>