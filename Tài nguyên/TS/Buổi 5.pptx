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21"/>
  </p:notesMasterIdLst>
  <p:handoutMasterIdLst>
    <p:handoutMasterId r:id="rId22"/>
  </p:handoutMasterIdLst>
  <p:sldIdLst>
    <p:sldId id="259" r:id="rId2"/>
    <p:sldId id="481" r:id="rId3"/>
    <p:sldId id="511" r:id="rId4"/>
    <p:sldId id="497" r:id="rId5"/>
    <p:sldId id="498" r:id="rId6"/>
    <p:sldId id="496" r:id="rId7"/>
    <p:sldId id="501" r:id="rId8"/>
    <p:sldId id="499" r:id="rId9"/>
    <p:sldId id="502" r:id="rId10"/>
    <p:sldId id="503" r:id="rId11"/>
    <p:sldId id="504" r:id="rId12"/>
    <p:sldId id="506" r:id="rId13"/>
    <p:sldId id="508" r:id="rId14"/>
    <p:sldId id="507" r:id="rId15"/>
    <p:sldId id="486" r:id="rId16"/>
    <p:sldId id="489" r:id="rId17"/>
    <p:sldId id="509" r:id="rId18"/>
    <p:sldId id="510" r:id="rId19"/>
    <p:sldId id="4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C650AF-D70C-4C72-807E-CA8005841A33}">
          <p14:sldIdLst>
            <p14:sldId id="259"/>
            <p14:sldId id="481"/>
            <p14:sldId id="511"/>
            <p14:sldId id="497"/>
            <p14:sldId id="498"/>
            <p14:sldId id="496"/>
            <p14:sldId id="501"/>
            <p14:sldId id="499"/>
            <p14:sldId id="502"/>
            <p14:sldId id="503"/>
            <p14:sldId id="504"/>
            <p14:sldId id="506"/>
            <p14:sldId id="508"/>
            <p14:sldId id="507"/>
            <p14:sldId id="486"/>
            <p14:sldId id="489"/>
            <p14:sldId id="509"/>
            <p14:sldId id="510"/>
            <p14:sldId id="4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0099"/>
    <a:srgbClr val="D8F0FF"/>
    <a:srgbClr val="9BD9FF"/>
    <a:srgbClr val="008EE5"/>
    <a:srgbClr val="03B3DD"/>
    <a:srgbClr val="0090E5"/>
    <a:srgbClr val="03B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8" y="114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15930-8719-4C15-9737-2648B85A77A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2053-7AB1-48B2-9643-49BF192C4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51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456ED-8D73-4DA4-A78C-89D419F66C39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AED4D-2311-4E17-8D7B-C33F7112F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1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AED4D-2311-4E17-8D7B-C33F7112F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57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558" y="1024758"/>
            <a:ext cx="11225047" cy="52341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rgbClr val="0000CC"/>
              </a:buClr>
              <a:buFont typeface="Wingdings" pitchFamily="2" charset="2"/>
              <a:buChar char="§"/>
              <a:defRPr sz="2800" b="0">
                <a:latin typeface="Times New Roman" pitchFamily="18" charset="0"/>
                <a:cs typeface="Times New Roman" pitchFamily="18" charset="0"/>
              </a:defRPr>
            </a:lvl1pPr>
            <a:lvl2pPr marL="685800" indent="-228600">
              <a:buClr>
                <a:srgbClr val="FF00FF"/>
              </a:buClr>
              <a:buFont typeface="Arial" pitchFamily="34" charset="0"/>
              <a:buChar char="•"/>
              <a:defRPr sz="2400" b="0"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buClr>
                <a:srgbClr val="009900"/>
              </a:buClr>
              <a:buFont typeface="Courier New" pitchFamily="49" charset="0"/>
              <a:buChar char="o"/>
              <a:defRPr sz="2200" b="0">
                <a:latin typeface="Times New Roman" pitchFamily="18" charset="0"/>
                <a:cs typeface="Times New Roman" pitchFamily="18" charset="0"/>
              </a:defRPr>
            </a:lvl3pPr>
            <a:lvl4pPr>
              <a:defRPr sz="2200" b="0">
                <a:latin typeface="Times New Roman" pitchFamily="18" charset="0"/>
                <a:cs typeface="Times New Roman" pitchFamily="18" charset="0"/>
              </a:defRPr>
            </a:lvl4pPr>
            <a:lvl5pPr>
              <a:defRPr sz="2200" b="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1" y="6482377"/>
            <a:ext cx="5522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4036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2396360" y="2870"/>
            <a:ext cx="9795640" cy="79662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903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5459"/>
            <a:ext cx="12192000" cy="168050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29" y="3784922"/>
            <a:ext cx="6165669" cy="308104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30" y="3784922"/>
            <a:ext cx="6165669" cy="30810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2377"/>
            <a:ext cx="6026329" cy="38358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812003" y="0"/>
            <a:ext cx="10385077" cy="804707"/>
          </a:xfrm>
          <a:custGeom>
            <a:avLst/>
            <a:gdLst>
              <a:gd name="connsiteX0" fmla="*/ 0 w 9517626"/>
              <a:gd name="connsiteY0" fmla="*/ 0 h 783157"/>
              <a:gd name="connsiteX1" fmla="*/ 9517626 w 9517626"/>
              <a:gd name="connsiteY1" fmla="*/ 0 h 783157"/>
              <a:gd name="connsiteX2" fmla="*/ 9517626 w 9517626"/>
              <a:gd name="connsiteY2" fmla="*/ 783157 h 783157"/>
              <a:gd name="connsiteX3" fmla="*/ 0 w 9517626"/>
              <a:gd name="connsiteY3" fmla="*/ 783157 h 783157"/>
              <a:gd name="connsiteX4" fmla="*/ 0 w 9517626"/>
              <a:gd name="connsiteY4" fmla="*/ 0 h 783157"/>
              <a:gd name="connsiteX0" fmla="*/ 117987 w 9635613"/>
              <a:gd name="connsiteY0" fmla="*/ 0 h 783157"/>
              <a:gd name="connsiteX1" fmla="*/ 9635613 w 9635613"/>
              <a:gd name="connsiteY1" fmla="*/ 0 h 783157"/>
              <a:gd name="connsiteX2" fmla="*/ 9635613 w 9635613"/>
              <a:gd name="connsiteY2" fmla="*/ 783157 h 783157"/>
              <a:gd name="connsiteX3" fmla="*/ 0 w 9635613"/>
              <a:gd name="connsiteY3" fmla="*/ 724164 h 783157"/>
              <a:gd name="connsiteX4" fmla="*/ 117987 w 9635613"/>
              <a:gd name="connsiteY4" fmla="*/ 0 h 78315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783157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7897 w 10087897"/>
              <a:gd name="connsiteY2" fmla="*/ 81265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87897"/>
              <a:gd name="connsiteY0" fmla="*/ 0 h 822487"/>
              <a:gd name="connsiteX1" fmla="*/ 10087897 w 10087897"/>
              <a:gd name="connsiteY1" fmla="*/ 0 h 822487"/>
              <a:gd name="connsiteX2" fmla="*/ 10084087 w 10087897"/>
              <a:gd name="connsiteY2" fmla="*/ 801224 h 822487"/>
              <a:gd name="connsiteX3" fmla="*/ 0 w 10087897"/>
              <a:gd name="connsiteY3" fmla="*/ 822487 h 822487"/>
              <a:gd name="connsiteX4" fmla="*/ 570271 w 10087897"/>
              <a:gd name="connsiteY4" fmla="*/ 0 h 822487"/>
              <a:gd name="connsiteX0" fmla="*/ 570271 w 10091707"/>
              <a:gd name="connsiteY0" fmla="*/ 0 h 822487"/>
              <a:gd name="connsiteX1" fmla="*/ 10087897 w 10091707"/>
              <a:gd name="connsiteY1" fmla="*/ 0 h 822487"/>
              <a:gd name="connsiteX2" fmla="*/ 10091707 w 10091707"/>
              <a:gd name="connsiteY2" fmla="*/ 798684 h 822487"/>
              <a:gd name="connsiteX3" fmla="*/ 0 w 10091707"/>
              <a:gd name="connsiteY3" fmla="*/ 822487 h 822487"/>
              <a:gd name="connsiteX4" fmla="*/ 570271 w 10091707"/>
              <a:gd name="connsiteY4" fmla="*/ 0 h 822487"/>
              <a:gd name="connsiteX0" fmla="*/ 557571 w 10079007"/>
              <a:gd name="connsiteY0" fmla="*/ 0 h 804707"/>
              <a:gd name="connsiteX1" fmla="*/ 10075197 w 10079007"/>
              <a:gd name="connsiteY1" fmla="*/ 0 h 804707"/>
              <a:gd name="connsiteX2" fmla="*/ 10079007 w 10079007"/>
              <a:gd name="connsiteY2" fmla="*/ 798684 h 804707"/>
              <a:gd name="connsiteX3" fmla="*/ 0 w 10079007"/>
              <a:gd name="connsiteY3" fmla="*/ 804707 h 804707"/>
              <a:gd name="connsiteX4" fmla="*/ 557571 w 1007900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079007 w 10387617"/>
              <a:gd name="connsiteY2" fmla="*/ 79868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7617"/>
              <a:gd name="connsiteY0" fmla="*/ 0 h 804707"/>
              <a:gd name="connsiteX1" fmla="*/ 10387617 w 10387617"/>
              <a:gd name="connsiteY1" fmla="*/ 2540 h 804707"/>
              <a:gd name="connsiteX2" fmla="*/ 10381267 w 10387617"/>
              <a:gd name="connsiteY2" fmla="*/ 801224 h 804707"/>
              <a:gd name="connsiteX3" fmla="*/ 0 w 10387617"/>
              <a:gd name="connsiteY3" fmla="*/ 804707 h 804707"/>
              <a:gd name="connsiteX4" fmla="*/ 557571 w 10387617"/>
              <a:gd name="connsiteY4" fmla="*/ 0 h 804707"/>
              <a:gd name="connsiteX0" fmla="*/ 557571 w 10385077"/>
              <a:gd name="connsiteY0" fmla="*/ 0 h 804707"/>
              <a:gd name="connsiteX1" fmla="*/ 10385077 w 10385077"/>
              <a:gd name="connsiteY1" fmla="*/ 0 h 804707"/>
              <a:gd name="connsiteX2" fmla="*/ 10381267 w 10385077"/>
              <a:gd name="connsiteY2" fmla="*/ 801224 h 804707"/>
              <a:gd name="connsiteX3" fmla="*/ 0 w 10385077"/>
              <a:gd name="connsiteY3" fmla="*/ 804707 h 804707"/>
              <a:gd name="connsiteX4" fmla="*/ 557571 w 10385077"/>
              <a:gd name="connsiteY4" fmla="*/ 0 h 804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5077" h="804707">
                <a:moveTo>
                  <a:pt x="557571" y="0"/>
                </a:moveTo>
                <a:lnTo>
                  <a:pt x="10385077" y="0"/>
                </a:lnTo>
                <a:cubicBezTo>
                  <a:pt x="10382960" y="266228"/>
                  <a:pt x="10383384" y="534996"/>
                  <a:pt x="10381267" y="801224"/>
                </a:cubicBezTo>
                <a:lnTo>
                  <a:pt x="0" y="804707"/>
                </a:lnTo>
                <a:lnTo>
                  <a:pt x="557571" y="0"/>
                </a:lnTo>
                <a:close/>
              </a:path>
            </a:pathLst>
          </a:custGeom>
          <a:gradFill flip="none" rotWithShape="1">
            <a:gsLst>
              <a:gs pos="0">
                <a:srgbClr val="03B3DD"/>
              </a:gs>
              <a:gs pos="100000">
                <a:srgbClr val="008EE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860" y="-5062"/>
            <a:ext cx="2233324" cy="808230"/>
          </a:xfrm>
          <a:custGeom>
            <a:avLst/>
            <a:gdLst>
              <a:gd name="connsiteX0" fmla="*/ 0 w 1818968"/>
              <a:gd name="connsiteY0" fmla="*/ 0 h 783157"/>
              <a:gd name="connsiteX1" fmla="*/ 1818968 w 1818968"/>
              <a:gd name="connsiteY1" fmla="*/ 0 h 783157"/>
              <a:gd name="connsiteX2" fmla="*/ 1818968 w 1818968"/>
              <a:gd name="connsiteY2" fmla="*/ 783157 h 783157"/>
              <a:gd name="connsiteX3" fmla="*/ 0 w 1818968"/>
              <a:gd name="connsiteY3" fmla="*/ 783157 h 783157"/>
              <a:gd name="connsiteX4" fmla="*/ 0 w 1818968"/>
              <a:gd name="connsiteY4" fmla="*/ 0 h 783157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0 w 2349910"/>
              <a:gd name="connsiteY0" fmla="*/ 983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0 w 2349910"/>
              <a:gd name="connsiteY4" fmla="*/ 9833 h 792990"/>
              <a:gd name="connsiteX0" fmla="*/ 144780 w 2349910"/>
              <a:gd name="connsiteY0" fmla="*/ 9365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4780 w 2349910"/>
              <a:gd name="connsiteY4" fmla="*/ 93653 h 792990"/>
              <a:gd name="connsiteX0" fmla="*/ 140970 w 2349910"/>
              <a:gd name="connsiteY0" fmla="*/ 2213 h 792990"/>
              <a:gd name="connsiteX1" fmla="*/ 2349910 w 2349910"/>
              <a:gd name="connsiteY1" fmla="*/ 0 h 792990"/>
              <a:gd name="connsiteX2" fmla="*/ 1818968 w 2349910"/>
              <a:gd name="connsiteY2" fmla="*/ 792990 h 792990"/>
              <a:gd name="connsiteX3" fmla="*/ 0 w 2349910"/>
              <a:gd name="connsiteY3" fmla="*/ 792990 h 792990"/>
              <a:gd name="connsiteX4" fmla="*/ 140970 w 2349910"/>
              <a:gd name="connsiteY4" fmla="*/ 2213 h 79299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79299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08940"/>
              <a:gd name="connsiteY0" fmla="*/ 2213 h 808230"/>
              <a:gd name="connsiteX1" fmla="*/ 2208940 w 2208940"/>
              <a:gd name="connsiteY1" fmla="*/ 0 h 808230"/>
              <a:gd name="connsiteX2" fmla="*/ 1677998 w 2208940"/>
              <a:gd name="connsiteY2" fmla="*/ 808230 h 808230"/>
              <a:gd name="connsiteX3" fmla="*/ 0 w 2208940"/>
              <a:gd name="connsiteY3" fmla="*/ 808230 h 808230"/>
              <a:gd name="connsiteX4" fmla="*/ 0 w 2208940"/>
              <a:gd name="connsiteY4" fmla="*/ 2213 h 808230"/>
              <a:gd name="connsiteX0" fmla="*/ 0 w 2233324"/>
              <a:gd name="connsiteY0" fmla="*/ 2213 h 808230"/>
              <a:gd name="connsiteX1" fmla="*/ 2233324 w 2233324"/>
              <a:gd name="connsiteY1" fmla="*/ 0 h 808230"/>
              <a:gd name="connsiteX2" fmla="*/ 1677998 w 2233324"/>
              <a:gd name="connsiteY2" fmla="*/ 808230 h 808230"/>
              <a:gd name="connsiteX3" fmla="*/ 0 w 2233324"/>
              <a:gd name="connsiteY3" fmla="*/ 808230 h 808230"/>
              <a:gd name="connsiteX4" fmla="*/ 0 w 2233324"/>
              <a:gd name="connsiteY4" fmla="*/ 2213 h 80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3324" h="808230">
                <a:moveTo>
                  <a:pt x="0" y="2213"/>
                </a:moveTo>
                <a:lnTo>
                  <a:pt x="2233324" y="0"/>
                </a:lnTo>
                <a:lnTo>
                  <a:pt x="1677998" y="808230"/>
                </a:lnTo>
                <a:lnTo>
                  <a:pt x="0" y="808230"/>
                </a:lnTo>
                <a:lnTo>
                  <a:pt x="0" y="2213"/>
                </a:lnTo>
                <a:close/>
              </a:path>
            </a:pathLst>
          </a:custGeom>
          <a:solidFill>
            <a:srgbClr val="D8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614855" y="1088570"/>
            <a:ext cx="11161986" cy="5249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1" y="129015"/>
            <a:ext cx="1434898" cy="523765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2554014" y="2870"/>
            <a:ext cx="9637985" cy="796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232" y="6482377"/>
            <a:ext cx="4330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916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02590D-67BD-4DF2-8CAA-B9002293EB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1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99"/>
        </a:buClr>
        <a:buFont typeface="Wingdings" pitchFamily="2" charset="2"/>
        <a:buChar char="§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00CC"/>
        </a:buClr>
        <a:buFont typeface="Arial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itchFamily="49" charset="0"/>
        <a:buChar char="o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6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98B47F1-B2BA-40A4-9FDB-CF661B783E7A}" type="slidenum">
              <a:rPr lang="en-US" smtClean="0"/>
              <a:t>1</a:t>
            </a:fld>
            <a:endParaRPr lang="en-US"/>
          </a:p>
        </p:txBody>
      </p:sp>
      <p:sp>
        <p:nvSpPr>
          <p:cNvPr id="5" name="Google Shape;136;p29"/>
          <p:cNvSpPr txBox="1">
            <a:spLocks/>
          </p:cNvSpPr>
          <p:nvPr/>
        </p:nvSpPr>
        <p:spPr>
          <a:xfrm>
            <a:off x="2773237" y="107241"/>
            <a:ext cx="4846763" cy="5908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TYPESCRIPT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37;p29"/>
          <p:cNvSpPr txBox="1">
            <a:spLocks/>
          </p:cNvSpPr>
          <p:nvPr/>
        </p:nvSpPr>
        <p:spPr>
          <a:xfrm>
            <a:off x="152400" y="1700981"/>
            <a:ext cx="6532879" cy="28357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itchFamily="18" charset="0"/>
              </a:rPr>
              <a:t>CHƯƠNG 3</a:t>
            </a:r>
            <a:r>
              <a:rPr lang="en-US" sz="2600" dirty="0">
                <a:latin typeface="Times New Roman" panose="02020603050405020304" pitchFamily="18" charset="0"/>
                <a:cs typeface="Times New Roman" pitchFamily="18" charset="0"/>
              </a:rPr>
              <a:t>: </a:t>
            </a:r>
          </a:p>
          <a:p>
            <a:pPr marL="0" indent="0">
              <a:spcBef>
                <a:spcPts val="0"/>
              </a:spcBef>
              <a:buNone/>
            </a:pPr>
            <a:endParaRPr lang="en-US" sz="26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LẬP TRÌNH HƯỚNG ĐỐI TƯỢNG (OOP)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TIẾP THEO</a:t>
            </a:r>
            <a:endParaRPr lang="en-US" sz="23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70" name="Google Shape;137;p29">
            <a:extLst>
              <a:ext uri="{FF2B5EF4-FFF2-40B4-BE49-F238E27FC236}">
                <a16:creationId xmlns:a16="http://schemas.microsoft.com/office/drawing/2014/main" id="{C5A8A76D-5E3A-4511-9569-D2E55F718EF4}"/>
              </a:ext>
            </a:extLst>
          </p:cNvPr>
          <p:cNvSpPr txBox="1">
            <a:spLocks/>
          </p:cNvSpPr>
          <p:nvPr/>
        </p:nvSpPr>
        <p:spPr>
          <a:xfrm>
            <a:off x="744069" y="4496464"/>
            <a:ext cx="3295303" cy="8009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26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4" name="Picture 10" descr="What is TypeScript">
            <a:extLst>
              <a:ext uri="{FF2B5EF4-FFF2-40B4-BE49-F238E27FC236}">
                <a16:creationId xmlns:a16="http://schemas.microsoft.com/office/drawing/2014/main" id="{826BF309-7710-D27E-2D38-D80F02283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656" y="1660701"/>
            <a:ext cx="4508545" cy="283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41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8A0900-0F87-6584-B4E2-0BDC89AE2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76" y="1024758"/>
            <a:ext cx="12084424" cy="5234152"/>
          </a:xfrm>
        </p:spPr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Khái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niệm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b="1" dirty="0"/>
              <a:t>Lập trình hướng đối tượng</a:t>
            </a:r>
            <a:r>
              <a:rPr lang="en-US" b="1" dirty="0"/>
              <a:t> </a:t>
            </a:r>
            <a:r>
              <a:rPr lang="vi-VN" b="1" dirty="0"/>
              <a:t>(</a:t>
            </a:r>
            <a:r>
              <a:rPr lang="vi-VN" b="1" dirty="0" err="1"/>
              <a:t>Object-Oriented</a:t>
            </a:r>
            <a:r>
              <a:rPr lang="vi-VN" b="1" dirty="0"/>
              <a:t> </a:t>
            </a:r>
            <a:r>
              <a:rPr lang="vi-VN" b="1" dirty="0" err="1"/>
              <a:t>Programming</a:t>
            </a:r>
            <a:r>
              <a:rPr lang="vi-VN" b="1" dirty="0"/>
              <a:t> - OOP)</a:t>
            </a:r>
            <a:r>
              <a:rPr lang="vi-VN" dirty="0"/>
              <a:t> là cách lập trình mà chương trình được xây dựng từ </a:t>
            </a:r>
            <a:r>
              <a:rPr lang="vi-VN" b="1" dirty="0"/>
              <a:t>các đối tượng (</a:t>
            </a:r>
            <a:r>
              <a:rPr lang="vi-VN" b="1" dirty="0" err="1"/>
              <a:t>object</a:t>
            </a:r>
            <a:r>
              <a:rPr lang="vi-VN" b="1" dirty="0"/>
              <a:t>)</a:t>
            </a:r>
            <a:r>
              <a:rPr lang="vi-VN" dirty="0"/>
              <a:t>.</a:t>
            </a:r>
            <a:endParaRPr lang="en-US" dirty="0"/>
          </a:p>
          <a:p>
            <a:r>
              <a:rPr lang="vi-VN" b="1" dirty="0">
                <a:solidFill>
                  <a:srgbClr val="FF0000"/>
                </a:solidFill>
              </a:rPr>
              <a:t>Đối tượng là gì?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b="1" dirty="0"/>
              <a:t>Đối tượng (</a:t>
            </a:r>
            <a:r>
              <a:rPr lang="vi-VN" b="1" dirty="0" err="1"/>
              <a:t>Object</a:t>
            </a:r>
            <a:r>
              <a:rPr lang="vi-VN" b="1" dirty="0"/>
              <a:t>)</a:t>
            </a:r>
            <a:r>
              <a:rPr lang="vi-VN" dirty="0"/>
              <a:t> là </a:t>
            </a:r>
            <a:r>
              <a:rPr lang="vi-VN" b="1" dirty="0"/>
              <a:t>một thực thể cụ thể</a:t>
            </a:r>
            <a:r>
              <a:rPr lang="vi-VN" dirty="0"/>
              <a:t> được tạo ra từ một lớp (</a:t>
            </a:r>
            <a:r>
              <a:rPr lang="vi-VN" dirty="0" err="1"/>
              <a:t>Class</a:t>
            </a:r>
            <a:r>
              <a:rPr lang="vi-VN" dirty="0"/>
              <a:t>),</a:t>
            </a:r>
            <a:br>
              <a:rPr lang="vi-VN" dirty="0"/>
            </a:br>
            <a:r>
              <a:rPr lang="vi-VN" dirty="0"/>
              <a:t>đại diện cho một sự vật hoặc khái niệm trong thế giới thực,</a:t>
            </a:r>
            <a:br>
              <a:rPr lang="vi-VN" dirty="0"/>
            </a:br>
            <a:r>
              <a:rPr lang="vi-VN" b="1" dirty="0"/>
              <a:t>có dữ liệu riêng và có thể thực hiện các hành vi</a:t>
            </a:r>
            <a:r>
              <a:rPr lang="vi-VN" dirty="0"/>
              <a:t>.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Hai </a:t>
            </a:r>
            <a:r>
              <a:rPr lang="en-US" b="1" dirty="0" err="1">
                <a:solidFill>
                  <a:srgbClr val="FF0000"/>
                </a:solidFill>
              </a:rPr>
              <a:t>đặc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điểm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cốt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lõi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của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đối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tượng</a:t>
            </a:r>
            <a:r>
              <a:rPr lang="en-US" dirty="0"/>
              <a:t>:	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err="1"/>
              <a:t>Trạng</a:t>
            </a:r>
            <a:r>
              <a:rPr lang="en-US" b="1" dirty="0"/>
              <a:t> </a:t>
            </a:r>
            <a:r>
              <a:rPr lang="en-US" b="1" dirty="0" err="1"/>
              <a:t>thái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- attributes)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H</a:t>
            </a:r>
            <a:r>
              <a:rPr lang="vi-VN" b="1" dirty="0" err="1"/>
              <a:t>ành</a:t>
            </a:r>
            <a:r>
              <a:rPr lang="vi-VN" b="1" dirty="0"/>
              <a:t> vi </a:t>
            </a:r>
            <a:r>
              <a:rPr lang="vi-VN" dirty="0"/>
              <a:t>(các phương thức, hàm - </a:t>
            </a:r>
            <a:r>
              <a:rPr lang="vi-VN" dirty="0" err="1"/>
              <a:t>methods</a:t>
            </a:r>
            <a:r>
              <a:rPr lang="vi-VN" dirty="0"/>
              <a:t>)</a:t>
            </a:r>
            <a:endParaRPr lang="en-US" dirty="0"/>
          </a:p>
          <a:p>
            <a:pPr lvl="1"/>
            <a:endParaRPr lang="vi-VN" dirty="0">
              <a:effectLst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48250-AEEB-A62B-00BF-BDFAAD5C9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8B7A3-9A53-5D08-2A83-F1CF0AFEA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1E6EB2F-4FEF-B143-DCC3-A2562F739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Nhắc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: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5118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92216-3A9D-79B7-4223-1C756515D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8C0F49-6FF5-E721-C990-3B776BD68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76" y="1024758"/>
            <a:ext cx="11685030" cy="5234152"/>
          </a:xfrm>
        </p:spPr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Lập trình hướng đối tượng có 4 đặc tính cốt lõi: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err="1"/>
              <a:t>Tính</a:t>
            </a:r>
            <a:r>
              <a:rPr lang="en-US" sz="2800" dirty="0"/>
              <a:t> đ</a:t>
            </a:r>
            <a:r>
              <a:rPr lang="vi-VN" sz="2800" dirty="0"/>
              <a:t>óng gói (</a:t>
            </a:r>
            <a:r>
              <a:rPr lang="vi-VN" sz="2800" dirty="0" err="1"/>
              <a:t>Encapsulation</a:t>
            </a:r>
            <a:r>
              <a:rPr lang="vi-VN" sz="2800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err="1"/>
              <a:t>Tính</a:t>
            </a:r>
            <a:r>
              <a:rPr lang="en-US" sz="2800" dirty="0"/>
              <a:t> k</a:t>
            </a:r>
            <a:r>
              <a:rPr lang="vi-VN" sz="2800" dirty="0"/>
              <a:t>ế thừa (</a:t>
            </a:r>
            <a:r>
              <a:rPr lang="vi-VN" sz="2800" dirty="0" err="1"/>
              <a:t>Inheritance</a:t>
            </a:r>
            <a:r>
              <a:rPr lang="vi-VN" sz="2800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err="1"/>
              <a:t>Tính</a:t>
            </a:r>
            <a:r>
              <a:rPr lang="en-US" sz="2800" dirty="0"/>
              <a:t> đ</a:t>
            </a:r>
            <a:r>
              <a:rPr lang="vi-VN" sz="2800" dirty="0"/>
              <a:t>a hình (</a:t>
            </a:r>
            <a:r>
              <a:rPr lang="vi-VN" sz="2800" dirty="0" err="1"/>
              <a:t>Polymorphism</a:t>
            </a:r>
            <a:r>
              <a:rPr lang="vi-VN" sz="2800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err="1"/>
              <a:t>Tính</a:t>
            </a:r>
            <a:r>
              <a:rPr lang="en-US" sz="2800" dirty="0"/>
              <a:t> t</a:t>
            </a:r>
            <a:r>
              <a:rPr lang="vi-VN" sz="2800" dirty="0" err="1"/>
              <a:t>rừu</a:t>
            </a:r>
            <a:r>
              <a:rPr lang="vi-VN" sz="2800" dirty="0"/>
              <a:t> tượng (</a:t>
            </a:r>
            <a:r>
              <a:rPr lang="vi-VN" sz="2800" dirty="0" err="1"/>
              <a:t>Abstraction</a:t>
            </a:r>
            <a:r>
              <a:rPr lang="vi-VN" sz="2800" dirty="0"/>
              <a:t>)</a:t>
            </a:r>
          </a:p>
          <a:p>
            <a:pPr lvl="1"/>
            <a:endParaRPr lang="vi-VN" dirty="0">
              <a:effectLst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6CBB1-166B-D917-CDBE-2FD694A67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B7DC2-A294-6BAA-8FC8-126C67BC6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7A425A-FAFA-A2CC-01C6-209D8651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 đặc tính của </a:t>
            </a:r>
            <a:r>
              <a:rPr lang="en-US" dirty="0"/>
              <a:t>l</a:t>
            </a:r>
            <a:r>
              <a:rPr lang="vi-VN" dirty="0" err="1"/>
              <a:t>ập</a:t>
            </a:r>
            <a:r>
              <a:rPr lang="vi-VN" dirty="0"/>
              <a:t> trình </a:t>
            </a:r>
            <a:r>
              <a:rPr lang="en-US" dirty="0"/>
              <a:t>h</a:t>
            </a:r>
            <a:r>
              <a:rPr lang="vi-VN" dirty="0" err="1"/>
              <a:t>ướng</a:t>
            </a:r>
            <a:r>
              <a:rPr lang="vi-VN" dirty="0"/>
              <a:t> đối tượng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04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F6D7D-F3B0-A38A-C902-EBB34F66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74DFFC-C54B-1285-22C1-B6075C406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76" y="799498"/>
            <a:ext cx="11685030" cy="5459412"/>
          </a:xfrm>
        </p:spPr>
        <p:txBody>
          <a:bodyPr>
            <a:normAutofit fontScale="92500" lnSpcReduction="20000"/>
          </a:bodyPr>
          <a:lstStyle/>
          <a:p>
            <a:r>
              <a:rPr lang="vi-VN" b="1" dirty="0"/>
              <a:t>Đóng gói (</a:t>
            </a:r>
            <a:r>
              <a:rPr lang="vi-VN" b="1" dirty="0" err="1"/>
              <a:t>Encapsulation</a:t>
            </a:r>
            <a:r>
              <a:rPr lang="vi-VN" b="1" dirty="0"/>
              <a:t>)</a:t>
            </a:r>
          </a:p>
          <a:p>
            <a:r>
              <a:rPr lang="en-US" dirty="0" err="1"/>
              <a:t>Là</a:t>
            </a:r>
            <a:r>
              <a:rPr lang="en-US" dirty="0"/>
              <a:t> g</a:t>
            </a:r>
            <a:r>
              <a:rPr lang="vi-VN" dirty="0"/>
              <a:t>ói </a:t>
            </a:r>
            <a:r>
              <a:rPr lang="vi-VN" dirty="0">
                <a:solidFill>
                  <a:srgbClr val="FF0000"/>
                </a:solidFill>
              </a:rPr>
              <a:t>dữ liệu </a:t>
            </a:r>
            <a:r>
              <a:rPr lang="vi-VN" dirty="0"/>
              <a:t>và </a:t>
            </a:r>
            <a:r>
              <a:rPr lang="vi-VN" dirty="0">
                <a:solidFill>
                  <a:srgbClr val="FF0000"/>
                </a:solidFill>
              </a:rPr>
              <a:t>hành vi </a:t>
            </a:r>
            <a:r>
              <a:rPr lang="vi-VN" dirty="0"/>
              <a:t>liên quan vào trong một </a:t>
            </a:r>
            <a:r>
              <a:rPr lang="vi-VN" dirty="0" err="1">
                <a:solidFill>
                  <a:srgbClr val="FF0000"/>
                </a:solidFill>
              </a:rPr>
              <a:t>class</a:t>
            </a:r>
            <a:r>
              <a:rPr lang="vi-VN" dirty="0" err="1"/>
              <a:t>,và</a:t>
            </a:r>
            <a:r>
              <a:rPr lang="vi-VN" dirty="0"/>
              <a:t> kiểm soát quyền truy cập vào dữ liệu đó.</a:t>
            </a:r>
            <a:endParaRPr lang="en-US" dirty="0"/>
          </a:p>
          <a:p>
            <a:pPr lvl="1"/>
            <a:r>
              <a:rPr lang="vi-VN" b="1" dirty="0"/>
              <a:t>❌ Không cho truy cập trực tiếp dữ liệu</a:t>
            </a:r>
            <a:endParaRPr lang="en-US" b="1" dirty="0"/>
          </a:p>
          <a:p>
            <a:pPr lvl="1"/>
            <a:r>
              <a:rPr lang="vi-VN" b="1" dirty="0"/>
              <a:t>✅ Chỉ thao tác qua phương thức</a:t>
            </a:r>
            <a:endParaRPr lang="en-US" b="1" dirty="0"/>
          </a:p>
          <a:p>
            <a:pPr lvl="1"/>
            <a:endParaRPr lang="vi-VN" b="1" dirty="0"/>
          </a:p>
          <a:p>
            <a:r>
              <a:rPr lang="vi-VN" b="1" dirty="0"/>
              <a:t>Ví dụ : Cái</a:t>
            </a:r>
            <a:r>
              <a:rPr lang="en-US" b="1" dirty="0"/>
              <a:t> </a:t>
            </a:r>
            <a:r>
              <a:rPr lang="en-US" b="1" dirty="0" err="1"/>
              <a:t>máy</a:t>
            </a:r>
            <a:r>
              <a:rPr lang="vi-VN" b="1" dirty="0"/>
              <a:t> ATM</a:t>
            </a:r>
          </a:p>
          <a:p>
            <a:pPr lvl="1"/>
            <a:r>
              <a:rPr lang="vi-VN" dirty="0"/>
              <a:t>Bạn </a:t>
            </a:r>
            <a:r>
              <a:rPr lang="vi-VN" b="1" dirty="0"/>
              <a:t>không thể</a:t>
            </a:r>
            <a:r>
              <a:rPr lang="vi-VN" dirty="0"/>
              <a:t>:</a:t>
            </a:r>
          </a:p>
          <a:p>
            <a:pPr lvl="2"/>
            <a:r>
              <a:rPr lang="vi-VN" dirty="0"/>
              <a:t>Mở máy ATM để sửa số dư</a:t>
            </a:r>
          </a:p>
          <a:p>
            <a:pPr lvl="2"/>
            <a:r>
              <a:rPr lang="vi-VN" dirty="0"/>
              <a:t>Truy cập trực tiếp vào dữ liệu ngân hàng</a:t>
            </a:r>
          </a:p>
          <a:p>
            <a:pPr lvl="1"/>
            <a:r>
              <a:rPr lang="vi-VN" dirty="0"/>
              <a:t>Bạn </a:t>
            </a:r>
            <a:r>
              <a:rPr lang="vi-VN" b="1" dirty="0"/>
              <a:t>chỉ có thể</a:t>
            </a:r>
            <a:r>
              <a:rPr lang="vi-VN" dirty="0"/>
              <a:t>:</a:t>
            </a:r>
          </a:p>
          <a:p>
            <a:pPr lvl="2"/>
            <a:r>
              <a:rPr lang="vi-VN" dirty="0"/>
              <a:t>Rút tiền</a:t>
            </a:r>
          </a:p>
          <a:p>
            <a:pPr lvl="2"/>
            <a:r>
              <a:rPr lang="vi-VN" dirty="0"/>
              <a:t>Gửi tiền</a:t>
            </a:r>
          </a:p>
          <a:p>
            <a:pPr lvl="2"/>
            <a:r>
              <a:rPr lang="vi-VN" dirty="0"/>
              <a:t>Xem số dư</a:t>
            </a:r>
            <a:endParaRPr lang="en-US" dirty="0"/>
          </a:p>
          <a:p>
            <a:pPr lvl="1"/>
            <a:r>
              <a:rPr lang="vi-VN" b="1" dirty="0"/>
              <a:t>Bản chất</a:t>
            </a:r>
          </a:p>
          <a:p>
            <a:pPr lvl="2"/>
            <a:r>
              <a:rPr lang="vi-VN" b="1" dirty="0"/>
              <a:t>Dữ liệu bên trong</a:t>
            </a:r>
            <a:r>
              <a:rPr lang="vi-VN" dirty="0"/>
              <a:t> → được bảo vệ</a:t>
            </a:r>
          </a:p>
          <a:p>
            <a:pPr lvl="2"/>
            <a:r>
              <a:rPr lang="vi-VN" b="1" dirty="0"/>
              <a:t>Người dùng</a:t>
            </a:r>
            <a:r>
              <a:rPr lang="vi-VN" dirty="0"/>
              <a:t> chỉ thao tác qua giao diện</a:t>
            </a:r>
          </a:p>
          <a:p>
            <a:pPr lvl="2"/>
            <a:r>
              <a:rPr lang="vi-VN" dirty="0"/>
              <a:t>➡️ Đây chính là </a:t>
            </a:r>
            <a:r>
              <a:rPr lang="vi-VN" b="1" dirty="0"/>
              <a:t>đóng gói</a:t>
            </a:r>
            <a:endParaRPr lang="vi-VN" dirty="0"/>
          </a:p>
          <a:p>
            <a:endParaRPr lang="vi-VN" dirty="0"/>
          </a:p>
          <a:p>
            <a:pPr lvl="1"/>
            <a:endParaRPr lang="vi-VN" dirty="0">
              <a:effectLst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82B80-3D95-FCD0-BBB1-A4D53BF83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BE76E-4B1E-6711-9B16-30BC00C41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AC7815-7994-C319-61D2-9CFDCF377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Encapsulation</a:t>
            </a:r>
          </a:p>
        </p:txBody>
      </p:sp>
    </p:spTree>
    <p:extLst>
      <p:ext uri="{BB962C8B-B14F-4D97-AF65-F5344CB8AC3E}">
        <p14:creationId xmlns:p14="http://schemas.microsoft.com/office/powerpoint/2010/main" val="356058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DCC23-4402-8B42-D314-175C06AF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2C65FF-DC35-19A8-065A-AAF218E28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76" y="799498"/>
            <a:ext cx="11685030" cy="54594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Liên </a:t>
            </a:r>
            <a:r>
              <a:rPr lang="en-US" b="1" dirty="0" err="1"/>
              <a:t>hệ</a:t>
            </a:r>
            <a:r>
              <a:rPr lang="en-US" b="1" dirty="0"/>
              <a:t> sang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trình</a:t>
            </a:r>
            <a:r>
              <a:rPr lang="en-US" b="1" dirty="0"/>
              <a:t>:</a:t>
            </a:r>
            <a:endParaRPr lang="vi-VN" b="1" dirty="0"/>
          </a:p>
          <a:p>
            <a:pPr marL="457200" lvl="1" indent="0">
              <a:buNone/>
            </a:pPr>
            <a:r>
              <a:rPr lang="en-US" sz="2000" dirty="0"/>
              <a:t>class </a:t>
            </a:r>
            <a:r>
              <a:rPr lang="en-US" sz="2000" dirty="0" err="1"/>
              <a:t>TaiKhoanNganHang</a:t>
            </a:r>
            <a:r>
              <a:rPr lang="en-US" sz="2000" dirty="0"/>
              <a:t> {</a:t>
            </a:r>
          </a:p>
          <a:p>
            <a:pPr marL="457200" lvl="1" indent="0">
              <a:buNone/>
            </a:pPr>
            <a:r>
              <a:rPr lang="en-US" sz="2000" dirty="0"/>
              <a:t>  </a:t>
            </a:r>
            <a:r>
              <a:rPr lang="en-US" sz="2000" dirty="0">
                <a:solidFill>
                  <a:srgbClr val="FF0000"/>
                </a:solidFill>
              </a:rPr>
              <a:t>private </a:t>
            </a:r>
            <a:r>
              <a:rPr lang="en-US" sz="2000" dirty="0" err="1"/>
              <a:t>soDu</a:t>
            </a:r>
            <a:r>
              <a:rPr lang="en-US" sz="2000" dirty="0"/>
              <a:t>: number = 0;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  </a:t>
            </a:r>
            <a:r>
              <a:rPr lang="en-US" sz="2000" dirty="0">
                <a:solidFill>
                  <a:srgbClr val="FF0000"/>
                </a:solidFill>
              </a:rPr>
              <a:t>public</a:t>
            </a:r>
            <a:r>
              <a:rPr lang="en-US" sz="2000" dirty="0"/>
              <a:t> </a:t>
            </a:r>
            <a:r>
              <a:rPr lang="en-US" sz="2000" dirty="0" err="1"/>
              <a:t>napTien</a:t>
            </a:r>
            <a:r>
              <a:rPr lang="en-US" sz="2000" dirty="0"/>
              <a:t>(</a:t>
            </a:r>
            <a:r>
              <a:rPr lang="en-US" sz="2000" dirty="0" err="1"/>
              <a:t>tien</a:t>
            </a:r>
            <a:r>
              <a:rPr lang="en-US" sz="2000" dirty="0"/>
              <a:t>: number): void {</a:t>
            </a:r>
          </a:p>
          <a:p>
            <a:pPr marL="457200" lvl="1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this.soDu</a:t>
            </a:r>
            <a:r>
              <a:rPr lang="en-US" sz="2000" dirty="0"/>
              <a:t> += </a:t>
            </a:r>
            <a:r>
              <a:rPr lang="en-US" sz="2000" dirty="0" err="1"/>
              <a:t>tien</a:t>
            </a:r>
            <a:r>
              <a:rPr lang="en-US" sz="2000" dirty="0"/>
              <a:t>;</a:t>
            </a:r>
          </a:p>
          <a:p>
            <a:pPr marL="457200" lvl="1" indent="0">
              <a:buNone/>
            </a:pPr>
            <a:r>
              <a:rPr lang="en-US" sz="2000" dirty="0"/>
              <a:t>  }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  public </a:t>
            </a:r>
            <a:r>
              <a:rPr lang="en-US" sz="2000" dirty="0" err="1"/>
              <a:t>xemSoDu</a:t>
            </a:r>
            <a:r>
              <a:rPr lang="en-US" sz="2000" dirty="0"/>
              <a:t>(): number {</a:t>
            </a:r>
          </a:p>
          <a:p>
            <a:pPr marL="457200" lvl="1" indent="0">
              <a:buNone/>
            </a:pPr>
            <a:r>
              <a:rPr lang="en-US" sz="2000" dirty="0"/>
              <a:t>    return </a:t>
            </a:r>
            <a:r>
              <a:rPr lang="en-US" sz="2000" dirty="0" err="1"/>
              <a:t>this.soDu</a:t>
            </a:r>
            <a:r>
              <a:rPr lang="en-US" sz="2000" dirty="0"/>
              <a:t>;</a:t>
            </a:r>
          </a:p>
          <a:p>
            <a:pPr marL="457200" lvl="1" indent="0">
              <a:buNone/>
            </a:pPr>
            <a:r>
              <a:rPr lang="en-US" sz="2000" dirty="0"/>
              <a:t>  }</a:t>
            </a:r>
          </a:p>
          <a:p>
            <a:pPr marL="457200" lvl="1" indent="0">
              <a:buNone/>
            </a:pPr>
            <a:r>
              <a:rPr lang="en-US" sz="2000" dirty="0"/>
              <a:t>}</a:t>
            </a:r>
          </a:p>
          <a:p>
            <a:pPr marL="457200" lvl="1" indent="0">
              <a:buNone/>
            </a:pPr>
            <a:r>
              <a:rPr lang="en-US" sz="2000" dirty="0"/>
              <a:t>//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const </a:t>
            </a:r>
            <a:r>
              <a:rPr lang="en-US" sz="2000" dirty="0" err="1"/>
              <a:t>tk</a:t>
            </a:r>
            <a:r>
              <a:rPr lang="en-US" sz="2000" dirty="0"/>
              <a:t> = new </a:t>
            </a:r>
            <a:r>
              <a:rPr lang="en-US" sz="2000" dirty="0" err="1"/>
              <a:t>TaiKhoanNganHang</a:t>
            </a:r>
            <a:r>
              <a:rPr lang="en-US" sz="2000" dirty="0"/>
              <a:t>();</a:t>
            </a:r>
          </a:p>
          <a:p>
            <a:pPr marL="457200" lvl="1" indent="0">
              <a:buNone/>
            </a:pPr>
            <a:r>
              <a:rPr lang="en-US" sz="2000" dirty="0" err="1"/>
              <a:t>tk.napTien</a:t>
            </a:r>
            <a:r>
              <a:rPr lang="en-US" sz="2000" dirty="0"/>
              <a:t>(1000);</a:t>
            </a:r>
          </a:p>
          <a:p>
            <a:pPr marL="457200" lvl="1" indent="0">
              <a:buNone/>
            </a:pPr>
            <a:r>
              <a:rPr lang="en-US" sz="2000" dirty="0"/>
              <a:t>console.log(</a:t>
            </a:r>
            <a:r>
              <a:rPr lang="en-US" sz="2000" dirty="0" err="1"/>
              <a:t>tk.xemSoDu</a:t>
            </a:r>
            <a:r>
              <a:rPr lang="en-US" sz="2000" dirty="0"/>
              <a:t>());</a:t>
            </a:r>
          </a:p>
          <a:p>
            <a:pPr marL="457200" lvl="1" indent="0">
              <a:buNone/>
            </a:pPr>
            <a:r>
              <a:rPr lang="en-US" sz="2000" dirty="0" err="1"/>
              <a:t>tk.soDu</a:t>
            </a:r>
            <a:r>
              <a:rPr lang="en-US" sz="2000" dirty="0"/>
              <a:t> = 1000000; // </a:t>
            </a:r>
            <a:r>
              <a:rPr lang="en-US" sz="2000" dirty="0" err="1"/>
              <a:t>lỗi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dirty="0"/>
          </a:p>
          <a:p>
            <a:endParaRPr lang="vi-VN" dirty="0"/>
          </a:p>
          <a:p>
            <a:pPr lvl="1"/>
            <a:endParaRPr lang="vi-VN" dirty="0">
              <a:effectLst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953108-A507-F107-F3C0-3B1BF6FEE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KHOA CÔNG NGHỆ THÔNG TIN – LẬP TRÌNH TYPESCRIPT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EBED0-DB23-BCC3-C0F4-CF4FFA75D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4956B4-6C23-AD10-0DBF-DB92017DF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Encapsulation</a:t>
            </a:r>
          </a:p>
        </p:txBody>
      </p:sp>
    </p:spTree>
    <p:extLst>
      <p:ext uri="{BB962C8B-B14F-4D97-AF65-F5344CB8AC3E}">
        <p14:creationId xmlns:p14="http://schemas.microsoft.com/office/powerpoint/2010/main" val="98642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7FA7A-B05D-BC45-750F-787862778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C3977F-1F9D-3485-8FBD-BA17AF21A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9498"/>
            <a:ext cx="12192000" cy="5459412"/>
          </a:xfrm>
        </p:spPr>
        <p:txBody>
          <a:bodyPr>
            <a:normAutofit fontScale="92500"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Tính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kế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thừa</a:t>
            </a:r>
            <a:r>
              <a:rPr lang="en-US" dirty="0"/>
              <a:t>: </a:t>
            </a:r>
            <a:r>
              <a:rPr lang="vi-VN" dirty="0" err="1"/>
              <a:t>Class</a:t>
            </a:r>
            <a:r>
              <a:rPr lang="vi-VN" dirty="0"/>
              <a:t> con </a:t>
            </a:r>
            <a:r>
              <a:rPr lang="vi-VN" b="1" dirty="0"/>
              <a:t>kế thừa</a:t>
            </a:r>
            <a:r>
              <a:rPr lang="vi-VN" dirty="0"/>
              <a:t> thuộc tính và phương thức từ </a:t>
            </a:r>
            <a:r>
              <a:rPr lang="en-US" dirty="0"/>
              <a:t>C</a:t>
            </a:r>
            <a:r>
              <a:rPr lang="vi-VN" dirty="0" err="1"/>
              <a:t>lass</a:t>
            </a:r>
            <a:r>
              <a:rPr lang="vi-VN" dirty="0"/>
              <a:t> cha.</a:t>
            </a:r>
            <a:endParaRPr lang="en-US" dirty="0"/>
          </a:p>
          <a:p>
            <a:r>
              <a:rPr lang="vi-VN" b="1" dirty="0"/>
              <a:t>Ví dụ: </a:t>
            </a:r>
            <a:endParaRPr lang="en-US" b="1" dirty="0"/>
          </a:p>
          <a:p>
            <a:pPr lvl="1"/>
            <a:r>
              <a:rPr lang="vi-VN" b="1" dirty="0"/>
              <a:t>Con người</a:t>
            </a:r>
            <a:r>
              <a:rPr lang="vi-VN" dirty="0"/>
              <a:t> có:</a:t>
            </a:r>
          </a:p>
          <a:p>
            <a:pPr lvl="2"/>
            <a:r>
              <a:rPr lang="vi-VN" dirty="0"/>
              <a:t>tên</a:t>
            </a:r>
          </a:p>
          <a:p>
            <a:pPr lvl="2"/>
            <a:r>
              <a:rPr lang="vi-VN" dirty="0"/>
              <a:t>tuổi</a:t>
            </a:r>
          </a:p>
          <a:p>
            <a:pPr lvl="2"/>
            <a:r>
              <a:rPr lang="vi-VN" dirty="0"/>
              <a:t>ăn</a:t>
            </a:r>
          </a:p>
          <a:p>
            <a:pPr lvl="2"/>
            <a:r>
              <a:rPr lang="vi-VN" dirty="0"/>
              <a:t>ngủ</a:t>
            </a:r>
          </a:p>
          <a:p>
            <a:pPr lvl="1"/>
            <a:r>
              <a:rPr lang="en-US" dirty="0"/>
              <a:t>👨‍🎓 </a:t>
            </a:r>
            <a:r>
              <a:rPr lang="vi-VN" b="1" dirty="0"/>
              <a:t>Sinh viên</a:t>
            </a:r>
            <a:r>
              <a:rPr lang="vi-VN" dirty="0"/>
              <a:t> cũng là </a:t>
            </a:r>
            <a:r>
              <a:rPr lang="vi-VN" b="1" dirty="0"/>
              <a:t>con người</a:t>
            </a:r>
            <a:r>
              <a:rPr lang="vi-VN" dirty="0"/>
              <a:t>, nên:</a:t>
            </a:r>
          </a:p>
          <a:p>
            <a:pPr lvl="1"/>
            <a:r>
              <a:rPr lang="vi-VN" dirty="0"/>
              <a:t>Có </a:t>
            </a:r>
            <a:r>
              <a:rPr lang="vi-VN" b="1" dirty="0"/>
              <a:t>tên, tuổi</a:t>
            </a:r>
            <a:endParaRPr lang="vi-VN" dirty="0"/>
          </a:p>
          <a:p>
            <a:pPr lvl="1"/>
            <a:r>
              <a:rPr lang="vi-VN" dirty="0"/>
              <a:t>Biết </a:t>
            </a:r>
            <a:r>
              <a:rPr lang="vi-VN" b="1" dirty="0"/>
              <a:t>ăn, ngủ</a:t>
            </a:r>
            <a:endParaRPr lang="vi-VN" dirty="0"/>
          </a:p>
          <a:p>
            <a:pPr lvl="1"/>
            <a:r>
              <a:rPr lang="vi-VN" dirty="0"/>
              <a:t>Ngoài ra còn có thêm:</a:t>
            </a:r>
          </a:p>
          <a:p>
            <a:pPr lvl="2"/>
            <a:r>
              <a:rPr lang="vi-VN" dirty="0"/>
              <a:t>mã sinh viên</a:t>
            </a:r>
          </a:p>
          <a:p>
            <a:pPr lvl="2"/>
            <a:r>
              <a:rPr lang="vi-VN" dirty="0"/>
              <a:t>học bài</a:t>
            </a:r>
            <a:endParaRPr lang="en-US" dirty="0"/>
          </a:p>
          <a:p>
            <a:pPr marL="914400" lvl="2" indent="0">
              <a:buNone/>
            </a:pPr>
            <a:br>
              <a:rPr lang="vi-VN" dirty="0"/>
            </a:br>
            <a:r>
              <a:rPr lang="en-US" dirty="0"/>
              <a:t>👉 </a:t>
            </a:r>
            <a:r>
              <a:rPr lang="vi-VN" dirty="0"/>
              <a:t>Vì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vi-VN" b="1" dirty="0"/>
              <a:t>sinh viên </a:t>
            </a:r>
            <a:r>
              <a:rPr lang="vi-VN" b="1" dirty="0">
                <a:solidFill>
                  <a:srgbClr val="FF0000"/>
                </a:solidFill>
              </a:rPr>
              <a:t>KẾ THỪA </a:t>
            </a:r>
            <a:r>
              <a:rPr lang="vi-VN" b="1" dirty="0"/>
              <a:t>từ con người</a:t>
            </a:r>
            <a:r>
              <a:rPr lang="en-US" b="1" dirty="0"/>
              <a:t>, </a:t>
            </a:r>
            <a:r>
              <a:rPr lang="vi-VN" dirty="0"/>
              <a:t>Ta không cần dạy lại cho sinh viên cách </a:t>
            </a:r>
            <a:r>
              <a:rPr lang="vi-VN" i="1" dirty="0"/>
              <a:t>ăn</a:t>
            </a:r>
            <a:r>
              <a:rPr lang="vi-VN" dirty="0"/>
              <a:t> hay </a:t>
            </a:r>
            <a:r>
              <a:rPr lang="vi-VN" i="1" dirty="0"/>
              <a:t>ngủ</a:t>
            </a:r>
            <a:endParaRPr lang="vi-VN" dirty="0"/>
          </a:p>
          <a:p>
            <a:pPr lvl="1"/>
            <a:endParaRPr lang="vi-VN" dirty="0">
              <a:effectLst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105878-7C20-3BEA-FCB2-C7C09377F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A67FD-80F1-26EF-53D8-904246CC2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B3A253-0009-529D-5BD8-2B6EE88EE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(Inheritance)</a:t>
            </a:r>
          </a:p>
        </p:txBody>
      </p:sp>
    </p:spTree>
    <p:extLst>
      <p:ext uri="{BB962C8B-B14F-4D97-AF65-F5344CB8AC3E}">
        <p14:creationId xmlns:p14="http://schemas.microsoft.com/office/powerpoint/2010/main" val="2383579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2ED14-93AD-31C0-605A-0D049345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187AE9-3C68-5F0D-9BD1-7F37042D2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9497"/>
            <a:ext cx="12192000" cy="58702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🧠 </a:t>
            </a:r>
            <a:r>
              <a:rPr lang="en-US" sz="2400" b="1" dirty="0">
                <a:solidFill>
                  <a:srgbClr val="FF0000"/>
                </a:solidFill>
              </a:rPr>
              <a:t>Liên </a:t>
            </a:r>
            <a:r>
              <a:rPr lang="en-US" sz="2400" b="1" dirty="0" err="1">
                <a:solidFill>
                  <a:srgbClr val="FF0000"/>
                </a:solidFill>
              </a:rPr>
              <a:t>hệ</a:t>
            </a:r>
            <a:r>
              <a:rPr lang="en-US" sz="2400" b="1" dirty="0">
                <a:solidFill>
                  <a:srgbClr val="FF0000"/>
                </a:solidFill>
              </a:rPr>
              <a:t> sang </a:t>
            </a:r>
            <a:r>
              <a:rPr lang="en-US" sz="2400" b="1" dirty="0" err="1">
                <a:solidFill>
                  <a:srgbClr val="FF0000"/>
                </a:solidFill>
              </a:rPr>
              <a:t>lập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trình</a:t>
            </a:r>
            <a:r>
              <a:rPr lang="en-US" sz="2400" b="1" dirty="0">
                <a:solidFill>
                  <a:srgbClr val="FF0000"/>
                </a:solidFill>
              </a:rPr>
              <a:t> (TypeScript)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457200" lvl="1" indent="0">
              <a:buNone/>
            </a:pPr>
            <a:br>
              <a:rPr lang="en-US" dirty="0"/>
            </a:br>
            <a:endParaRPr lang="en-US" dirty="0"/>
          </a:p>
          <a:p>
            <a:pPr lvl="1"/>
            <a:endParaRPr lang="vi-VN" dirty="0">
              <a:effectLst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5A18D-B8AA-A9CB-F599-6C04521D6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9337D-C2CB-1135-4A28-77C17E2B1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568183-0E63-E0A5-A35E-1623CE165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(Inheritance)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60A634-52F6-1CC9-83A6-17E8059DC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653522"/>
              </p:ext>
            </p:extLst>
          </p:nvPr>
        </p:nvGraphicFramePr>
        <p:xfrm>
          <a:off x="98611" y="1356360"/>
          <a:ext cx="11994777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824">
                  <a:extLst>
                    <a:ext uri="{9D8B030D-6E8A-4147-A177-3AD203B41FA5}">
                      <a16:colId xmlns:a16="http://schemas.microsoft.com/office/drawing/2014/main" val="1201751452"/>
                    </a:ext>
                  </a:extLst>
                </a:gridCol>
                <a:gridCol w="4320989">
                  <a:extLst>
                    <a:ext uri="{9D8B030D-6E8A-4147-A177-3AD203B41FA5}">
                      <a16:colId xmlns:a16="http://schemas.microsoft.com/office/drawing/2014/main" val="19502662"/>
                    </a:ext>
                  </a:extLst>
                </a:gridCol>
                <a:gridCol w="3818964">
                  <a:extLst>
                    <a:ext uri="{9D8B030D-6E8A-4147-A177-3AD203B41FA5}">
                      <a16:colId xmlns:a16="http://schemas.microsoft.com/office/drawing/2014/main" val="21000024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Sử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4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r>
                        <a:rPr lang="en-US" sz="22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ConNguoi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ten: string;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tuoi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number;</a:t>
                      </a:r>
                    </a:p>
                    <a:p>
                      <a:pPr marL="0" lvl="0" indent="0">
                        <a:buNone/>
                      </a:pP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an(): void {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console.log("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Đang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ăn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");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pPr marL="0" lvl="0" indent="0">
                        <a:buNone/>
                      </a:pP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(): void {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console.log("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Đang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ngủ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");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r>
                        <a:rPr lang="en-US" sz="22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SinhVien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extends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ConNguoi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maSinhVien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string;</a:t>
                      </a:r>
                    </a:p>
                    <a:p>
                      <a:pPr marL="0" lvl="0" indent="0">
                        <a:buNone/>
                      </a:pP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hocBai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(): void {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console.log("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Đang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");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new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SinhVien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();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sv.ten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"An";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sv.tuoi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20;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sv.maSinhVien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"SV001";</a:t>
                      </a:r>
                    </a:p>
                    <a:p>
                      <a:pPr marL="0" lvl="0" indent="0">
                        <a:buNone/>
                      </a:pP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sv.an();      //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thừa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sv.ngu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();     //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thừa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sv.hocBai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();  //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riêng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SinhVien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478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49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F10A6-8A24-75EA-FA9E-19D7EBCC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150EB9-98D8-A5E4-85E3-FED7F0995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9498"/>
            <a:ext cx="12192000" cy="5459412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Tính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hình</a:t>
            </a:r>
            <a:r>
              <a:rPr lang="en-US" dirty="0"/>
              <a:t> :</a:t>
            </a:r>
            <a:r>
              <a:rPr lang="vi-VN" b="1" dirty="0"/>
              <a:t> Cùng một hành động, nhưng cách thực hiện khác nhau tùy đối tượng</a:t>
            </a:r>
            <a:endParaRPr lang="vi-VN" dirty="0"/>
          </a:p>
          <a:p>
            <a:r>
              <a:rPr lang="vi-VN" dirty="0"/>
              <a:t>Nói cách khác:</a:t>
            </a:r>
            <a:r>
              <a:rPr lang="en-US" dirty="0"/>
              <a:t> </a:t>
            </a:r>
            <a:r>
              <a:rPr lang="vi-VN" dirty="0"/>
              <a:t>Cùng tên</a:t>
            </a:r>
            <a:r>
              <a:rPr lang="en-US" dirty="0"/>
              <a:t>, n</a:t>
            </a:r>
            <a:r>
              <a:rPr lang="vi-VN" dirty="0"/>
              <a:t>hưng hành vi khác nhau</a:t>
            </a:r>
          </a:p>
          <a:p>
            <a:r>
              <a:rPr lang="en-US" b="1" dirty="0"/>
              <a:t>📱 </a:t>
            </a:r>
            <a:r>
              <a:rPr lang="vi-VN" b="1" dirty="0"/>
              <a:t>Ví dụ: Nút “Gọi”</a:t>
            </a:r>
          </a:p>
          <a:p>
            <a:pPr lvl="1"/>
            <a:r>
              <a:rPr lang="vi-VN" dirty="0"/>
              <a:t>Cùng một nút </a:t>
            </a:r>
            <a:r>
              <a:rPr lang="vi-VN" b="1" dirty="0"/>
              <a:t>“Gọi”</a:t>
            </a:r>
            <a:r>
              <a:rPr lang="vi-VN" dirty="0"/>
              <a:t>, nhưng:</a:t>
            </a:r>
          </a:p>
          <a:p>
            <a:pPr lvl="1"/>
            <a:r>
              <a:rPr lang="vi-VN" dirty="0"/>
              <a:t>Gọi </a:t>
            </a:r>
            <a:r>
              <a:rPr lang="vi-VN" b="1" dirty="0"/>
              <a:t>mẹ</a:t>
            </a:r>
            <a:r>
              <a:rPr lang="vi-VN" dirty="0"/>
              <a:t> → nói chuyện gia đình</a:t>
            </a:r>
          </a:p>
          <a:p>
            <a:pPr lvl="1"/>
            <a:r>
              <a:rPr lang="vi-VN" dirty="0"/>
              <a:t>Gọi </a:t>
            </a:r>
            <a:r>
              <a:rPr lang="vi-VN" b="1" dirty="0"/>
              <a:t>sếp</a:t>
            </a:r>
            <a:r>
              <a:rPr lang="vi-VN" dirty="0"/>
              <a:t> → nói chuyện công việc</a:t>
            </a:r>
          </a:p>
          <a:p>
            <a:pPr lvl="1"/>
            <a:r>
              <a:rPr lang="vi-VN" dirty="0"/>
              <a:t>Gọi </a:t>
            </a:r>
            <a:r>
              <a:rPr lang="vi-VN" b="1" dirty="0"/>
              <a:t>bạn thân</a:t>
            </a:r>
            <a:r>
              <a:rPr lang="vi-VN" dirty="0"/>
              <a:t> → nói chuyện thoải mái</a:t>
            </a:r>
          </a:p>
          <a:p>
            <a:pPr lvl="1"/>
            <a:r>
              <a:rPr lang="vi-VN" dirty="0"/>
              <a:t>➡️ </a:t>
            </a:r>
            <a:r>
              <a:rPr lang="vi-VN" b="1" dirty="0"/>
              <a:t>Cùng hành động: GỌI</a:t>
            </a:r>
            <a:br>
              <a:rPr lang="vi-VN" dirty="0"/>
            </a:br>
            <a:r>
              <a:rPr lang="vi-VN" dirty="0"/>
              <a:t>➡️ </a:t>
            </a:r>
            <a:r>
              <a:rPr lang="vi-VN" b="1" dirty="0"/>
              <a:t>Kết quả khác nhau tùy đối tượng</a:t>
            </a:r>
            <a:endParaRPr lang="vi-VN" dirty="0"/>
          </a:p>
          <a:p>
            <a:pPr lvl="1"/>
            <a:r>
              <a:rPr lang="en-US" dirty="0"/>
              <a:t>👉 </a:t>
            </a:r>
            <a:r>
              <a:rPr lang="vi-VN" dirty="0"/>
              <a:t>Đó chính là </a:t>
            </a:r>
            <a:r>
              <a:rPr lang="vi-VN" b="1" dirty="0"/>
              <a:t>đa hình</a:t>
            </a:r>
            <a:endParaRPr lang="vi-V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4FF40-BFEB-BF7E-305A-EDFABDF1E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D0C38-9D2C-2109-60B8-CE5B6D870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A33FBD-CC7E-2991-EFF5-0CB98AAF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(Polymorphism)</a:t>
            </a:r>
          </a:p>
        </p:txBody>
      </p:sp>
    </p:spTree>
    <p:extLst>
      <p:ext uri="{BB962C8B-B14F-4D97-AF65-F5344CB8AC3E}">
        <p14:creationId xmlns:p14="http://schemas.microsoft.com/office/powerpoint/2010/main" val="3686355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DE9C7-119F-C5E7-9D70-716AA57F5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444497-7595-959F-C371-212E5CD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9498"/>
            <a:ext cx="12192000" cy="483321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Liên </a:t>
            </a:r>
            <a:r>
              <a:rPr lang="en-US" b="1" dirty="0" err="1">
                <a:solidFill>
                  <a:srgbClr val="FF0000"/>
                </a:solidFill>
              </a:rPr>
              <a:t>hệ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với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lập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trình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endParaRPr lang="vi-V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3A77F2-B75F-52CE-059A-C719FAFB0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30ED9-C361-381A-4946-F3C3D11F0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33D8B7-3838-7218-536C-B8FABFE2A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(Polymorphism)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494D66-BEAA-B45E-A97C-6AAF2FB8C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122207"/>
              </p:ext>
            </p:extLst>
          </p:nvPr>
        </p:nvGraphicFramePr>
        <p:xfrm>
          <a:off x="0" y="1225287"/>
          <a:ext cx="12192000" cy="4356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965">
                  <a:extLst>
                    <a:ext uri="{9D8B030D-6E8A-4147-A177-3AD203B41FA5}">
                      <a16:colId xmlns:a16="http://schemas.microsoft.com/office/drawing/2014/main" val="2093836152"/>
                    </a:ext>
                  </a:extLst>
                </a:gridCol>
                <a:gridCol w="5071035">
                  <a:extLst>
                    <a:ext uri="{9D8B030D-6E8A-4147-A177-3AD203B41FA5}">
                      <a16:colId xmlns:a16="http://schemas.microsoft.com/office/drawing/2014/main" val="276380885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98458786"/>
                    </a:ext>
                  </a:extLst>
                </a:gridCol>
              </a:tblGrid>
              <a:tr h="34456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Sử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580924"/>
                  </a:ext>
                </a:extLst>
              </a:tr>
              <a:tr h="399119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LienHe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goi(): void {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console.log("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Đang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gọi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...");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Me extends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LienHe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goi(): void {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console.log("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Gọi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mẹ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nói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chuyện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đình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");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Sep extends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LienHe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goi(): void {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console.log("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Gọi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sếp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nói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chuyện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việc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");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BanThan extends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LienHe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goi(): void {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console.log("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Gọi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bạn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thân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nói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chuyện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thoải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");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danhBa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LienHe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[] = [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new Me(),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new Sep(),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new BanThan()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];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(let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nguoi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danhBa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{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nguoi.goi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();</a:t>
                      </a:r>
                    </a:p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2138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FD4EABD-779E-C0AE-3C3C-98B6DE5D2F03}"/>
              </a:ext>
            </a:extLst>
          </p:cNvPr>
          <p:cNvSpPr txBox="1"/>
          <p:nvPr/>
        </p:nvSpPr>
        <p:spPr>
          <a:xfrm>
            <a:off x="111967" y="5734379"/>
            <a:ext cx="119898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ớp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viết lại phương thức đã có ở lớp </a:t>
            </a:r>
            <a:r>
              <a:rPr lang="vi-V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</a:t>
            </a:r>
            <a:r>
              <a:rPr lang="vi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,với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cùng tên, cùng tham số, cùng kiểu trả </a:t>
            </a:r>
            <a:r>
              <a:rPr lang="vi-V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vi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,nhưng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 khác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đè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vi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Overriding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156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B7CD7-9C9D-7F16-E469-592124CE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54F089-9DD5-28B5-5405-64BF3C06C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9498"/>
            <a:ext cx="12192000" cy="5459412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Tính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trừu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tượng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vi-VN" dirty="0"/>
              <a:t> Chỉ cho người dùng biết </a:t>
            </a:r>
            <a:r>
              <a:rPr lang="en-US" dirty="0" err="1">
                <a:solidFill>
                  <a:srgbClr val="FF0000"/>
                </a:solidFill>
              </a:rPr>
              <a:t>cái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gì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vi-VN" dirty="0"/>
              <a:t>làm được,</a:t>
            </a:r>
            <a:r>
              <a:rPr lang="en-US" dirty="0"/>
              <a:t> </a:t>
            </a:r>
            <a:r>
              <a:rPr lang="vi-VN" dirty="0"/>
              <a:t>không cần biết </a:t>
            </a:r>
            <a:r>
              <a:rPr lang="en-US" dirty="0" err="1">
                <a:solidFill>
                  <a:srgbClr val="FF0000"/>
                </a:solidFill>
              </a:rPr>
              <a:t>nó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làm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như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thế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nào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vi-VN" b="1" dirty="0"/>
              <a:t>Ví dụ: LÁI XE Ô TÔ</a:t>
            </a:r>
          </a:p>
          <a:p>
            <a:pPr lvl="1"/>
            <a:r>
              <a:rPr lang="vi-VN" b="1" dirty="0"/>
              <a:t>Khi bạn lái xe, bạn chỉ cần biết</a:t>
            </a:r>
            <a:r>
              <a:rPr lang="vi-VN" dirty="0"/>
              <a:t>:</a:t>
            </a:r>
          </a:p>
          <a:p>
            <a:pPr lvl="2"/>
            <a:r>
              <a:rPr lang="vi-VN" dirty="0"/>
              <a:t>Nhấn </a:t>
            </a:r>
            <a:r>
              <a:rPr lang="vi-VN" b="1" dirty="0"/>
              <a:t>ga</a:t>
            </a:r>
            <a:r>
              <a:rPr lang="vi-VN" dirty="0"/>
              <a:t> → xe chạy</a:t>
            </a:r>
          </a:p>
          <a:p>
            <a:pPr lvl="2"/>
            <a:r>
              <a:rPr lang="vi-VN" dirty="0"/>
              <a:t>Đạp </a:t>
            </a:r>
            <a:r>
              <a:rPr lang="vi-VN" b="1" dirty="0"/>
              <a:t>phanh</a:t>
            </a:r>
            <a:r>
              <a:rPr lang="vi-VN" dirty="0"/>
              <a:t> → xe dừng</a:t>
            </a:r>
          </a:p>
          <a:p>
            <a:pPr lvl="2"/>
            <a:r>
              <a:rPr lang="vi-VN" dirty="0"/>
              <a:t>Xoay </a:t>
            </a:r>
            <a:r>
              <a:rPr lang="vi-VN" b="1" dirty="0"/>
              <a:t>vô lăng</a:t>
            </a:r>
            <a:r>
              <a:rPr lang="vi-VN" dirty="0"/>
              <a:t> → xe rẽ</a:t>
            </a:r>
          </a:p>
          <a:p>
            <a:pPr lvl="1"/>
            <a:r>
              <a:rPr lang="vi-VN" dirty="0"/>
              <a:t>Bạn </a:t>
            </a:r>
            <a:r>
              <a:rPr lang="vi-VN" b="1" dirty="0"/>
              <a:t>không cần biết</a:t>
            </a:r>
            <a:r>
              <a:rPr lang="vi-VN" dirty="0"/>
              <a:t>:</a:t>
            </a:r>
          </a:p>
          <a:p>
            <a:pPr lvl="2"/>
            <a:r>
              <a:rPr lang="vi-VN" dirty="0"/>
              <a:t>Động cơ hoạt động thế nào</a:t>
            </a:r>
          </a:p>
          <a:p>
            <a:pPr lvl="2"/>
            <a:r>
              <a:rPr lang="vi-VN" dirty="0"/>
              <a:t>Xăng đốt ra sao</a:t>
            </a:r>
          </a:p>
          <a:p>
            <a:pPr lvl="2"/>
            <a:r>
              <a:rPr lang="vi-VN" dirty="0"/>
              <a:t>Hộp số truyền lực kiểu gì</a:t>
            </a:r>
          </a:p>
          <a:p>
            <a:pPr lvl="1"/>
            <a:r>
              <a:rPr lang="en-US" dirty="0"/>
              <a:t>👉 </a:t>
            </a:r>
            <a:r>
              <a:rPr lang="vi-VN" dirty="0"/>
              <a:t>Đó chính là </a:t>
            </a:r>
            <a:r>
              <a:rPr lang="vi-VN" b="1" dirty="0"/>
              <a:t>tính trừu tượng</a:t>
            </a:r>
            <a:endParaRPr lang="vi-VN" dirty="0"/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vi-V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26E6A8-C9B8-FA04-CAEE-B259B114E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8B9C4-8659-8376-8F58-C64AD5B83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03E96D-98A5-8CD5-1121-3C5C10D1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trừu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(Abstraction)</a:t>
            </a:r>
          </a:p>
        </p:txBody>
      </p:sp>
    </p:spTree>
    <p:extLst>
      <p:ext uri="{BB962C8B-B14F-4D97-AF65-F5344CB8AC3E}">
        <p14:creationId xmlns:p14="http://schemas.microsoft.com/office/powerpoint/2010/main" val="3871881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C0BD1-F382-5023-986D-F1106B4D0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1A4FCD-6C1C-13B3-738F-15EFA938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9498"/>
            <a:ext cx="12192000" cy="54594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Liên </a:t>
            </a:r>
            <a:r>
              <a:rPr lang="en-US" b="1" dirty="0" err="1">
                <a:solidFill>
                  <a:srgbClr val="FF0000"/>
                </a:solidFill>
              </a:rPr>
              <a:t>hệ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với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lập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trình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endParaRPr lang="vi-V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76A30-289A-2A49-2626-F650815E7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69A38-DD39-2AC8-B491-7C30C87E0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2F08BB-A34D-8310-C15B-60C2BE7D8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trừu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(Abstraction)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285D19-542E-AE9A-D7E5-441E5291C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994899"/>
              </p:ext>
            </p:extLst>
          </p:nvPr>
        </p:nvGraphicFramePr>
        <p:xfrm>
          <a:off x="0" y="1225287"/>
          <a:ext cx="12192000" cy="3324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965">
                  <a:extLst>
                    <a:ext uri="{9D8B030D-6E8A-4147-A177-3AD203B41FA5}">
                      <a16:colId xmlns:a16="http://schemas.microsoft.com/office/drawing/2014/main" val="2093836152"/>
                    </a:ext>
                  </a:extLst>
                </a:gridCol>
                <a:gridCol w="5071035">
                  <a:extLst>
                    <a:ext uri="{9D8B030D-6E8A-4147-A177-3AD203B41FA5}">
                      <a16:colId xmlns:a16="http://schemas.microsoft.com/office/drawing/2014/main" val="276380885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98458786"/>
                    </a:ext>
                  </a:extLst>
                </a:gridCol>
              </a:tblGrid>
              <a:tr h="26213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Sử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580924"/>
                  </a:ext>
                </a:extLst>
              </a:tr>
              <a:tr h="295906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OTo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abstract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chay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(): void;</a:t>
                      </a: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abstract dung(): void;</a:t>
                      </a: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XeXang</a:t>
                      </a:r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extends</a:t>
                      </a:r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OTo</a:t>
                      </a:r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chay(): </a:t>
                      </a:r>
                      <a:r>
                        <a:rPr lang="vi-V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console.log("Xe chạy bằng xăng");</a:t>
                      </a:r>
                    </a:p>
                    <a:p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endParaRPr lang="vi-V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dung(): </a:t>
                      </a:r>
                      <a:r>
                        <a:rPr lang="vi-V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console.log("Xe dừng bằng phanh cơ");</a:t>
                      </a:r>
                    </a:p>
                    <a:p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</a:t>
                      </a:r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xe: </a:t>
                      </a:r>
                      <a:r>
                        <a:rPr lang="vi-V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OTo</a:t>
                      </a:r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vi-V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</a:t>
                      </a:r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XeXang</a:t>
                      </a:r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();</a:t>
                      </a:r>
                    </a:p>
                    <a:p>
                      <a:endParaRPr lang="vi-V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vi-V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xe.chay</a:t>
                      </a:r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(); // Xe chạy bằng xăng</a:t>
                      </a:r>
                    </a:p>
                    <a:p>
                      <a:r>
                        <a:rPr lang="vi-V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xe.dung</a:t>
                      </a:r>
                      <a:r>
                        <a:rPr lang="vi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(); // Xe dừng bằng phanh cơ</a:t>
                      </a:r>
                    </a:p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213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60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55A11-7944-7BA2-7B1C-85C83B139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7EE9A8-F014-B2BB-449D-632383069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9498"/>
            <a:ext cx="12192000" cy="54594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Interface:</a:t>
            </a:r>
            <a:r>
              <a:rPr lang="vi-VN" dirty="0" err="1"/>
              <a:t>Interface</a:t>
            </a:r>
            <a:r>
              <a:rPr lang="vi-VN" dirty="0"/>
              <a:t> là bản thiết kế (hợp đồng) quy định một đối tượng hoặc </a:t>
            </a:r>
            <a:r>
              <a:rPr lang="vi-VN" dirty="0" err="1"/>
              <a:t>class</a:t>
            </a:r>
            <a:r>
              <a:rPr lang="vi-VN" dirty="0"/>
              <a:t> phải có những gì, nhưng không nói làm như thế nào.</a:t>
            </a:r>
            <a:endParaRPr lang="en-US" dirty="0"/>
          </a:p>
          <a:p>
            <a:pPr lvl="1"/>
            <a:r>
              <a:rPr lang="vi-VN" dirty="0" err="1"/>
              <a:t>Interface</a:t>
            </a:r>
            <a:r>
              <a:rPr lang="vi-VN" dirty="0"/>
              <a:t> giống như danh sách yêu cầu.</a:t>
            </a:r>
            <a:endParaRPr lang="en-US" dirty="0"/>
          </a:p>
          <a:p>
            <a:pPr lvl="1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interface.</a:t>
            </a:r>
          </a:p>
          <a:p>
            <a:pPr lvl="1"/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cứ</a:t>
            </a:r>
            <a:r>
              <a:rPr lang="en-US" dirty="0"/>
              <a:t> class </a:t>
            </a:r>
            <a:r>
              <a:rPr lang="en-US" dirty="0" err="1"/>
              <a:t>nào</a:t>
            </a:r>
            <a:r>
              <a:rPr lang="en-US" dirty="0"/>
              <a:t> implements interface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interface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.</a:t>
            </a:r>
          </a:p>
          <a:p>
            <a:endParaRPr lang="en-US" i="1" dirty="0"/>
          </a:p>
          <a:p>
            <a:r>
              <a:rPr lang="vi-VN" dirty="0"/>
              <a:t>Ví dụ:</a:t>
            </a:r>
          </a:p>
          <a:p>
            <a:pPr lvl="1"/>
            <a:r>
              <a:rPr lang="vi-VN" dirty="0"/>
              <a:t>“Muốn được gọi là </a:t>
            </a:r>
            <a:r>
              <a:rPr lang="vi-VN" b="1" dirty="0" err="1"/>
              <a:t>User</a:t>
            </a:r>
            <a:r>
              <a:rPr lang="vi-VN" dirty="0"/>
              <a:t> thì </a:t>
            </a:r>
            <a:r>
              <a:rPr lang="vi-VN" b="1" dirty="0"/>
              <a:t>bắt buộc</a:t>
            </a:r>
            <a:r>
              <a:rPr lang="vi-VN" dirty="0"/>
              <a:t> phải có </a:t>
            </a:r>
            <a:r>
              <a:rPr lang="vi-VN" dirty="0" err="1"/>
              <a:t>id</a:t>
            </a:r>
            <a:r>
              <a:rPr lang="vi-VN" dirty="0"/>
              <a:t>, </a:t>
            </a:r>
            <a:r>
              <a:rPr lang="vi-VN" dirty="0" err="1"/>
              <a:t>name</a:t>
            </a:r>
            <a:r>
              <a:rPr lang="vi-VN" dirty="0"/>
              <a:t>, </a:t>
            </a:r>
            <a:r>
              <a:rPr lang="vi-VN" dirty="0" err="1"/>
              <a:t>email</a:t>
            </a:r>
            <a:r>
              <a:rPr lang="vi-VN" dirty="0"/>
              <a:t>.”</a:t>
            </a:r>
            <a:r>
              <a:rPr lang="en-US" dirty="0"/>
              <a:t>, c</a:t>
            </a:r>
            <a:r>
              <a:rPr lang="vi-VN" dirty="0" err="1"/>
              <a:t>òn</a:t>
            </a:r>
            <a:r>
              <a:rPr lang="vi-VN" dirty="0"/>
              <a:t> xử lý bên trong ra sao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ý.</a:t>
            </a:r>
            <a:endParaRPr lang="vi-VN" dirty="0"/>
          </a:p>
          <a:p>
            <a:endParaRPr lang="en-US" dirty="0">
              <a:solidFill>
                <a:srgbClr val="FF0000"/>
              </a:solidFill>
            </a:endParaRPr>
          </a:p>
          <a:p>
            <a:endParaRPr lang="vi-V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E8810E-4C4B-1C64-1EA5-45362371A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58989-E56D-F319-927B-4389DB7FF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B5EBE5-46A6-EF61-D557-2F5C7918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3794429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8E19D-5F3E-44D7-D635-607D3E8C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FA27DA-5AE1-DFBC-90DE-FF23F8EA2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9498"/>
            <a:ext cx="12192000" cy="545941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Cú </a:t>
            </a:r>
            <a:r>
              <a:rPr lang="en-US" dirty="0" err="1">
                <a:solidFill>
                  <a:srgbClr val="FF0000"/>
                </a:solidFill>
              </a:rPr>
              <a:t>pháp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vi-V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570205-4C32-880D-C064-1233D3F7E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B5340-F89D-1CAC-E25E-877E9E953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996CD0-4C45-B1E0-411A-4F7D6A78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009269-B47E-2CBE-F967-773C43853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980923"/>
              </p:ext>
            </p:extLst>
          </p:nvPr>
        </p:nvGraphicFramePr>
        <p:xfrm>
          <a:off x="192741" y="1514984"/>
          <a:ext cx="11806518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3259">
                  <a:extLst>
                    <a:ext uri="{9D8B030D-6E8A-4147-A177-3AD203B41FA5}">
                      <a16:colId xmlns:a16="http://schemas.microsoft.com/office/drawing/2014/main" val="3041050667"/>
                    </a:ext>
                  </a:extLst>
                </a:gridCol>
                <a:gridCol w="5903259">
                  <a:extLst>
                    <a:ext uri="{9D8B030D-6E8A-4147-A177-3AD203B41FA5}">
                      <a16:colId xmlns:a16="http://schemas.microsoft.com/office/drawing/2014/main" val="4059335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implement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189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InterfaceName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propertyName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Type;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optionalPropertyName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?: Type;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methodName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(param: Type):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ReturnType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ClassName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implements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InterfaceName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propertyName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Type;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optionalPropertyName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?: Type;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constructor(param: Type) {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//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khởi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tạo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methodName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(param: Type):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ReturnType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//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956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605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1E0F7-3E18-5972-F72C-6F096181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13851-58D4-6F20-B208-1512AA4F3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9498"/>
            <a:ext cx="12192000" cy="5459412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Ví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dụ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endParaRPr lang="vi-VN" dirty="0"/>
          </a:p>
          <a:p>
            <a:endParaRPr lang="en-US" dirty="0">
              <a:solidFill>
                <a:srgbClr val="FF0000"/>
              </a:solidFill>
            </a:endParaRPr>
          </a:p>
          <a:p>
            <a:endParaRPr lang="vi-V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3E10A-7642-B817-DD96-B6E8968BA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D325A-9AD6-E5D0-89C8-4F1A501A9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23DADC-5159-D140-A83B-E1BE1CE4F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25D01C-DF1A-F0F6-17AC-27FADCEDF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767424"/>
              </p:ext>
            </p:extLst>
          </p:nvPr>
        </p:nvGraphicFramePr>
        <p:xfrm>
          <a:off x="278230" y="1374089"/>
          <a:ext cx="11716546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8273">
                  <a:extLst>
                    <a:ext uri="{9D8B030D-6E8A-4147-A177-3AD203B41FA5}">
                      <a16:colId xmlns:a16="http://schemas.microsoft.com/office/drawing/2014/main" val="1571674098"/>
                    </a:ext>
                  </a:extLst>
                </a:gridCol>
                <a:gridCol w="5858273">
                  <a:extLst>
                    <a:ext uri="{9D8B030D-6E8A-4147-A177-3AD203B41FA5}">
                      <a16:colId xmlns:a16="http://schemas.microsoft.com/office/drawing/2014/main" val="569129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4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Animal {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name: string;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speak(): void;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Dog implements Animal {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name: string;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constructor(name: string) {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this.name = name;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speak() {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console.log("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");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}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07738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C8C0B66-82D7-AF73-41A0-83226FA83142}"/>
              </a:ext>
            </a:extLst>
          </p:cNvPr>
          <p:cNvSpPr txBox="1"/>
          <p:nvPr/>
        </p:nvSpPr>
        <p:spPr>
          <a:xfrm>
            <a:off x="109818" y="5324227"/>
            <a:ext cx="6154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👉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speak() →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6118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C785CF0-D5AE-3C6A-3A75-14F303301B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5329998"/>
              </p:ext>
            </p:extLst>
          </p:nvPr>
        </p:nvGraphicFramePr>
        <p:xfrm>
          <a:off x="170329" y="1216324"/>
          <a:ext cx="11815483" cy="3225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69541">
                  <a:extLst>
                    <a:ext uri="{9D8B030D-6E8A-4147-A177-3AD203B41FA5}">
                      <a16:colId xmlns:a16="http://schemas.microsoft.com/office/drawing/2014/main" val="2263202369"/>
                    </a:ext>
                  </a:extLst>
                </a:gridCol>
                <a:gridCol w="4272971">
                  <a:extLst>
                    <a:ext uri="{9D8B030D-6E8A-4147-A177-3AD203B41FA5}">
                      <a16:colId xmlns:a16="http://schemas.microsoft.com/office/drawing/2014/main" val="2084397401"/>
                    </a:ext>
                  </a:extLst>
                </a:gridCol>
                <a:gridCol w="4272971">
                  <a:extLst>
                    <a:ext uri="{9D8B030D-6E8A-4147-A177-3AD203B41FA5}">
                      <a16:colId xmlns:a16="http://schemas.microsoft.com/office/drawing/2014/main" val="1207806524"/>
                    </a:ext>
                  </a:extLst>
                </a:gridCol>
              </a:tblGrid>
              <a:tr h="573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 chí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Class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059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Mục đích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bản thiết kế chung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cho class con, có thể có code triển khai.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bản hợp đồng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mô tả cấu trúc, không có code thực thi.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2003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 khai phương thức</a:t>
                      </a:r>
                      <a:endParaRPr lang="vi-V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 thể có phương thức triển khai và trừu tượng.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 có phương thức triển khai, chỉ khai báo.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0599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 thừa / implement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Lớp con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extends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abstract class.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nhiều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interface.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6662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Constructor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 thể có constructor.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 có constructor.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5729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Thuộc tính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 thể có thuộc tính cụ thể.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nghĩa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thuộc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3682361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9D5BAD-5A95-2290-F109-48AA786C8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07954-0662-D327-E769-C1C6982B2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FF51CD-9F12-29BC-5622-3484A105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SÁNH ABSTRACT CLASS VÀ INTERFACE</a:t>
            </a:r>
          </a:p>
        </p:txBody>
      </p:sp>
    </p:spTree>
    <p:extLst>
      <p:ext uri="{BB962C8B-B14F-4D97-AF65-F5344CB8AC3E}">
        <p14:creationId xmlns:p14="http://schemas.microsoft.com/office/powerpoint/2010/main" val="1252461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5D7E4E-FC73-D2B9-AD04-3C75AC0B6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30" y="799498"/>
            <a:ext cx="11661976" cy="5459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:</a:t>
            </a:r>
            <a:r>
              <a:rPr lang="en-US" dirty="0"/>
              <a:t>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bị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endParaRPr lang="en-US" b="1" dirty="0"/>
          </a:p>
          <a:p>
            <a:r>
              <a:rPr lang="en-US" b="1" dirty="0"/>
              <a:t>📋 </a:t>
            </a:r>
            <a:r>
              <a:rPr lang="vi-VN" b="1" dirty="0"/>
              <a:t>Yêu cầu</a:t>
            </a:r>
          </a:p>
          <a:p>
            <a:r>
              <a:rPr lang="vi-VN" dirty="0"/>
              <a:t>Tạo một </a:t>
            </a:r>
            <a:r>
              <a:rPr lang="vi-VN" b="1" dirty="0" err="1"/>
              <a:t>class</a:t>
            </a:r>
            <a:r>
              <a:rPr lang="vi-VN" b="1" dirty="0"/>
              <a:t> trừu tượng</a:t>
            </a:r>
            <a:r>
              <a:rPr lang="vi-VN" dirty="0"/>
              <a:t> </a:t>
            </a:r>
            <a:r>
              <a:rPr lang="vi-VN" dirty="0" err="1"/>
              <a:t>ThietBi</a:t>
            </a:r>
            <a:endParaRPr lang="vi-VN" dirty="0"/>
          </a:p>
          <a:p>
            <a:pPr lvl="1"/>
            <a:r>
              <a:rPr lang="vi-VN" dirty="0"/>
              <a:t>Có thuộc tính ten</a:t>
            </a:r>
          </a:p>
          <a:p>
            <a:pPr lvl="1"/>
            <a:r>
              <a:rPr lang="vi-VN" dirty="0"/>
              <a:t>Có phương thức trừu tượng </a:t>
            </a:r>
            <a:r>
              <a:rPr lang="vi-VN" dirty="0" err="1"/>
              <a:t>bat</a:t>
            </a:r>
            <a:r>
              <a:rPr lang="vi-VN" dirty="0"/>
              <a:t>()</a:t>
            </a:r>
          </a:p>
          <a:p>
            <a:r>
              <a:rPr lang="vi-VN" dirty="0"/>
              <a:t>Tạo 2 </a:t>
            </a:r>
            <a:r>
              <a:rPr lang="vi-VN" dirty="0" err="1"/>
              <a:t>class</a:t>
            </a:r>
            <a:r>
              <a:rPr lang="vi-VN" dirty="0"/>
              <a:t> kế thừa từ </a:t>
            </a:r>
            <a:r>
              <a:rPr lang="vi-VN" dirty="0" err="1"/>
              <a:t>ThietBi</a:t>
            </a:r>
            <a:r>
              <a:rPr lang="vi-VN" dirty="0"/>
              <a:t>:</a:t>
            </a:r>
          </a:p>
          <a:p>
            <a:pPr lvl="1"/>
            <a:r>
              <a:rPr lang="vi-VN" dirty="0" err="1"/>
              <a:t>Tivi</a:t>
            </a:r>
            <a:endParaRPr lang="vi-VN" dirty="0"/>
          </a:p>
          <a:p>
            <a:pPr lvl="1"/>
            <a:r>
              <a:rPr lang="vi-VN" dirty="0" err="1"/>
              <a:t>QuatMay</a:t>
            </a:r>
            <a:endParaRPr lang="vi-VN" dirty="0"/>
          </a:p>
          <a:p>
            <a:r>
              <a:rPr lang="vi-VN" dirty="0"/>
              <a:t>Mỗi </a:t>
            </a:r>
            <a:r>
              <a:rPr lang="vi-VN" dirty="0" err="1"/>
              <a:t>class</a:t>
            </a:r>
            <a:r>
              <a:rPr lang="vi-VN" dirty="0"/>
              <a:t> con:</a:t>
            </a:r>
          </a:p>
          <a:p>
            <a:pPr lvl="1"/>
            <a:r>
              <a:rPr lang="vi-VN" dirty="0"/>
              <a:t>Cài đặt phương thức </a:t>
            </a:r>
            <a:r>
              <a:rPr lang="vi-VN" dirty="0" err="1"/>
              <a:t>bat</a:t>
            </a:r>
            <a:r>
              <a:rPr lang="vi-VN" dirty="0"/>
              <a:t>() theo cách khác nhau</a:t>
            </a:r>
          </a:p>
          <a:p>
            <a:r>
              <a:rPr lang="vi-VN" dirty="0"/>
              <a:t>Tạo đối tượng và gọi phương thức để minh họa </a:t>
            </a:r>
            <a:r>
              <a:rPr lang="vi-VN" b="1" dirty="0"/>
              <a:t>đa hình</a:t>
            </a:r>
            <a:endParaRPr lang="vi-V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3C3D40-F756-213A-25F6-ADECE88F4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9284D-A27E-EACC-4454-CBF960A17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C88796-0250-10D1-6EC4-FBFF3213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BÀI TẬP THỰC HÀNH SỐ 1</a:t>
            </a:r>
          </a:p>
        </p:txBody>
      </p:sp>
    </p:spTree>
    <p:extLst>
      <p:ext uri="{BB962C8B-B14F-4D97-AF65-F5344CB8AC3E}">
        <p14:creationId xmlns:p14="http://schemas.microsoft.com/office/powerpoint/2010/main" val="2367102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3657C-D390-7BD5-98E6-DE691C4E6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E751CD-2C6A-3D5C-5113-14DA1C09F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30" y="799498"/>
            <a:ext cx="11661976" cy="545941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vi-VN" sz="4500" baseline="-25000" dirty="0" err="1"/>
              <a:t>abstract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class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ThietBi</a:t>
            </a:r>
            <a:r>
              <a:rPr lang="vi-VN" sz="4500" baseline="-25000" dirty="0"/>
              <a:t> {</a:t>
            </a:r>
          </a:p>
          <a:p>
            <a:pPr marL="0" indent="0">
              <a:buNone/>
            </a:pPr>
            <a:r>
              <a:rPr lang="vi-VN" sz="4500" baseline="-25000" dirty="0"/>
              <a:t>  </a:t>
            </a:r>
            <a:r>
              <a:rPr lang="vi-VN" sz="4500" baseline="-25000" dirty="0" err="1"/>
              <a:t>constructor</a:t>
            </a:r>
            <a:r>
              <a:rPr lang="vi-VN" sz="4500" baseline="-25000" dirty="0"/>
              <a:t>(</a:t>
            </a:r>
            <a:r>
              <a:rPr lang="vi-VN" sz="4500" baseline="-25000" dirty="0" err="1"/>
              <a:t>public</a:t>
            </a:r>
            <a:r>
              <a:rPr lang="vi-VN" sz="4500" baseline="-25000" dirty="0"/>
              <a:t> ten: </a:t>
            </a:r>
            <a:r>
              <a:rPr lang="vi-VN" sz="4500" baseline="-25000" dirty="0" err="1"/>
              <a:t>string</a:t>
            </a:r>
            <a:r>
              <a:rPr lang="vi-VN" sz="4500" baseline="-25000" dirty="0"/>
              <a:t>) {}</a:t>
            </a:r>
          </a:p>
          <a:p>
            <a:pPr marL="0" indent="0">
              <a:buNone/>
            </a:pPr>
            <a:r>
              <a:rPr lang="vi-VN" sz="4500" baseline="-25000" dirty="0"/>
              <a:t>  </a:t>
            </a:r>
            <a:r>
              <a:rPr lang="vi-VN" sz="4500" baseline="-25000" dirty="0" err="1"/>
              <a:t>abstract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bat</a:t>
            </a:r>
            <a:r>
              <a:rPr lang="vi-VN" sz="4500" baseline="-25000" dirty="0"/>
              <a:t>(): </a:t>
            </a:r>
            <a:r>
              <a:rPr lang="vi-VN" sz="4500" baseline="-25000" dirty="0" err="1"/>
              <a:t>void</a:t>
            </a:r>
            <a:r>
              <a:rPr lang="vi-VN" sz="4500" baseline="-25000" dirty="0"/>
              <a:t>;</a:t>
            </a:r>
          </a:p>
          <a:p>
            <a:pPr marL="0" indent="0">
              <a:buNone/>
            </a:pPr>
            <a:r>
              <a:rPr lang="vi-VN" sz="4500" baseline="-25000" dirty="0"/>
              <a:t>}</a:t>
            </a:r>
          </a:p>
          <a:p>
            <a:pPr marL="0" indent="0">
              <a:buNone/>
            </a:pPr>
            <a:r>
              <a:rPr lang="vi-VN" sz="4500" baseline="-25000" dirty="0" err="1"/>
              <a:t>class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Tivi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extends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ThietBi</a:t>
            </a:r>
            <a:r>
              <a:rPr lang="vi-VN" sz="4500" baseline="-25000" dirty="0"/>
              <a:t> {</a:t>
            </a:r>
          </a:p>
          <a:p>
            <a:pPr marL="0" indent="0">
              <a:buNone/>
            </a:pPr>
            <a:r>
              <a:rPr lang="vi-VN" sz="4500" baseline="-25000" dirty="0"/>
              <a:t>  </a:t>
            </a:r>
            <a:r>
              <a:rPr lang="vi-VN" sz="4500" baseline="-25000" dirty="0" err="1"/>
              <a:t>bat</a:t>
            </a:r>
            <a:r>
              <a:rPr lang="vi-VN" sz="4500" baseline="-25000" dirty="0"/>
              <a:t>(): </a:t>
            </a:r>
            <a:r>
              <a:rPr lang="vi-VN" sz="4500" baseline="-25000" dirty="0" err="1"/>
              <a:t>void</a:t>
            </a:r>
            <a:r>
              <a:rPr lang="vi-VN" sz="4500" baseline="-25000" dirty="0"/>
              <a:t> {</a:t>
            </a:r>
          </a:p>
          <a:p>
            <a:pPr marL="0" indent="0">
              <a:buNone/>
            </a:pPr>
            <a:r>
              <a:rPr lang="vi-VN" sz="4500" baseline="-25000" dirty="0"/>
              <a:t>    console.log(`${</a:t>
            </a:r>
            <a:r>
              <a:rPr lang="vi-VN" sz="4500" baseline="-25000" dirty="0" err="1"/>
              <a:t>this.ten</a:t>
            </a:r>
            <a:r>
              <a:rPr lang="vi-VN" sz="4500" baseline="-25000" dirty="0"/>
              <a:t>} đang bật và phát hình ảnh`);</a:t>
            </a:r>
          </a:p>
          <a:p>
            <a:pPr marL="0" indent="0">
              <a:buNone/>
            </a:pPr>
            <a:r>
              <a:rPr lang="vi-VN" sz="4500" baseline="-25000" dirty="0"/>
              <a:t>  }</a:t>
            </a:r>
          </a:p>
          <a:p>
            <a:pPr marL="0" indent="0">
              <a:buNone/>
            </a:pPr>
            <a:r>
              <a:rPr lang="vi-VN" sz="4500" baseline="-25000" dirty="0"/>
              <a:t>}</a:t>
            </a:r>
          </a:p>
          <a:p>
            <a:pPr marL="0" indent="0">
              <a:buNone/>
            </a:pPr>
            <a:r>
              <a:rPr lang="vi-VN" sz="4500" baseline="-25000" dirty="0" err="1"/>
              <a:t>class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QuatMay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extends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ThietBi</a:t>
            </a:r>
            <a:r>
              <a:rPr lang="vi-VN" sz="4500" baseline="-25000" dirty="0"/>
              <a:t> {</a:t>
            </a:r>
          </a:p>
          <a:p>
            <a:pPr marL="0" indent="0">
              <a:buNone/>
            </a:pPr>
            <a:r>
              <a:rPr lang="vi-VN" sz="4500" baseline="-25000" dirty="0"/>
              <a:t>  </a:t>
            </a:r>
            <a:r>
              <a:rPr lang="vi-VN" sz="4500" baseline="-25000" dirty="0" err="1"/>
              <a:t>bat</a:t>
            </a:r>
            <a:r>
              <a:rPr lang="vi-VN" sz="4500" baseline="-25000" dirty="0"/>
              <a:t>(): </a:t>
            </a:r>
            <a:r>
              <a:rPr lang="vi-VN" sz="4500" baseline="-25000" dirty="0" err="1"/>
              <a:t>void</a:t>
            </a:r>
            <a:r>
              <a:rPr lang="vi-VN" sz="4500" baseline="-25000" dirty="0"/>
              <a:t> {</a:t>
            </a:r>
          </a:p>
          <a:p>
            <a:pPr marL="0" indent="0">
              <a:buNone/>
            </a:pPr>
            <a:r>
              <a:rPr lang="vi-VN" sz="4500" baseline="-25000" dirty="0"/>
              <a:t>    console.log(`${</a:t>
            </a:r>
            <a:r>
              <a:rPr lang="vi-VN" sz="4500" baseline="-25000" dirty="0" err="1"/>
              <a:t>this.ten</a:t>
            </a:r>
            <a:r>
              <a:rPr lang="vi-VN" sz="4500" baseline="-25000" dirty="0"/>
              <a:t>} đang quay và tạo gió`);</a:t>
            </a:r>
          </a:p>
          <a:p>
            <a:pPr marL="0" indent="0">
              <a:buNone/>
            </a:pPr>
            <a:r>
              <a:rPr lang="vi-VN" sz="4500" baseline="-25000" dirty="0"/>
              <a:t>  }</a:t>
            </a:r>
          </a:p>
          <a:p>
            <a:pPr marL="0" indent="0">
              <a:buNone/>
            </a:pPr>
            <a:r>
              <a:rPr lang="vi-VN" sz="4500" baseline="-25000" dirty="0"/>
              <a:t>}</a:t>
            </a:r>
          </a:p>
          <a:p>
            <a:pPr marL="0" indent="0">
              <a:buNone/>
            </a:pPr>
            <a:r>
              <a:rPr lang="vi-VN" sz="4500" baseline="-25000" dirty="0" err="1"/>
              <a:t>const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danhSachThietBi</a:t>
            </a:r>
            <a:r>
              <a:rPr lang="vi-VN" sz="4500" baseline="-25000" dirty="0"/>
              <a:t>: </a:t>
            </a:r>
            <a:r>
              <a:rPr lang="vi-VN" sz="4500" baseline="-25000" dirty="0" err="1"/>
              <a:t>ThietBi</a:t>
            </a:r>
            <a:r>
              <a:rPr lang="vi-VN" sz="4500" baseline="-25000" dirty="0"/>
              <a:t>[] = [</a:t>
            </a:r>
          </a:p>
          <a:p>
            <a:pPr marL="0" indent="0">
              <a:buNone/>
            </a:pPr>
            <a:r>
              <a:rPr lang="vi-VN" sz="4500" baseline="-25000" dirty="0"/>
              <a:t>  </a:t>
            </a:r>
            <a:r>
              <a:rPr lang="vi-VN" sz="4500" baseline="-25000" dirty="0" err="1"/>
              <a:t>new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Tivi</a:t>
            </a:r>
            <a:r>
              <a:rPr lang="vi-VN" sz="4500" baseline="-25000" dirty="0"/>
              <a:t>("</a:t>
            </a:r>
            <a:r>
              <a:rPr lang="vi-VN" sz="4500" baseline="-25000" dirty="0" err="1"/>
              <a:t>Sony</a:t>
            </a:r>
            <a:r>
              <a:rPr lang="vi-VN" sz="4500" baseline="-25000" dirty="0"/>
              <a:t> TV"),</a:t>
            </a:r>
          </a:p>
          <a:p>
            <a:pPr marL="0" indent="0">
              <a:buNone/>
            </a:pPr>
            <a:r>
              <a:rPr lang="vi-VN" sz="4500" baseline="-25000" dirty="0"/>
              <a:t>  </a:t>
            </a:r>
            <a:r>
              <a:rPr lang="vi-VN" sz="4500" baseline="-25000" dirty="0" err="1"/>
              <a:t>new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QuatMay</a:t>
            </a:r>
            <a:r>
              <a:rPr lang="vi-VN" sz="4500" baseline="-25000" dirty="0"/>
              <a:t>("</a:t>
            </a:r>
            <a:r>
              <a:rPr lang="vi-VN" sz="4500" baseline="-25000" dirty="0" err="1"/>
              <a:t>Panasonic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Fan</a:t>
            </a:r>
            <a:r>
              <a:rPr lang="vi-VN" sz="4500" baseline="-25000" dirty="0"/>
              <a:t>")</a:t>
            </a:r>
          </a:p>
          <a:p>
            <a:pPr marL="0" indent="0">
              <a:buNone/>
            </a:pPr>
            <a:r>
              <a:rPr lang="vi-VN" sz="4500" baseline="-25000" dirty="0"/>
              <a:t>];</a:t>
            </a:r>
          </a:p>
          <a:p>
            <a:pPr marL="0" indent="0">
              <a:buNone/>
            </a:pPr>
            <a:r>
              <a:rPr lang="vi-VN" sz="4500" baseline="-25000" dirty="0" err="1"/>
              <a:t>for</a:t>
            </a:r>
            <a:r>
              <a:rPr lang="vi-VN" sz="4500" baseline="-25000" dirty="0"/>
              <a:t> (</a:t>
            </a:r>
            <a:r>
              <a:rPr lang="vi-VN" sz="4500" baseline="-25000" dirty="0" err="1"/>
              <a:t>const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tb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of</a:t>
            </a:r>
            <a:r>
              <a:rPr lang="vi-VN" sz="4500" baseline="-25000" dirty="0"/>
              <a:t> </a:t>
            </a:r>
            <a:r>
              <a:rPr lang="vi-VN" sz="4500" baseline="-25000" dirty="0" err="1"/>
              <a:t>danhSachThietBi</a:t>
            </a:r>
            <a:r>
              <a:rPr lang="vi-VN" sz="4500" baseline="-25000" dirty="0"/>
              <a:t>) {</a:t>
            </a:r>
          </a:p>
          <a:p>
            <a:pPr marL="0" indent="0">
              <a:buNone/>
            </a:pPr>
            <a:r>
              <a:rPr lang="vi-VN" sz="4500" baseline="-25000" dirty="0"/>
              <a:t>  tb.bat(); // cùng gọi </a:t>
            </a:r>
            <a:r>
              <a:rPr lang="vi-VN" sz="4500" baseline="-25000" dirty="0" err="1"/>
              <a:t>bat</a:t>
            </a:r>
            <a:r>
              <a:rPr lang="vi-VN" sz="4500" baseline="-25000" dirty="0"/>
              <a:t>(), nhưng hành vi khác nhau</a:t>
            </a:r>
          </a:p>
          <a:p>
            <a:pPr marL="0" indent="0">
              <a:buNone/>
            </a:pPr>
            <a:r>
              <a:rPr lang="vi-VN" sz="4500" baseline="-250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77C0E9-4EFA-FC7E-0510-F8DC3090C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690A4-5875-96A9-95A6-EFA78799A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6CF8FEE-1E48-2610-40D8-AAE3570F2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 SỐ 2</a:t>
            </a:r>
          </a:p>
        </p:txBody>
      </p:sp>
    </p:spTree>
    <p:extLst>
      <p:ext uri="{BB962C8B-B14F-4D97-AF65-F5344CB8AC3E}">
        <p14:creationId xmlns:p14="http://schemas.microsoft.com/office/powerpoint/2010/main" val="2720020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3EC3F-E175-8037-CFAA-B385BBDB4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A673D4-4E85-1BFF-519A-9C40BDF31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32905-187E-729F-7F4E-122E89E42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D52572-65F3-82AB-FEA4-26F08DB19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9F5D238-35CC-07E9-0A0A-95C883673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60" y="905069"/>
            <a:ext cx="11652646" cy="5353841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4 </a:t>
            </a:r>
            <a:r>
              <a:rPr lang="en-US" b="1" dirty="0" err="1">
                <a:solidFill>
                  <a:srgbClr val="FF0000"/>
                </a:solidFill>
              </a:rPr>
              <a:t>thuộc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tính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của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lập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trình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hướng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đối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tượng</a:t>
            </a:r>
            <a:endParaRPr lang="en-US" b="1" dirty="0">
              <a:solidFill>
                <a:srgbClr val="FF000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err="1"/>
              <a:t>Tính</a:t>
            </a:r>
            <a:r>
              <a:rPr lang="en-US" sz="2800" dirty="0"/>
              <a:t> đ</a:t>
            </a:r>
            <a:r>
              <a:rPr lang="vi-VN" sz="2800" dirty="0"/>
              <a:t>óng gói (</a:t>
            </a:r>
            <a:r>
              <a:rPr lang="vi-VN" sz="2800" dirty="0" err="1"/>
              <a:t>Encapsulation</a:t>
            </a:r>
            <a:r>
              <a:rPr lang="vi-VN" sz="2800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err="1"/>
              <a:t>Tính</a:t>
            </a:r>
            <a:r>
              <a:rPr lang="en-US" sz="2800" dirty="0"/>
              <a:t> k</a:t>
            </a:r>
            <a:r>
              <a:rPr lang="vi-VN" sz="2800" dirty="0"/>
              <a:t>ế thừa (</a:t>
            </a:r>
            <a:r>
              <a:rPr lang="vi-VN" sz="2800" dirty="0" err="1"/>
              <a:t>Inheritance</a:t>
            </a:r>
            <a:r>
              <a:rPr lang="vi-VN" sz="2800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err="1"/>
              <a:t>Tính</a:t>
            </a:r>
            <a:r>
              <a:rPr lang="en-US" sz="2800" dirty="0"/>
              <a:t> đ</a:t>
            </a:r>
            <a:r>
              <a:rPr lang="vi-VN" sz="2800" dirty="0"/>
              <a:t>a hình (</a:t>
            </a:r>
            <a:r>
              <a:rPr lang="vi-VN" sz="2800" dirty="0" err="1"/>
              <a:t>Polymorphism</a:t>
            </a:r>
            <a:r>
              <a:rPr lang="vi-VN" sz="2800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err="1"/>
              <a:t>Tính</a:t>
            </a:r>
            <a:r>
              <a:rPr lang="en-US" sz="2800" dirty="0"/>
              <a:t> t</a:t>
            </a:r>
            <a:r>
              <a:rPr lang="vi-VN" sz="2800" dirty="0" err="1"/>
              <a:t>rừu</a:t>
            </a:r>
            <a:r>
              <a:rPr lang="vi-VN" sz="2800" dirty="0"/>
              <a:t> tượng (</a:t>
            </a:r>
            <a:r>
              <a:rPr lang="vi-VN" sz="2800" dirty="0" err="1"/>
              <a:t>Abstraction</a:t>
            </a:r>
            <a:r>
              <a:rPr lang="vi-VN" sz="2800" dirty="0"/>
              <a:t>)</a:t>
            </a:r>
          </a:p>
          <a:p>
            <a:r>
              <a:rPr lang="en-US" b="1" dirty="0">
                <a:solidFill>
                  <a:srgbClr val="FF0000"/>
                </a:solidFill>
              </a:rPr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2169038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>
                <a:solidFill>
                  <a:srgbClr val="0000CC"/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3AD92-5E87-E375-BEDD-20E8E001E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KHOA CÔNG NGHỆ THÔNG TIN – LẬP TRÌNH TYPESCRIPT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20BA4-9A69-0F54-B570-F9F236F71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02590D-67BD-4DF2-8CAA-B9002293EB8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96323"/>
      </p:ext>
    </p:extLst>
  </p:cSld>
  <p:clrMapOvr>
    <a:masterClrMapping/>
  </p:clrMapOvr>
</p:sld>
</file>

<file path=ppt/theme/theme1.xml><?xml version="1.0" encoding="utf-8"?>
<a:theme xmlns:a="http://schemas.openxmlformats.org/drawingml/2006/main" name="Blue - v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ain font">
      <a:majorFont>
        <a:latin typeface="Nunito Bold"/>
        <a:ea typeface=""/>
        <a:cs typeface=""/>
      </a:majorFont>
      <a:minorFont>
        <a:latin typeface="Nuni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7545</TotalTime>
  <Words>1915</Words>
  <Application>Microsoft Office PowerPoint</Application>
  <PresentationFormat>Widescreen</PresentationFormat>
  <Paragraphs>344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Courier New</vt:lpstr>
      <vt:lpstr>Nunito</vt:lpstr>
      <vt:lpstr>Times New Roman</vt:lpstr>
      <vt:lpstr>Wingdings</vt:lpstr>
      <vt:lpstr>Blue - v3</vt:lpstr>
      <vt:lpstr>PowerPoint Presentation</vt:lpstr>
      <vt:lpstr>Nhắc lại: Lập trình hướng đối tượng là gì?</vt:lpstr>
      <vt:lpstr>Các đặc tính của lập trình hướng đối tượng</vt:lpstr>
      <vt:lpstr>Tính đóng gói Encapsulation</vt:lpstr>
      <vt:lpstr>Tính đóng gói Encapsulation</vt:lpstr>
      <vt:lpstr>Tính kế thừa (Inheritance)</vt:lpstr>
      <vt:lpstr>Tính kế thừa (Inheritance)</vt:lpstr>
      <vt:lpstr>Tính đa hình (Polymorphism)</vt:lpstr>
      <vt:lpstr>Tính đa hình (Polymorphism)</vt:lpstr>
      <vt:lpstr>Tính trừu tượng (Abstraction)</vt:lpstr>
      <vt:lpstr>Tính trừu tượng (Abstraction)</vt:lpstr>
      <vt:lpstr>interface</vt:lpstr>
      <vt:lpstr>interface</vt:lpstr>
      <vt:lpstr>interface</vt:lpstr>
      <vt:lpstr>SO SÁNH ABSTRACT CLASS VÀ INTERFACE</vt:lpstr>
      <vt:lpstr>BÀI TẬP THỰC HÀNH SỐ 1</vt:lpstr>
      <vt:lpstr>BÀI TẬP THỰC HÀNH SỐ 2</vt:lpstr>
      <vt:lpstr>Tóm tắt nội dung bài học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This PC</dc:creator>
  <cp:lastModifiedBy>Thắng Vĩnh</cp:lastModifiedBy>
  <cp:revision>318</cp:revision>
  <dcterms:created xsi:type="dcterms:W3CDTF">2021-12-20T01:48:15Z</dcterms:created>
  <dcterms:modified xsi:type="dcterms:W3CDTF">2025-12-26T01:17:19Z</dcterms:modified>
</cp:coreProperties>
</file>