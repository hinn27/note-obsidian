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4"/>
  </p:notesMasterIdLst>
  <p:handoutMasterIdLst>
    <p:handoutMasterId r:id="rId15"/>
  </p:handoutMasterIdLst>
  <p:sldIdLst>
    <p:sldId id="259" r:id="rId2"/>
    <p:sldId id="481" r:id="rId3"/>
    <p:sldId id="482" r:id="rId4"/>
    <p:sldId id="483" r:id="rId5"/>
    <p:sldId id="492" r:id="rId6"/>
    <p:sldId id="484" r:id="rId7"/>
    <p:sldId id="485" r:id="rId8"/>
    <p:sldId id="486" r:id="rId9"/>
    <p:sldId id="487" r:id="rId10"/>
    <p:sldId id="488" r:id="rId11"/>
    <p:sldId id="493" r:id="rId12"/>
    <p:sldId id="4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C650AF-D70C-4C72-807E-CA8005841A33}">
          <p14:sldIdLst>
            <p14:sldId id="259"/>
            <p14:sldId id="481"/>
            <p14:sldId id="482"/>
            <p14:sldId id="483"/>
            <p14:sldId id="492"/>
            <p14:sldId id="484"/>
            <p14:sldId id="485"/>
            <p14:sldId id="486"/>
            <p14:sldId id="487"/>
            <p14:sldId id="488"/>
            <p14:sldId id="493"/>
          </p14:sldIdLst>
        </p14:section>
        <p14:section name="Untitled Section" id="{1DDEAF30-612A-41FD-93D2-C37001BCD75A}">
          <p14:sldIdLst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99"/>
    <a:srgbClr val="D8F0FF"/>
    <a:srgbClr val="9BD9FF"/>
    <a:srgbClr val="008EE5"/>
    <a:srgbClr val="03B3DD"/>
    <a:srgbClr val="0090E5"/>
    <a:srgbClr val="03B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24" y="11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15930-8719-4C15-9737-2648B85A77A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2053-7AB1-48B2-9643-49BF192C4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51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456ED-8D73-4DA4-A78C-89D419F66C3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AED4D-2311-4E17-8D7B-C33F7112F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1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57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58" y="1024758"/>
            <a:ext cx="11225047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00CC"/>
              </a:buClr>
              <a:buFont typeface="Wingdings" pitchFamily="2" charset="2"/>
              <a:buChar char="§"/>
              <a:defRPr sz="2800" b="0">
                <a:latin typeface="Times New Roman" pitchFamily="18" charset="0"/>
                <a:cs typeface="Times New Roman" pitchFamily="18" charset="0"/>
              </a:defRPr>
            </a:lvl1pPr>
            <a:lvl2pPr marL="685800" indent="-228600">
              <a:buClr>
                <a:srgbClr val="FF00FF"/>
              </a:buClr>
              <a:buFont typeface="Arial" pitchFamily="34" charset="0"/>
              <a:buChar char="•"/>
              <a:defRPr sz="2400" b="0"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buClr>
                <a:srgbClr val="009900"/>
              </a:buClr>
              <a:buFont typeface="Courier New" pitchFamily="49" charset="0"/>
              <a:buChar char="o"/>
              <a:defRPr sz="2200" b="0">
                <a:latin typeface="Times New Roman" pitchFamily="18" charset="0"/>
                <a:cs typeface="Times New Roman" pitchFamily="18" charset="0"/>
              </a:defRPr>
            </a:lvl3pPr>
            <a:lvl4pPr>
              <a:defRPr sz="2200" b="0">
                <a:latin typeface="Times New Roman" pitchFamily="18" charset="0"/>
                <a:cs typeface="Times New Roman" pitchFamily="18" charset="0"/>
              </a:defRPr>
            </a:lvl4pPr>
            <a:lvl5pPr>
              <a:defRPr sz="2200" b="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1" y="6482377"/>
            <a:ext cx="5522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4036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396360" y="2870"/>
            <a:ext cx="9795640" cy="79662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03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5459"/>
            <a:ext cx="12192000" cy="16805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29" y="3784922"/>
            <a:ext cx="6165669" cy="30810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30" y="3784922"/>
            <a:ext cx="6165669" cy="30810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2377"/>
            <a:ext cx="6026329" cy="38358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812003" y="0"/>
            <a:ext cx="10385077" cy="804707"/>
          </a:xfrm>
          <a:custGeom>
            <a:avLst/>
            <a:gdLst>
              <a:gd name="connsiteX0" fmla="*/ 0 w 9517626"/>
              <a:gd name="connsiteY0" fmla="*/ 0 h 783157"/>
              <a:gd name="connsiteX1" fmla="*/ 9517626 w 9517626"/>
              <a:gd name="connsiteY1" fmla="*/ 0 h 783157"/>
              <a:gd name="connsiteX2" fmla="*/ 9517626 w 9517626"/>
              <a:gd name="connsiteY2" fmla="*/ 783157 h 783157"/>
              <a:gd name="connsiteX3" fmla="*/ 0 w 9517626"/>
              <a:gd name="connsiteY3" fmla="*/ 783157 h 783157"/>
              <a:gd name="connsiteX4" fmla="*/ 0 w 9517626"/>
              <a:gd name="connsiteY4" fmla="*/ 0 h 783157"/>
              <a:gd name="connsiteX0" fmla="*/ 117987 w 9635613"/>
              <a:gd name="connsiteY0" fmla="*/ 0 h 783157"/>
              <a:gd name="connsiteX1" fmla="*/ 9635613 w 9635613"/>
              <a:gd name="connsiteY1" fmla="*/ 0 h 783157"/>
              <a:gd name="connsiteX2" fmla="*/ 9635613 w 9635613"/>
              <a:gd name="connsiteY2" fmla="*/ 783157 h 783157"/>
              <a:gd name="connsiteX3" fmla="*/ 0 w 9635613"/>
              <a:gd name="connsiteY3" fmla="*/ 724164 h 783157"/>
              <a:gd name="connsiteX4" fmla="*/ 117987 w 9635613"/>
              <a:gd name="connsiteY4" fmla="*/ 0 h 78315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783157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81265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4087 w 10087897"/>
              <a:gd name="connsiteY2" fmla="*/ 80122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91707"/>
              <a:gd name="connsiteY0" fmla="*/ 0 h 822487"/>
              <a:gd name="connsiteX1" fmla="*/ 10087897 w 10091707"/>
              <a:gd name="connsiteY1" fmla="*/ 0 h 822487"/>
              <a:gd name="connsiteX2" fmla="*/ 10091707 w 10091707"/>
              <a:gd name="connsiteY2" fmla="*/ 798684 h 822487"/>
              <a:gd name="connsiteX3" fmla="*/ 0 w 10091707"/>
              <a:gd name="connsiteY3" fmla="*/ 822487 h 822487"/>
              <a:gd name="connsiteX4" fmla="*/ 570271 w 10091707"/>
              <a:gd name="connsiteY4" fmla="*/ 0 h 822487"/>
              <a:gd name="connsiteX0" fmla="*/ 557571 w 10079007"/>
              <a:gd name="connsiteY0" fmla="*/ 0 h 804707"/>
              <a:gd name="connsiteX1" fmla="*/ 10075197 w 10079007"/>
              <a:gd name="connsiteY1" fmla="*/ 0 h 804707"/>
              <a:gd name="connsiteX2" fmla="*/ 10079007 w 10079007"/>
              <a:gd name="connsiteY2" fmla="*/ 798684 h 804707"/>
              <a:gd name="connsiteX3" fmla="*/ 0 w 10079007"/>
              <a:gd name="connsiteY3" fmla="*/ 804707 h 804707"/>
              <a:gd name="connsiteX4" fmla="*/ 557571 w 1007900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079007 w 10387617"/>
              <a:gd name="connsiteY2" fmla="*/ 79868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381267 w 10387617"/>
              <a:gd name="connsiteY2" fmla="*/ 80122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5077"/>
              <a:gd name="connsiteY0" fmla="*/ 0 h 804707"/>
              <a:gd name="connsiteX1" fmla="*/ 10385077 w 10385077"/>
              <a:gd name="connsiteY1" fmla="*/ 0 h 804707"/>
              <a:gd name="connsiteX2" fmla="*/ 10381267 w 10385077"/>
              <a:gd name="connsiteY2" fmla="*/ 801224 h 804707"/>
              <a:gd name="connsiteX3" fmla="*/ 0 w 10385077"/>
              <a:gd name="connsiteY3" fmla="*/ 804707 h 804707"/>
              <a:gd name="connsiteX4" fmla="*/ 557571 w 10385077"/>
              <a:gd name="connsiteY4" fmla="*/ 0 h 804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5077" h="804707">
                <a:moveTo>
                  <a:pt x="557571" y="0"/>
                </a:moveTo>
                <a:lnTo>
                  <a:pt x="10385077" y="0"/>
                </a:lnTo>
                <a:cubicBezTo>
                  <a:pt x="10382960" y="266228"/>
                  <a:pt x="10383384" y="534996"/>
                  <a:pt x="10381267" y="801224"/>
                </a:cubicBezTo>
                <a:lnTo>
                  <a:pt x="0" y="804707"/>
                </a:lnTo>
                <a:lnTo>
                  <a:pt x="557571" y="0"/>
                </a:lnTo>
                <a:close/>
              </a:path>
            </a:pathLst>
          </a:custGeom>
          <a:gradFill flip="none" rotWithShape="1">
            <a:gsLst>
              <a:gs pos="0">
                <a:srgbClr val="03B3DD"/>
              </a:gs>
              <a:gs pos="100000">
                <a:srgbClr val="008EE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60" y="-5062"/>
            <a:ext cx="2233324" cy="808230"/>
          </a:xfrm>
          <a:custGeom>
            <a:avLst/>
            <a:gdLst>
              <a:gd name="connsiteX0" fmla="*/ 0 w 1818968"/>
              <a:gd name="connsiteY0" fmla="*/ 0 h 783157"/>
              <a:gd name="connsiteX1" fmla="*/ 1818968 w 1818968"/>
              <a:gd name="connsiteY1" fmla="*/ 0 h 783157"/>
              <a:gd name="connsiteX2" fmla="*/ 1818968 w 1818968"/>
              <a:gd name="connsiteY2" fmla="*/ 783157 h 783157"/>
              <a:gd name="connsiteX3" fmla="*/ 0 w 1818968"/>
              <a:gd name="connsiteY3" fmla="*/ 783157 h 783157"/>
              <a:gd name="connsiteX4" fmla="*/ 0 w 1818968"/>
              <a:gd name="connsiteY4" fmla="*/ 0 h 783157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144780 w 2349910"/>
              <a:gd name="connsiteY0" fmla="*/ 9365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4780 w 2349910"/>
              <a:gd name="connsiteY4" fmla="*/ 93653 h 792990"/>
              <a:gd name="connsiteX0" fmla="*/ 140970 w 2349910"/>
              <a:gd name="connsiteY0" fmla="*/ 221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0970 w 2349910"/>
              <a:gd name="connsiteY4" fmla="*/ 2213 h 79299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79299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80823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33324"/>
              <a:gd name="connsiteY0" fmla="*/ 2213 h 808230"/>
              <a:gd name="connsiteX1" fmla="*/ 2233324 w 2233324"/>
              <a:gd name="connsiteY1" fmla="*/ 0 h 808230"/>
              <a:gd name="connsiteX2" fmla="*/ 1677998 w 2233324"/>
              <a:gd name="connsiteY2" fmla="*/ 808230 h 808230"/>
              <a:gd name="connsiteX3" fmla="*/ 0 w 2233324"/>
              <a:gd name="connsiteY3" fmla="*/ 808230 h 808230"/>
              <a:gd name="connsiteX4" fmla="*/ 0 w 2233324"/>
              <a:gd name="connsiteY4" fmla="*/ 2213 h 80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3324" h="808230">
                <a:moveTo>
                  <a:pt x="0" y="2213"/>
                </a:moveTo>
                <a:lnTo>
                  <a:pt x="2233324" y="0"/>
                </a:lnTo>
                <a:lnTo>
                  <a:pt x="1677998" y="808230"/>
                </a:lnTo>
                <a:lnTo>
                  <a:pt x="0" y="808230"/>
                </a:lnTo>
                <a:lnTo>
                  <a:pt x="0" y="2213"/>
                </a:lnTo>
                <a:close/>
              </a:path>
            </a:pathLst>
          </a:custGeom>
          <a:solidFill>
            <a:srgbClr val="D8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614855" y="1088570"/>
            <a:ext cx="11161986" cy="524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1" y="129015"/>
            <a:ext cx="1434898" cy="523765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2554014" y="2870"/>
            <a:ext cx="9637985" cy="796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2" y="6482377"/>
            <a:ext cx="4330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1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99"/>
        </a:buClr>
        <a:buFont typeface="Wingdings" pitchFamily="2" charset="2"/>
        <a:buChar char="§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00CC"/>
        </a:buClr>
        <a:buFont typeface="Arial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itchFamily="49" charset="0"/>
        <a:buChar char="o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6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98B47F1-B2BA-40A4-9FDB-CF661B783E7A}" type="slidenum">
              <a:rPr lang="en-US" smtClean="0"/>
              <a:t>1</a:t>
            </a:fld>
            <a:endParaRPr lang="en-US"/>
          </a:p>
        </p:txBody>
      </p:sp>
      <p:sp>
        <p:nvSpPr>
          <p:cNvPr id="5" name="Google Shape;136;p29"/>
          <p:cNvSpPr txBox="1">
            <a:spLocks/>
          </p:cNvSpPr>
          <p:nvPr/>
        </p:nvSpPr>
        <p:spPr>
          <a:xfrm>
            <a:off x="2773237" y="107241"/>
            <a:ext cx="4846763" cy="5908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TYPESCRIPT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37;p29"/>
          <p:cNvSpPr txBox="1">
            <a:spLocks/>
          </p:cNvSpPr>
          <p:nvPr/>
        </p:nvSpPr>
        <p:spPr>
          <a:xfrm>
            <a:off x="685798" y="1700981"/>
            <a:ext cx="6477002" cy="28357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600" b="1">
                <a:latin typeface="Times New Roman" panose="02020603050405020304" pitchFamily="18" charset="0"/>
                <a:cs typeface="Times New Roman" pitchFamily="18" charset="0"/>
              </a:rPr>
              <a:t>CHƯƠNG 4</a:t>
            </a:r>
            <a:r>
              <a:rPr lang="en-US" sz="2600">
                <a:latin typeface="Times New Roman" panose="02020603050405020304" pitchFamily="18" charset="0"/>
                <a:cs typeface="Times New Roman" pitchFamily="18" charset="0"/>
              </a:rPr>
              <a:t>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MODULE, GENERIC VÀ ASYNC/AWAIT TRONG TYPESCRIPT</a:t>
            </a:r>
            <a:endParaRPr lang="en-US" sz="23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70" name="Google Shape;137;p29">
            <a:extLst>
              <a:ext uri="{FF2B5EF4-FFF2-40B4-BE49-F238E27FC236}">
                <a16:creationId xmlns:a16="http://schemas.microsoft.com/office/drawing/2014/main" id="{C5A8A76D-5E3A-4511-9569-D2E55F718EF4}"/>
              </a:ext>
            </a:extLst>
          </p:cNvPr>
          <p:cNvSpPr txBox="1">
            <a:spLocks/>
          </p:cNvSpPr>
          <p:nvPr/>
        </p:nvSpPr>
        <p:spPr>
          <a:xfrm>
            <a:off x="744069" y="4496464"/>
            <a:ext cx="3295303" cy="8009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4" name="Picture 10" descr="What is TypeScript">
            <a:extLst>
              <a:ext uri="{FF2B5EF4-FFF2-40B4-BE49-F238E27FC236}">
                <a16:creationId xmlns:a16="http://schemas.microsoft.com/office/drawing/2014/main" id="{826BF309-7710-D27E-2D38-D80F02283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026" y="1255916"/>
            <a:ext cx="4508545" cy="283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41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135134-68B9-C19A-BBA2-458F2D4E4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06" y="867747"/>
            <a:ext cx="11699299" cy="5391163"/>
          </a:xfrm>
        </p:spPr>
        <p:txBody>
          <a:bodyPr/>
          <a:lstStyle/>
          <a:p>
            <a:r>
              <a:rPr lang="en-US" b="1" dirty="0" err="1"/>
              <a:t>Khái</a:t>
            </a:r>
            <a:r>
              <a:rPr lang="en-US" b="1" dirty="0"/>
              <a:t> </a:t>
            </a:r>
            <a:r>
              <a:rPr lang="en-US" b="1" dirty="0" err="1"/>
              <a:t>niệm</a:t>
            </a:r>
            <a:r>
              <a:rPr lang="en-US" b="1" dirty="0"/>
              <a:t> Module</a:t>
            </a:r>
          </a:p>
          <a:p>
            <a:pPr lvl="1"/>
            <a:r>
              <a:rPr lang="vi-VN" dirty="0"/>
              <a:t>Mỗi </a:t>
            </a:r>
            <a:r>
              <a:rPr lang="vi-VN" dirty="0" err="1"/>
              <a:t>file</a:t>
            </a:r>
            <a:r>
              <a:rPr lang="vi-VN" dirty="0"/>
              <a:t> </a:t>
            </a:r>
            <a:r>
              <a:rPr lang="vi-VN" b="1" dirty="0"/>
              <a:t>.</a:t>
            </a:r>
            <a:r>
              <a:rPr lang="vi-VN" b="1" dirty="0" err="1"/>
              <a:t>ts</a:t>
            </a:r>
            <a:r>
              <a:rPr lang="vi-VN" b="1" dirty="0"/>
              <a:t> </a:t>
            </a:r>
            <a:r>
              <a:rPr lang="vi-VN" dirty="0"/>
              <a:t>được xem như một </a:t>
            </a:r>
            <a:r>
              <a:rPr lang="vi-VN" dirty="0" err="1"/>
              <a:t>module</a:t>
            </a:r>
            <a:r>
              <a:rPr lang="vi-VN" dirty="0"/>
              <a:t>.</a:t>
            </a:r>
            <a:endParaRPr lang="en-US" dirty="0"/>
          </a:p>
          <a:p>
            <a:pPr lvl="1"/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b="1" dirty="0" err="1"/>
              <a:t>tách</a:t>
            </a:r>
            <a:r>
              <a:rPr lang="en-US" b="1" dirty="0"/>
              <a:t> </a:t>
            </a:r>
            <a:r>
              <a:rPr lang="en-US" b="1" dirty="0" err="1"/>
              <a:t>mã</a:t>
            </a:r>
            <a:r>
              <a:rPr lang="en-US" dirty="0"/>
              <a:t>, </a:t>
            </a:r>
            <a:r>
              <a:rPr lang="en-US" b="1" dirty="0" err="1"/>
              <a:t>tái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dirty="0"/>
              <a:t>, </a:t>
            </a:r>
            <a:r>
              <a:rPr lang="en-US" b="1" dirty="0" err="1"/>
              <a:t>dễ</a:t>
            </a:r>
            <a:r>
              <a:rPr lang="en-US" b="1" dirty="0"/>
              <a:t> </a:t>
            </a:r>
            <a:r>
              <a:rPr lang="en-US" b="1" dirty="0" err="1"/>
              <a:t>bảo</a:t>
            </a:r>
            <a:r>
              <a:rPr lang="en-US" b="1" dirty="0"/>
              <a:t> </a:t>
            </a:r>
            <a:r>
              <a:rPr lang="en-US" b="1" dirty="0" err="1"/>
              <a:t>trì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2FF13-AFAB-981D-7C84-3117AA115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10742-DA5B-26D5-9304-4C9B66151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71067E-667B-2D38-7AC3-BE29A037F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TÁCH MODULE, IMPORT/EXPORT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936EE9-F56C-91E2-302B-D9A357A8F09B}"/>
              </a:ext>
            </a:extLst>
          </p:cNvPr>
          <p:cNvSpPr txBox="1"/>
          <p:nvPr/>
        </p:nvSpPr>
        <p:spPr>
          <a:xfrm>
            <a:off x="503277" y="3274028"/>
            <a:ext cx="95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45035-8A9C-8A58-5E0C-4F318ABA40B0}"/>
              </a:ext>
            </a:extLst>
          </p:cNvPr>
          <p:cNvSpPr txBox="1"/>
          <p:nvPr/>
        </p:nvSpPr>
        <p:spPr>
          <a:xfrm>
            <a:off x="6774264" y="3429000"/>
            <a:ext cx="1039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</a:p>
        </p:txBody>
      </p:sp>
      <p:pic>
        <p:nvPicPr>
          <p:cNvPr id="13" name="Picture 12" descr="A computer code with colorful text&#10;&#10;AI-generated content may be incorrect.">
            <a:extLst>
              <a:ext uri="{FF2B5EF4-FFF2-40B4-BE49-F238E27FC236}">
                <a16:creationId xmlns:a16="http://schemas.microsoft.com/office/drawing/2014/main" id="{AA260CB2-78EB-251F-8AEE-945B4FF53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95" y="3785871"/>
            <a:ext cx="5615796" cy="1954059"/>
          </a:xfrm>
          <a:prstGeom prst="rect">
            <a:avLst/>
          </a:prstGeom>
        </p:spPr>
      </p:pic>
      <p:pic>
        <p:nvPicPr>
          <p:cNvPr id="15" name="Picture 14" descr="A close-up of a person's face&#10;&#10;AI-generated content may be incorrect.">
            <a:extLst>
              <a:ext uri="{FF2B5EF4-FFF2-40B4-BE49-F238E27FC236}">
                <a16:creationId xmlns:a16="http://schemas.microsoft.com/office/drawing/2014/main" id="{E697D0E1-CE5D-735A-8798-5C7617138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226" y="3867952"/>
            <a:ext cx="4645876" cy="114043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AFDA15-E704-8B3D-E646-C834F1BBD9F2}"/>
              </a:ext>
            </a:extLst>
          </p:cNvPr>
          <p:cNvCxnSpPr/>
          <p:nvPr/>
        </p:nvCxnSpPr>
        <p:spPr>
          <a:xfrm>
            <a:off x="6518082" y="3503548"/>
            <a:ext cx="0" cy="2598549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572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F5043E-C8CA-437F-C423-E69152783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68" y="799498"/>
            <a:ext cx="11680638" cy="5459412"/>
          </a:xfrm>
        </p:spPr>
        <p:txBody>
          <a:bodyPr/>
          <a:lstStyle/>
          <a:p>
            <a:r>
              <a:rPr lang="en-US" b="1" dirty="0"/>
              <a:t>Namespace:</a:t>
            </a:r>
          </a:p>
          <a:p>
            <a:pPr lvl="1"/>
            <a:r>
              <a:rPr lang="en-US" dirty="0" err="1"/>
              <a:t>Gom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code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/</a:t>
            </a:r>
            <a:r>
              <a:rPr lang="en-US" dirty="0" err="1"/>
              <a:t>hàm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khoá</a:t>
            </a:r>
            <a:r>
              <a:rPr lang="en-US" dirty="0"/>
              <a:t> </a:t>
            </a:r>
            <a:r>
              <a:rPr lang="en-US" b="1" dirty="0"/>
              <a:t>namespace</a:t>
            </a:r>
            <a:r>
              <a:rPr lang="en-US" dirty="0"/>
              <a:t>.</a:t>
            </a:r>
            <a:endParaRPr lang="en-US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012230-6722-3F87-0F80-12A8E619C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C7E9E-2E90-BAA1-699C-2D5A2AAD9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FE3132-7F91-0E5E-3290-D9884D54F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NAMESPACE VÀ CÁCH DÙNG</a:t>
            </a:r>
          </a:p>
        </p:txBody>
      </p:sp>
      <p:pic>
        <p:nvPicPr>
          <p:cNvPr id="7" name="Picture 6" descr="A computer code with colorful text&#10;&#10;AI-generated content may be incorrect.">
            <a:extLst>
              <a:ext uri="{FF2B5EF4-FFF2-40B4-BE49-F238E27FC236}">
                <a16:creationId xmlns:a16="http://schemas.microsoft.com/office/drawing/2014/main" id="{E2A421F2-EDF5-4FCB-1CAF-6DC7D20E2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83" y="3561916"/>
            <a:ext cx="5453027" cy="2819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66BAF0-5E6D-A26E-15B7-15FD7402A553}"/>
              </a:ext>
            </a:extLst>
          </p:cNvPr>
          <p:cNvSpPr txBox="1"/>
          <p:nvPr/>
        </p:nvSpPr>
        <p:spPr>
          <a:xfrm>
            <a:off x="798483" y="2865197"/>
            <a:ext cx="17770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1430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9F361D-FEE3-96BC-A2EE-93E5B75D6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274" y="886408"/>
            <a:ext cx="11587332" cy="5372502"/>
          </a:xfrm>
        </p:spPr>
        <p:txBody>
          <a:bodyPr/>
          <a:lstStyle/>
          <a:p>
            <a:r>
              <a:rPr lang="en-US" b="1" dirty="0"/>
              <a:t>Nguyên </a:t>
            </a:r>
            <a:r>
              <a:rPr lang="en-US" b="1" dirty="0" err="1"/>
              <a:t>tắc</a:t>
            </a:r>
            <a:r>
              <a:rPr lang="en-US" b="1" dirty="0"/>
              <a:t> </a:t>
            </a:r>
            <a:r>
              <a:rPr lang="en-US" b="1" dirty="0" err="1"/>
              <a:t>tổ</a:t>
            </a:r>
            <a:r>
              <a:rPr lang="en-US" b="1" dirty="0"/>
              <a:t> </a:t>
            </a:r>
            <a:r>
              <a:rPr lang="en-US" b="1" dirty="0" err="1"/>
              <a:t>chức</a:t>
            </a:r>
            <a:r>
              <a:rPr lang="en-US" b="1" dirty="0"/>
              <a:t> module</a:t>
            </a:r>
          </a:p>
          <a:p>
            <a:r>
              <a:rPr lang="en-US" dirty="0" err="1"/>
              <a:t>Mỗi</a:t>
            </a:r>
            <a:r>
              <a:rPr lang="en-US" dirty="0"/>
              <a:t> module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nhiệm</a:t>
            </a:r>
            <a:r>
              <a:rPr lang="en-US" b="1" dirty="0"/>
              <a:t> </a:t>
            </a:r>
            <a:r>
              <a:rPr lang="en-US" b="1" dirty="0" err="1"/>
              <a:t>vụ</a:t>
            </a:r>
            <a:r>
              <a:rPr lang="en-US" b="1" dirty="0"/>
              <a:t> </a:t>
            </a:r>
            <a:r>
              <a:rPr lang="en-US" b="1" dirty="0" err="1"/>
              <a:t>rõ</a:t>
            </a:r>
            <a:r>
              <a:rPr lang="en-US" b="1" dirty="0"/>
              <a:t> </a:t>
            </a:r>
            <a:r>
              <a:rPr lang="en-US" b="1" dirty="0" err="1"/>
              <a:t>ràng</a:t>
            </a:r>
            <a:r>
              <a:rPr lang="en-US" dirty="0"/>
              <a:t>.</a:t>
            </a:r>
          </a:p>
          <a:p>
            <a:r>
              <a:rPr lang="vi-VN" dirty="0"/>
              <a:t>Tạo thư mục theo chức năng: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3B69B4-1B1F-9381-D32B-EF205F6A9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61EF6-DF3C-ACE9-8DD3-B79DEC6B6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96787A-950D-BE97-5726-EF00339F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QUẢN LÝ MÃ NGUỒN THEO MODULE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5A9010-333D-EA23-5720-8E8C72269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0" y="2629157"/>
            <a:ext cx="3771759" cy="144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10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00EE46-D294-9D54-9825-1636DEB5E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620" y="877078"/>
            <a:ext cx="11868539" cy="538183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Bài</a:t>
            </a:r>
            <a:r>
              <a:rPr lang="en-US" dirty="0"/>
              <a:t> 1 : </a:t>
            </a:r>
            <a:r>
              <a:rPr lang="vi-VN" dirty="0"/>
              <a:t>Tổ chức mã nguồn bằng </a:t>
            </a:r>
            <a:r>
              <a:rPr lang="vi-VN" dirty="0" err="1"/>
              <a:t>module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Yêu</a:t>
            </a:r>
            <a:r>
              <a:rPr lang="en-US" b="1" dirty="0"/>
              <a:t> </a:t>
            </a:r>
            <a:r>
              <a:rPr lang="en-US" b="1" dirty="0" err="1"/>
              <a:t>cầu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 chia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file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Student.ts</a:t>
            </a:r>
            <a:r>
              <a:rPr lang="en-US" dirty="0"/>
              <a:t>: </a:t>
            </a:r>
            <a:r>
              <a:rPr lang="en-US" dirty="0" err="1"/>
              <a:t>chứa</a:t>
            </a:r>
            <a:r>
              <a:rPr lang="en-US" dirty="0"/>
              <a:t> class Student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id, name, age</a:t>
            </a:r>
          </a:p>
          <a:p>
            <a:pPr lvl="0"/>
            <a:r>
              <a:rPr lang="en-US" dirty="0" err="1"/>
              <a:t>StudentManager.ts</a:t>
            </a:r>
            <a:r>
              <a:rPr lang="en-US" dirty="0"/>
              <a:t>: </a:t>
            </a:r>
            <a:r>
              <a:rPr lang="en-US" dirty="0" err="1"/>
              <a:t>chứa</a:t>
            </a:r>
            <a:r>
              <a:rPr lang="en-US" dirty="0"/>
              <a:t> class </a:t>
            </a:r>
            <a:r>
              <a:rPr lang="en-US" dirty="0" err="1"/>
              <a:t>StudentManager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addStudent</a:t>
            </a:r>
            <a:r>
              <a:rPr lang="en-US" dirty="0"/>
              <a:t>(student: Student)</a:t>
            </a:r>
          </a:p>
          <a:p>
            <a:pPr lvl="1"/>
            <a:r>
              <a:rPr lang="en-US" dirty="0" err="1"/>
              <a:t>listStudents</a:t>
            </a:r>
            <a:r>
              <a:rPr lang="en-US" dirty="0"/>
              <a:t>()</a:t>
            </a:r>
          </a:p>
          <a:p>
            <a:pPr lvl="0"/>
            <a:r>
              <a:rPr lang="en-US" dirty="0" err="1"/>
              <a:t>main.ts</a:t>
            </a:r>
            <a:r>
              <a:rPr lang="en-US" dirty="0"/>
              <a:t>: import </a:t>
            </a:r>
            <a:r>
              <a:rPr lang="en-US" dirty="0" err="1"/>
              <a:t>các</a:t>
            </a:r>
            <a:r>
              <a:rPr lang="en-US" dirty="0"/>
              <a:t> module </a:t>
            </a:r>
            <a:r>
              <a:rPr lang="en-US" dirty="0" err="1"/>
              <a:t>trên</a:t>
            </a:r>
            <a:r>
              <a:rPr lang="en-US" dirty="0"/>
              <a:t>,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vài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078B1-FAC4-9DCC-4B30-F832F626E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C6672-C77B-4FD7-60C2-C674D3A10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F370F4-01C7-4B71-C60F-B2506790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 SỐ 1</a:t>
            </a:r>
          </a:p>
        </p:txBody>
      </p:sp>
    </p:spTree>
    <p:extLst>
      <p:ext uri="{BB962C8B-B14F-4D97-AF65-F5344CB8AC3E}">
        <p14:creationId xmlns:p14="http://schemas.microsoft.com/office/powerpoint/2010/main" val="348554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590C14-1E4A-0C75-FEE9-E73A54DF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06" y="942392"/>
            <a:ext cx="11699299" cy="5316518"/>
          </a:xfrm>
        </p:spPr>
        <p:txBody>
          <a:bodyPr/>
          <a:lstStyle/>
          <a:p>
            <a:r>
              <a:rPr lang="en-US" b="1" dirty="0"/>
              <a:t>Generic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gì</a:t>
            </a:r>
            <a:r>
              <a:rPr lang="en-US" b="1" dirty="0"/>
              <a:t>?</a:t>
            </a:r>
          </a:p>
          <a:p>
            <a:pPr lvl="1"/>
            <a:r>
              <a:rPr lang="en-US" dirty="0"/>
              <a:t>Cho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b="1" dirty="0" err="1"/>
              <a:t>kiểu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r>
              <a:rPr lang="en-US" dirty="0"/>
              <a:t>,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&lt;T&gt;.</a:t>
            </a:r>
          </a:p>
          <a:p>
            <a:pPr lvl="1"/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any →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runtime.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F0291-4AD6-B2ED-BB86-D3276A247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59356-D7B1-987A-314C-B903B6339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149D94-5421-6F97-0984-EAA8A832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 VỀ GENERIC</a:t>
            </a:r>
          </a:p>
        </p:txBody>
      </p:sp>
      <p:pic>
        <p:nvPicPr>
          <p:cNvPr id="9" name="Picture 8" descr="A group of text on a white background&#10;&#10;AI-generated content may be incorrect.">
            <a:extLst>
              <a:ext uri="{FF2B5EF4-FFF2-40B4-BE49-F238E27FC236}">
                <a16:creationId xmlns:a16="http://schemas.microsoft.com/office/drawing/2014/main" id="{D2BBDB4E-78E3-BEC7-5421-1D57FC928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58" y="3558972"/>
            <a:ext cx="6426679" cy="18744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2BB927-46A7-2D69-F572-2E622FAE3863}"/>
              </a:ext>
            </a:extLst>
          </p:cNvPr>
          <p:cNvSpPr txBox="1"/>
          <p:nvPr/>
        </p:nvSpPr>
        <p:spPr>
          <a:xfrm>
            <a:off x="567558" y="3015455"/>
            <a:ext cx="17770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</a:p>
        </p:txBody>
      </p:sp>
    </p:spTree>
    <p:extLst>
      <p:ext uri="{BB962C8B-B14F-4D97-AF65-F5344CB8AC3E}">
        <p14:creationId xmlns:p14="http://schemas.microsoft.com/office/powerpoint/2010/main" val="935840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A341D-9268-E898-69D7-C312C5869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65565-3A2C-4E98-7248-C6C02D6F1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CBEDC2-9534-8A71-C57D-8476FDCD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GENERIC FUNCTION</a:t>
            </a:r>
          </a:p>
        </p:txBody>
      </p:sp>
      <p:pic>
        <p:nvPicPr>
          <p:cNvPr id="7" name="Picture 6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7B677A55-9BCA-35AE-D5FD-A8BCF5B49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7" y="923561"/>
            <a:ext cx="10007001" cy="38232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BC0C1C-0BA2-7E11-7D60-6006FE0E5349}"/>
              </a:ext>
            </a:extLst>
          </p:cNvPr>
          <p:cNvSpPr txBox="1"/>
          <p:nvPr/>
        </p:nvSpPr>
        <p:spPr>
          <a:xfrm>
            <a:off x="278231" y="4870898"/>
            <a:ext cx="9770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Hàm hoạt động với </a:t>
            </a:r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mọi kiểu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mà vẫn giữ được thông tin kiểu trong kết quả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57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82C260-EA4E-F20E-622B-17BDC5741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26E1F-0304-8208-7A64-7A8096C43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B3D72C-EAA0-0AAE-5A8E-97E2C495A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CLASS</a:t>
            </a:r>
          </a:p>
        </p:txBody>
      </p:sp>
      <p:pic>
        <p:nvPicPr>
          <p:cNvPr id="7" name="Picture 6" descr="A computer code with text&#10;&#10;AI-generated content may be incorrect.">
            <a:extLst>
              <a:ext uri="{FF2B5EF4-FFF2-40B4-BE49-F238E27FC236}">
                <a16:creationId xmlns:a16="http://schemas.microsoft.com/office/drawing/2014/main" id="{608AF696-B83D-FD98-A6A1-24367EBF3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31" y="925695"/>
            <a:ext cx="6821309" cy="36122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A5934A-A064-2DFA-78E7-E8B1B0FAE7AC}"/>
              </a:ext>
            </a:extLst>
          </p:cNvPr>
          <p:cNvSpPr txBox="1"/>
          <p:nvPr/>
        </p:nvSpPr>
        <p:spPr>
          <a:xfrm>
            <a:off x="345234" y="4870898"/>
            <a:ext cx="910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Ý nghĩa: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Class có thể chứa </a:t>
            </a: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bất kỳ kiểu dữ liệu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, nhưng vẫn đảm bảo đúng kiểu khi lấy ra.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898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FFE3B8-F2FE-B4C5-5AEC-9AD1F6CF7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6" y="1024758"/>
            <a:ext cx="11717960" cy="5234152"/>
          </a:xfrm>
        </p:spPr>
        <p:txBody>
          <a:bodyPr/>
          <a:lstStyle/>
          <a:p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?</a:t>
            </a:r>
          </a:p>
          <a:p>
            <a:pPr lvl="1"/>
            <a:r>
              <a:rPr lang="vi-VN" dirty="0"/>
              <a:t>Không phải mọi kiểu đều dùng được trong hàm.</a:t>
            </a:r>
            <a:endParaRPr lang="en-US" dirty="0"/>
          </a:p>
          <a:p>
            <a:pPr lvl="1"/>
            <a:r>
              <a:rPr lang="en-US" dirty="0"/>
              <a:t>extends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</a:t>
            </a:r>
            <a:r>
              <a:rPr lang="en-US" b="1" dirty="0" err="1"/>
              <a:t>kiểu</a:t>
            </a:r>
            <a:r>
              <a:rPr lang="en-US" b="1" dirty="0"/>
              <a:t> T</a:t>
            </a:r>
            <a:r>
              <a:rPr lang="en-US" dirty="0"/>
              <a:t>,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1BA9B0-2F42-43BC-7085-8F7CCE8D2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3E3C1-768E-4AD5-FFFD-650A126DE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57B1B9-F178-E331-00A0-86AC7BCC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HẠN KIỂU VỚI EXTENDS</a:t>
            </a:r>
          </a:p>
        </p:txBody>
      </p:sp>
      <p:pic>
        <p:nvPicPr>
          <p:cNvPr id="9" name="Picture 8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E27CE699-0AC5-70D5-208D-72BFBAB94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72" y="3473619"/>
            <a:ext cx="7116792" cy="19160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7721E5-4A56-3DB9-7F9D-F7DC423644ED}"/>
              </a:ext>
            </a:extLst>
          </p:cNvPr>
          <p:cNvSpPr txBox="1"/>
          <p:nvPr/>
        </p:nvSpPr>
        <p:spPr>
          <a:xfrm>
            <a:off x="567558" y="3015455"/>
            <a:ext cx="17770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</a:p>
        </p:txBody>
      </p:sp>
    </p:spTree>
    <p:extLst>
      <p:ext uri="{BB962C8B-B14F-4D97-AF65-F5344CB8AC3E}">
        <p14:creationId xmlns:p14="http://schemas.microsoft.com/office/powerpoint/2010/main" val="3709205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6980F-FB84-F248-424A-03485F40C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3E9CD-5E99-712A-7A34-82437FC04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5F6D6F-8F80-02A0-D441-8816C008A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 SÁNH GENERIC VỚI ANY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C35F0A-31D2-9DB8-A4DF-00D9CE3B1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008247"/>
              </p:ext>
            </p:extLst>
          </p:nvPr>
        </p:nvGraphicFramePr>
        <p:xfrm>
          <a:off x="515143" y="1493585"/>
          <a:ext cx="11251287" cy="2834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50429">
                  <a:extLst>
                    <a:ext uri="{9D8B030D-6E8A-4147-A177-3AD203B41FA5}">
                      <a16:colId xmlns:a16="http://schemas.microsoft.com/office/drawing/2014/main" val="4018219363"/>
                    </a:ext>
                  </a:extLst>
                </a:gridCol>
                <a:gridCol w="3455070">
                  <a:extLst>
                    <a:ext uri="{9D8B030D-6E8A-4147-A177-3AD203B41FA5}">
                      <a16:colId xmlns:a16="http://schemas.microsoft.com/office/drawing/2014/main" val="3359607276"/>
                    </a:ext>
                  </a:extLst>
                </a:gridCol>
                <a:gridCol w="4045788">
                  <a:extLst>
                    <a:ext uri="{9D8B030D-6E8A-4147-A177-3AD203B41FA5}">
                      <a16:colId xmlns:a16="http://schemas.microsoft.com/office/drawing/2014/main" val="288504657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Tiêu chí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Generic &lt;T&gt;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any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5911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An toàn kiểu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Giữ lại thông tin kiểu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Mất hoàn toàn thông tin kiểu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287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b="1"/>
                        <a:t>Kiểm tra lỗi lúc compile</a:t>
                      </a:r>
                      <a:endParaRPr lang="it-IT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Phát hiện lỗi sớm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Không kiểm tra, dễ lỗi runtime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04178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Khả năng tái sử dụng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Viết 1 lần dùng cho nhiều kiểu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/>
                        <a:t>Dùng cho mọi kiểu nhưng nguy hiểm</a:t>
                      </a:r>
                      <a:endParaRPr lang="vi-V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964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b="1"/>
                        <a:t>Tối ưu cho dự án lớn</a:t>
                      </a:r>
                      <a:endParaRPr lang="vi-V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Rất phù hợp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/>
                        <a:t>Làm giảm chất lượng mã</a:t>
                      </a:r>
                      <a:endParaRPr lang="vi-V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261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Khả năng suy luận kiểu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TypeScript tự suy ra kiểu T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 Không suy luận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0594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Rủi ro khi dùng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Thấp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Cao (dễ tạo bug runtime)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787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16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8CDA7E-61C2-7F8B-F2AB-7129D5A1E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Bài 5: Quản lý danh sách người dùng với Generic</a:t>
            </a:r>
            <a:endParaRPr lang="en-US"/>
          </a:p>
          <a:p>
            <a:pPr marL="0" indent="0">
              <a:buNone/>
            </a:pPr>
            <a:r>
              <a:rPr lang="en-US" b="1"/>
              <a:t>Tình huống:</a:t>
            </a:r>
            <a:r>
              <a:rPr lang="en-US"/>
              <a:t> Bạn cần một cấu trúc chung để lưu danh sách entity (ví dụ: User, Product, Category) và thao tác thêm/xóa/liệt kê mà không viết lại cho từng loại.</a:t>
            </a:r>
          </a:p>
          <a:p>
            <a:pPr marL="0" indent="0">
              <a:buNone/>
            </a:pPr>
            <a:r>
              <a:rPr lang="en-US" b="1"/>
              <a:t>Yêu cầu:</a:t>
            </a:r>
            <a:endParaRPr lang="en-US"/>
          </a:p>
          <a:p>
            <a:pPr lvl="0"/>
            <a:r>
              <a:rPr lang="en-US"/>
              <a:t>Tạo GenericList&lt;T&gt; với phương thức add(item: T), remove(index: number), getAll(): T[].</a:t>
            </a:r>
          </a:p>
          <a:p>
            <a:pPr lvl="0"/>
            <a:r>
              <a:rPr lang="en-US"/>
              <a:t>Tạo class User (id, name) và thử với GenericList&lt;User&gt;.</a:t>
            </a:r>
          </a:p>
          <a:p>
            <a:pPr lvl="0"/>
            <a:r>
              <a:rPr lang="en-US"/>
              <a:t>Viết mã test trong main.ts để thêm 2 user và in danh sách.</a:t>
            </a:r>
          </a:p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FC1110-85CE-976C-FB88-31F3A1406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8E365-282A-8C45-AB4B-A43C6F86A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7C7A91-600D-206D-EEA1-0B6F3F8D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 SỐ 2</a:t>
            </a:r>
          </a:p>
        </p:txBody>
      </p:sp>
    </p:spTree>
    <p:extLst>
      <p:ext uri="{BB962C8B-B14F-4D97-AF65-F5344CB8AC3E}">
        <p14:creationId xmlns:p14="http://schemas.microsoft.com/office/powerpoint/2010/main" val="369719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>
                <a:solidFill>
                  <a:srgbClr val="0000CC"/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3AD92-5E87-E375-BEDD-20E8E001E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20BA4-9A69-0F54-B570-F9F236F7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96323"/>
      </p:ext>
    </p:extLst>
  </p:cSld>
  <p:clrMapOvr>
    <a:masterClrMapping/>
  </p:clrMapOvr>
</p:sld>
</file>

<file path=ppt/theme/theme1.xml><?xml version="1.0" encoding="utf-8"?>
<a:theme xmlns:a="http://schemas.openxmlformats.org/drawingml/2006/main" name="Blue - v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in font">
      <a:majorFont>
        <a:latin typeface="Nunito Bold"/>
        <a:ea typeface=""/>
        <a:cs typeface=""/>
      </a:majorFont>
      <a:minorFont>
        <a:latin typeface="Nuni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3913</TotalTime>
  <Words>669</Words>
  <Application>Microsoft Office PowerPoint</Application>
  <PresentationFormat>Widescreen</PresentationFormat>
  <Paragraphs>99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Nunito</vt:lpstr>
      <vt:lpstr>Times New Roman</vt:lpstr>
      <vt:lpstr>Wingdings</vt:lpstr>
      <vt:lpstr>Blue - v3</vt:lpstr>
      <vt:lpstr>PowerPoint Presentation</vt:lpstr>
      <vt:lpstr>TÁCH MODULE, IMPORT/EXPORT</vt:lpstr>
      <vt:lpstr>NAMESPACE VÀ CÁCH DÙNG</vt:lpstr>
      <vt:lpstr>QUẢN LÝ MÃ NGUỒN THEO MODULE</vt:lpstr>
      <vt:lpstr>BÀI TẬP THỰC HÀNH SỐ 1</vt:lpstr>
      <vt:lpstr>TỔNG QUAN VỀ GENERIC</vt:lpstr>
      <vt:lpstr>GENERIC FUNCTION</vt:lpstr>
      <vt:lpstr>GENERIC CLASS</vt:lpstr>
      <vt:lpstr>GIỚI HẠN KIỂU VỚI EXTENDS</vt:lpstr>
      <vt:lpstr>SO SÁNH GENERIC VỚI ANY</vt:lpstr>
      <vt:lpstr>BÀI TẬP THỰC HÀNH SỐ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This PC</dc:creator>
  <cp:lastModifiedBy>Thắng Vĩnh</cp:lastModifiedBy>
  <cp:revision>314</cp:revision>
  <dcterms:created xsi:type="dcterms:W3CDTF">2021-12-20T01:48:15Z</dcterms:created>
  <dcterms:modified xsi:type="dcterms:W3CDTF">2025-12-18T07:33:23Z</dcterms:modified>
</cp:coreProperties>
</file>