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5"/>
  </p:notesMasterIdLst>
  <p:handoutMasterIdLst>
    <p:handoutMasterId r:id="rId16"/>
  </p:handoutMasterIdLst>
  <p:sldIdLst>
    <p:sldId id="259" r:id="rId2"/>
    <p:sldId id="487" r:id="rId3"/>
    <p:sldId id="481" r:id="rId4"/>
    <p:sldId id="490" r:id="rId5"/>
    <p:sldId id="491" r:id="rId6"/>
    <p:sldId id="492" r:id="rId7"/>
    <p:sldId id="493" r:id="rId8"/>
    <p:sldId id="494" r:id="rId9"/>
    <p:sldId id="495" r:id="rId10"/>
    <p:sldId id="484" r:id="rId11"/>
    <p:sldId id="485" r:id="rId12"/>
    <p:sldId id="496" r:id="rId13"/>
    <p:sldId id="4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50AF-D70C-4C72-807E-CA8005841A33}">
          <p14:sldIdLst>
            <p14:sldId id="259"/>
            <p14:sldId id="487"/>
            <p14:sldId id="481"/>
            <p14:sldId id="490"/>
            <p14:sldId id="491"/>
            <p14:sldId id="492"/>
            <p14:sldId id="493"/>
            <p14:sldId id="494"/>
            <p14:sldId id="495"/>
            <p14:sldId id="484"/>
            <p14:sldId id="485"/>
            <p14:sldId id="496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4" y="11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800" b="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400" b="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200" b="0">
                <a:latin typeface="Times New Roman" pitchFamily="18" charset="0"/>
                <a:cs typeface="Times New Roman" pitchFamily="18" charset="0"/>
              </a:defRPr>
            </a:lvl3pPr>
            <a:lvl4pPr>
              <a:defRPr sz="2200" b="0">
                <a:latin typeface="Times New Roman" pitchFamily="18" charset="0"/>
                <a:cs typeface="Times New Roman" pitchFamily="18" charset="0"/>
              </a:defRPr>
            </a:lvl4pPr>
            <a:lvl5pPr>
              <a:defRPr sz="2200" b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1" y="6482377"/>
            <a:ext cx="552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396360" y="2870"/>
            <a:ext cx="9795640" cy="7966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2773237" y="107241"/>
            <a:ext cx="4846763" cy="590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TYPESCRIPT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0" y="1752740"/>
            <a:ext cx="7445829" cy="2835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5: 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 VỚI MÔI TRƯỜNG TRÌNH DUYỆT</a:t>
            </a:r>
            <a:endParaRPr lang="en-US" sz="23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4" name="Picture 10" descr="What is TypeScript">
            <a:extLst>
              <a:ext uri="{FF2B5EF4-FFF2-40B4-BE49-F238E27FC236}">
                <a16:creationId xmlns:a16="http://schemas.microsoft.com/office/drawing/2014/main" id="{826BF309-7710-D27E-2D38-D80F0228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302569"/>
            <a:ext cx="4508545" cy="28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719C2D-914B-4A09-AF50-9897DC332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6" y="799498"/>
            <a:ext cx="12117354" cy="560415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TypeScript </a:t>
            </a:r>
            <a:r>
              <a:rPr lang="en-US" b="1" dirty="0" err="1">
                <a:solidFill>
                  <a:srgbClr val="FF0000"/>
                </a:solidFill>
              </a:rPr>
              <a:t>và</a:t>
            </a:r>
            <a:r>
              <a:rPr lang="en-US" b="1" dirty="0">
                <a:solidFill>
                  <a:srgbClr val="FF0000"/>
                </a:solidFill>
              </a:rPr>
              <a:t> Html </a:t>
            </a:r>
            <a:r>
              <a:rPr lang="en-US" b="1" dirty="0" err="1">
                <a:solidFill>
                  <a:srgbClr val="FF0000"/>
                </a:solidFill>
              </a:rPr>
              <a:t>hoạt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động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như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thế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nào</a:t>
            </a:r>
            <a:r>
              <a:rPr lang="en-US" b="1" dirty="0"/>
              <a:t>?</a:t>
            </a:r>
          </a:p>
          <a:p>
            <a:r>
              <a:rPr lang="vi-VN" b="1" dirty="0"/>
              <a:t>Bản chất</a:t>
            </a:r>
            <a:r>
              <a:rPr lang="en-US" b="1" dirty="0"/>
              <a:t>: </a:t>
            </a:r>
          </a:p>
          <a:p>
            <a:pPr lvl="1"/>
            <a:r>
              <a:rPr lang="vi-VN" dirty="0"/>
              <a:t>Trình duyệt </a:t>
            </a:r>
            <a:r>
              <a:rPr lang="vi-VN" b="1" dirty="0"/>
              <a:t>không chạy </a:t>
            </a:r>
            <a:r>
              <a:rPr lang="vi-VN" b="1" dirty="0" err="1"/>
              <a:t>TypeScript</a:t>
            </a:r>
            <a:endParaRPr lang="vi-VN" dirty="0"/>
          </a:p>
          <a:p>
            <a:pPr lvl="1"/>
            <a:r>
              <a:rPr lang="vi-VN" dirty="0" err="1"/>
              <a:t>TypeScript</a:t>
            </a:r>
            <a:r>
              <a:rPr lang="vi-VN" dirty="0"/>
              <a:t> phải được </a:t>
            </a:r>
            <a:r>
              <a:rPr lang="vi-VN" b="1" dirty="0"/>
              <a:t>biên dịch sang </a:t>
            </a:r>
            <a:r>
              <a:rPr lang="vi-VN" b="1" dirty="0" err="1"/>
              <a:t>JavaScript</a:t>
            </a:r>
            <a:endParaRPr lang="vi-VN" dirty="0"/>
          </a:p>
          <a:p>
            <a:pPr lvl="1"/>
            <a:r>
              <a:rPr lang="vi-VN" dirty="0" err="1"/>
              <a:t>JavaScript</a:t>
            </a:r>
            <a:r>
              <a:rPr lang="vi-VN" dirty="0"/>
              <a:t> sau biên dịch mới được nhúng vào HTML</a:t>
            </a:r>
          </a:p>
          <a:p>
            <a:r>
              <a:rPr lang="en-US" b="1" dirty="0" err="1"/>
              <a:t>Luồng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File .</a:t>
            </a:r>
            <a:r>
              <a:rPr lang="en-US" dirty="0" err="1"/>
              <a:t>ts</a:t>
            </a:r>
            <a:r>
              <a:rPr lang="en-US" dirty="0"/>
              <a:t> →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</a:t>
            </a:r>
            <a:r>
              <a:rPr lang="en-US" dirty="0" err="1"/>
              <a:t>tsc</a:t>
            </a:r>
            <a:r>
              <a:rPr lang="en-US" dirty="0"/>
              <a:t>) → File .</a:t>
            </a:r>
            <a:r>
              <a:rPr lang="en-US" dirty="0" err="1"/>
              <a:t>js</a:t>
            </a:r>
            <a:r>
              <a:rPr lang="en-US" dirty="0"/>
              <a:t> → Browser</a:t>
            </a:r>
          </a:p>
          <a:p>
            <a:r>
              <a:rPr lang="vi-VN" b="1" dirty="0"/>
              <a:t>Cấu trúc </a:t>
            </a:r>
            <a:r>
              <a:rPr lang="vi-VN" b="1" dirty="0" err="1"/>
              <a:t>file</a:t>
            </a:r>
            <a:r>
              <a:rPr lang="vi-VN" b="1" dirty="0"/>
              <a:t> cơ bản</a:t>
            </a:r>
          </a:p>
          <a:p>
            <a:pPr lvl="1"/>
            <a:r>
              <a:rPr lang="vi-VN" dirty="0"/>
              <a:t>index.html</a:t>
            </a:r>
          </a:p>
          <a:p>
            <a:pPr lvl="1"/>
            <a:r>
              <a:rPr lang="vi-VN" dirty="0" err="1"/>
              <a:t>main.ts</a:t>
            </a:r>
            <a:endParaRPr lang="vi-VN" dirty="0"/>
          </a:p>
          <a:p>
            <a:pPr lvl="1"/>
            <a:r>
              <a:rPr lang="vi-VN" dirty="0"/>
              <a:t>main.js (sinh ra sau khi biên dịch)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0886A-E984-F093-7A5F-242DA798A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D555F-959A-04CD-A6C8-39A2563C1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D6FEC4-1AFA-84F7-1951-75990E37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TYPESCRIPT TRONG MÔI TRƯỜNG TRÌNH DUYỆT</a:t>
            </a:r>
          </a:p>
        </p:txBody>
      </p:sp>
    </p:spTree>
    <p:extLst>
      <p:ext uri="{BB962C8B-B14F-4D97-AF65-F5344CB8AC3E}">
        <p14:creationId xmlns:p14="http://schemas.microsoft.com/office/powerpoint/2010/main" val="944000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2F3A15E-C7F2-68B7-7404-A97FD0A5C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796582"/>
              </p:ext>
            </p:extLst>
          </p:nvPr>
        </p:nvGraphicFramePr>
        <p:xfrm>
          <a:off x="278231" y="3728628"/>
          <a:ext cx="11217529" cy="2682240"/>
        </p:xfrm>
        <a:graphic>
          <a:graphicData uri="http://schemas.openxmlformats.org/drawingml/2006/table">
            <a:tbl>
              <a:tblPr/>
              <a:tblGrid>
                <a:gridCol w="3776387">
                  <a:extLst>
                    <a:ext uri="{9D8B030D-6E8A-4147-A177-3AD203B41FA5}">
                      <a16:colId xmlns:a16="http://schemas.microsoft.com/office/drawing/2014/main" val="1712394792"/>
                    </a:ext>
                  </a:extLst>
                </a:gridCol>
                <a:gridCol w="3720571">
                  <a:extLst>
                    <a:ext uri="{9D8B030D-6E8A-4147-A177-3AD203B41FA5}">
                      <a16:colId xmlns:a16="http://schemas.microsoft.com/office/drawing/2014/main" val="228068863"/>
                    </a:ext>
                  </a:extLst>
                </a:gridCol>
                <a:gridCol w="3720571">
                  <a:extLst>
                    <a:ext uri="{9D8B030D-6E8A-4147-A177-3AD203B41FA5}">
                      <a16:colId xmlns:a16="http://schemas.microsoft.com/office/drawing/2014/main" val="3980054986"/>
                    </a:ext>
                  </a:extLst>
                </a:gridCol>
              </a:tblGrid>
              <a:tr h="3754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Phương thức</a:t>
                      </a:r>
                      <a:endParaRPr lang="vi-V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Mô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tả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Kiểu trả về (TS)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12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document.getElementById('id')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Lấy 1 phần tử theo ID.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HTMLElement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(hoặc </a:t>
                      </a: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null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018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document.querySelector</a:t>
                      </a: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('.</a:t>
                      </a:r>
                      <a:r>
                        <a:rPr lang="en-US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class'</a:t>
                      </a: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Lấy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phần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tử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đầu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tiên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khớp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với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CSS Selector.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Element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(hoặc </a:t>
                      </a: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null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738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document.querySelectorAll</a:t>
                      </a: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('div')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Lấy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tất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cả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phần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tử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khớp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với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CSS Selector.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NodeList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593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…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…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…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7759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2043E-B035-DA96-90CE-AC6279FBC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FBD0E-BEC5-2D15-1601-2432313D6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AF6BBD-F348-870E-F978-E51C5963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HIỂN THỊ DỮ LIỆU TỪ TYPESCRIPT RA HTML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FA9DF-29DD-BCC0-3DC4-E235D4A324BC}"/>
              </a:ext>
            </a:extLst>
          </p:cNvPr>
          <p:cNvSpPr txBox="1"/>
          <p:nvPr/>
        </p:nvSpPr>
        <p:spPr>
          <a:xfrm>
            <a:off x="278231" y="992586"/>
            <a:ext cx="1121752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là gì?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(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là cấu trúc biểu diễn HTML dưới dạng 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vi-V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dùng DOM để truy cập và thay đổi nội dung trang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document.querySelector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document.querySelectorAll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8719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8083-361A-9111-E9E5-4FFBBCF1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6051B9-8221-FF07-105A-7063FA319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799498"/>
            <a:ext cx="12126686" cy="5459412"/>
          </a:xfrm>
        </p:spPr>
        <p:txBody>
          <a:bodyPr/>
          <a:lstStyle/>
          <a:p>
            <a:r>
              <a:rPr lang="en-US" b="1" dirty="0" err="1"/>
              <a:t>Khác</a:t>
            </a:r>
            <a:r>
              <a:rPr lang="en-US" b="1" dirty="0"/>
              <a:t> </a:t>
            </a:r>
            <a:r>
              <a:rPr lang="en-US" b="1" dirty="0" err="1"/>
              <a:t>biệt</a:t>
            </a:r>
            <a:r>
              <a:rPr lang="en-US" b="1" dirty="0"/>
              <a:t> </a:t>
            </a:r>
            <a:r>
              <a:rPr lang="en-US" b="1" dirty="0" err="1"/>
              <a:t>khi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r>
              <a:rPr lang="en-US" b="1" dirty="0"/>
              <a:t> TypeScript</a:t>
            </a:r>
          </a:p>
          <a:p>
            <a:pPr lvl="1"/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thể</a:t>
            </a:r>
            <a:r>
              <a:rPr lang="en-US" b="1" dirty="0"/>
              <a:t> </a:t>
            </a:r>
            <a:r>
              <a:rPr lang="en-US" b="1" dirty="0" err="1"/>
              <a:t>là</a:t>
            </a:r>
            <a:r>
              <a:rPr lang="en-US" b="1" dirty="0"/>
              <a:t> null</a:t>
            </a:r>
            <a:endParaRPr lang="en-US" dirty="0"/>
          </a:p>
          <a:p>
            <a:pPr lvl="1"/>
            <a:r>
              <a:rPr lang="en-US" dirty="0"/>
              <a:t>TypeScript </a:t>
            </a:r>
            <a:r>
              <a:rPr lang="en-US" b="1" dirty="0" err="1"/>
              <a:t>bắt</a:t>
            </a:r>
            <a:r>
              <a:rPr lang="en-US" b="1" dirty="0"/>
              <a:t> </a:t>
            </a:r>
            <a:r>
              <a:rPr lang="en-US" b="1" dirty="0" err="1"/>
              <a:t>buộc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an </a:t>
            </a:r>
            <a:r>
              <a:rPr lang="en-US" b="1" dirty="0" err="1"/>
              <a:t>toàn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null:</a:t>
            </a:r>
          </a:p>
          <a:p>
            <a:pPr marL="457200" lvl="1" indent="0">
              <a:buNone/>
            </a:pPr>
            <a:r>
              <a:rPr lang="en-US" dirty="0"/>
              <a:t>if (title !== null) {</a:t>
            </a:r>
          </a:p>
          <a:p>
            <a:pPr marL="457200" lvl="1" indent="0">
              <a:buNone/>
            </a:pPr>
            <a:r>
              <a:rPr lang="en-US" dirty="0" err="1"/>
              <a:t>title.innerText</a:t>
            </a:r>
            <a:r>
              <a:rPr lang="en-US" dirty="0"/>
              <a:t> = "Hello TypeScript";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F2D29-C63D-B40D-D019-44209C99D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23B37-790F-B7FB-E54F-9699E5B9F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6AB95D-54B6-59D8-EA21-D36E72E1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TRUY CẬP DOM VỚI TYPESCRIPT</a:t>
            </a:r>
          </a:p>
        </p:txBody>
      </p:sp>
    </p:spTree>
    <p:extLst>
      <p:ext uri="{BB962C8B-B14F-4D97-AF65-F5344CB8AC3E}">
        <p14:creationId xmlns:p14="http://schemas.microsoft.com/office/powerpoint/2010/main" val="794919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88AA-27AC-623C-7DC7-DD0CD8BF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DD08E2-A1D6-916E-24BA-C0129EA8F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799498"/>
            <a:ext cx="12126686" cy="5459412"/>
          </a:xfrm>
        </p:spPr>
        <p:txBody>
          <a:bodyPr/>
          <a:lstStyle/>
          <a:p>
            <a:r>
              <a:rPr lang="vi-VN" b="1" dirty="0"/>
              <a:t>Vấn đề thường gặp</a:t>
            </a:r>
          </a:p>
          <a:p>
            <a:pPr lvl="1"/>
            <a:r>
              <a:rPr lang="vi-VN" dirty="0" err="1"/>
              <a:t>TypeScript</a:t>
            </a:r>
            <a:r>
              <a:rPr lang="vi-VN" dirty="0"/>
              <a:t> </a:t>
            </a:r>
            <a:r>
              <a:rPr lang="vi-VN" b="1" dirty="0"/>
              <a:t>không biết chính xác</a:t>
            </a:r>
            <a:r>
              <a:rPr lang="vi-VN" dirty="0"/>
              <a:t> phần tử HTML là loại gì.</a:t>
            </a:r>
          </a:p>
          <a:p>
            <a:pPr lvl="1"/>
            <a:r>
              <a:rPr lang="vi-VN" dirty="0"/>
              <a:t>Ví dụ:</a:t>
            </a:r>
            <a:endParaRPr lang="en-US" dirty="0"/>
          </a:p>
          <a:p>
            <a:pPr lvl="2"/>
            <a:r>
              <a:rPr lang="nl-NL" dirty="0"/>
              <a:t>const input = document.getElementById("username");</a:t>
            </a:r>
            <a:endParaRPr lang="vi-VN" dirty="0"/>
          </a:p>
          <a:p>
            <a:pPr lvl="1"/>
            <a:r>
              <a:rPr lang="en-US" dirty="0"/>
              <a:t>TypeScript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: </a:t>
            </a:r>
            <a:r>
              <a:rPr lang="en-US" dirty="0" err="1"/>
              <a:t>HTMLElement</a:t>
            </a:r>
            <a:r>
              <a:rPr lang="en-US" dirty="0"/>
              <a:t> | null</a:t>
            </a:r>
          </a:p>
          <a:p>
            <a:r>
              <a:rPr lang="en-US" b="1" dirty="0" err="1"/>
              <a:t>Ép</a:t>
            </a:r>
            <a:r>
              <a:rPr lang="en-US" b="1" dirty="0"/>
              <a:t> </a:t>
            </a:r>
            <a:r>
              <a:rPr lang="en-US" b="1" dirty="0" err="1"/>
              <a:t>kiểu</a:t>
            </a:r>
            <a:r>
              <a:rPr lang="en-US" b="1" dirty="0"/>
              <a:t> (Type Casting)</a:t>
            </a:r>
          </a:p>
          <a:p>
            <a:pPr lvl="1"/>
            <a:r>
              <a:rPr lang="en-US" dirty="0"/>
              <a:t>const input = </a:t>
            </a:r>
            <a:r>
              <a:rPr lang="en-US" dirty="0" err="1"/>
              <a:t>document.getElementById</a:t>
            </a:r>
            <a:r>
              <a:rPr lang="en-US" dirty="0"/>
              <a:t>("username") as </a:t>
            </a:r>
            <a:r>
              <a:rPr lang="en-US" dirty="0" err="1"/>
              <a:t>HTMLInputElement</a:t>
            </a:r>
            <a:r>
              <a:rPr lang="en-US" dirty="0"/>
              <a:t>;</a:t>
            </a:r>
            <a:endParaRPr lang="en-US" b="1" dirty="0"/>
          </a:p>
          <a:p>
            <a:r>
              <a:rPr lang="en-US" b="1" dirty="0"/>
              <a:t>Khi </a:t>
            </a:r>
            <a:r>
              <a:rPr lang="en-US" b="1" dirty="0" err="1"/>
              <a:t>nào</a:t>
            </a:r>
            <a:r>
              <a:rPr lang="en-US" b="1" dirty="0"/>
              <a:t> </a:t>
            </a:r>
            <a:r>
              <a:rPr lang="en-US" b="1" dirty="0" err="1"/>
              <a:t>cần</a:t>
            </a:r>
            <a:r>
              <a:rPr lang="en-US" b="1" dirty="0"/>
              <a:t> casting?</a:t>
            </a:r>
          </a:p>
          <a:p>
            <a:pPr lvl="1"/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.value</a:t>
            </a:r>
          </a:p>
          <a:p>
            <a:pPr lvl="1"/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input, button, form…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E3B33-D01A-607C-6178-8FD7F4C05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E5FF3-B03B-3DC1-691C-6BFDAD2D4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FC1684-972D-E4CC-58BF-AF46FD31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CASTING DOM TRONG TYPE SCRIPT</a:t>
            </a:r>
          </a:p>
        </p:txBody>
      </p:sp>
    </p:spTree>
    <p:extLst>
      <p:ext uri="{BB962C8B-B14F-4D97-AF65-F5344CB8AC3E}">
        <p14:creationId xmlns:p14="http://schemas.microsoft.com/office/powerpoint/2010/main" val="191634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FA1A1-11CB-ADC0-02C3-DB253D24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6A1CB3-31FE-ECF2-0731-266B7D42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799498"/>
            <a:ext cx="12126686" cy="5459412"/>
          </a:xfrm>
        </p:spPr>
        <p:txBody>
          <a:bodyPr/>
          <a:lstStyle/>
          <a:p>
            <a:r>
              <a:rPr lang="it-IT" b="1" dirty="0"/>
              <a:t>Kết hợp casting + kiểm tra null</a:t>
            </a:r>
          </a:p>
          <a:p>
            <a:endParaRPr lang="it-IT" dirty="0"/>
          </a:p>
          <a:p>
            <a:pPr marL="457200" lvl="1" indent="0">
              <a:buNone/>
            </a:pPr>
            <a:r>
              <a:rPr lang="en-US" dirty="0"/>
              <a:t>const input = </a:t>
            </a:r>
            <a:r>
              <a:rPr lang="en-US" dirty="0" err="1"/>
              <a:t>document.getElementById</a:t>
            </a:r>
            <a:r>
              <a:rPr lang="en-US" dirty="0"/>
              <a:t>("username") as </a:t>
            </a:r>
            <a:r>
              <a:rPr lang="en-US" dirty="0" err="1"/>
              <a:t>HTMLInputElement</a:t>
            </a:r>
            <a:r>
              <a:rPr lang="en-US" dirty="0"/>
              <a:t> | null;</a:t>
            </a:r>
          </a:p>
          <a:p>
            <a:pPr marL="457200" lvl="1" indent="0">
              <a:buNone/>
            </a:pPr>
            <a:br>
              <a:rPr lang="en-US" dirty="0"/>
            </a:br>
            <a:r>
              <a:rPr lang="en-US" dirty="0"/>
              <a:t>if (input) {</a:t>
            </a:r>
          </a:p>
          <a:p>
            <a:pPr marL="457200" lvl="1" indent="0">
              <a:buNone/>
            </a:pPr>
            <a:r>
              <a:rPr lang="en-US" dirty="0"/>
              <a:t>console.log(</a:t>
            </a:r>
            <a:r>
              <a:rPr lang="en-US" dirty="0" err="1"/>
              <a:t>input.value</a:t>
            </a:r>
            <a:r>
              <a:rPr lang="en-US" dirty="0"/>
              <a:t>);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BB4BB-00C0-2D1D-2EEB-AD5E843D6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86088-7E65-8F0E-E3CE-E3AC0C8D6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4F51F2-8650-1BB3-7476-09AA81B5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CASTING DOM TRONG TYPE SCRIPT</a:t>
            </a:r>
          </a:p>
        </p:txBody>
      </p:sp>
    </p:spTree>
    <p:extLst>
      <p:ext uri="{BB962C8B-B14F-4D97-AF65-F5344CB8AC3E}">
        <p14:creationId xmlns:p14="http://schemas.microsoft.com/office/powerpoint/2010/main" val="242250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646C-3092-3507-3FC7-C9CAFBDF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9D323C-736F-EBFA-674E-D0C0B5FE4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799498"/>
            <a:ext cx="12126686" cy="5459412"/>
          </a:xfrm>
        </p:spPr>
        <p:txBody>
          <a:bodyPr/>
          <a:lstStyle/>
          <a:p>
            <a:r>
              <a:rPr lang="vi-VN" b="1" dirty="0" err="1"/>
              <a:t>Event</a:t>
            </a:r>
            <a:r>
              <a:rPr lang="vi-VN" b="1" dirty="0"/>
              <a:t> là gì?</a:t>
            </a:r>
          </a:p>
          <a:p>
            <a:pPr lvl="1"/>
            <a:r>
              <a:rPr lang="vi-VN" dirty="0" err="1"/>
              <a:t>Event</a:t>
            </a:r>
            <a:r>
              <a:rPr lang="vi-VN" dirty="0"/>
              <a:t> là hành động của người dùng: </a:t>
            </a:r>
            <a:r>
              <a:rPr lang="vi-VN" dirty="0" err="1"/>
              <a:t>click</a:t>
            </a:r>
            <a:r>
              <a:rPr lang="vi-VN" dirty="0"/>
              <a:t>, </a:t>
            </a:r>
            <a:r>
              <a:rPr lang="vi-VN" dirty="0" err="1"/>
              <a:t>submit</a:t>
            </a:r>
            <a:r>
              <a:rPr lang="vi-VN" dirty="0"/>
              <a:t>, </a:t>
            </a:r>
            <a:r>
              <a:rPr lang="vi-VN" dirty="0" err="1"/>
              <a:t>input</a:t>
            </a:r>
            <a:r>
              <a:rPr lang="vi-VN" dirty="0"/>
              <a:t>...</a:t>
            </a:r>
          </a:p>
          <a:p>
            <a:r>
              <a:rPr lang="en-US" b="1" dirty="0" err="1"/>
              <a:t>Gắn</a:t>
            </a:r>
            <a:r>
              <a:rPr lang="en-US" b="1" dirty="0"/>
              <a:t> </a:t>
            </a:r>
            <a:r>
              <a:rPr lang="en-US" b="1" dirty="0" err="1"/>
              <a:t>sự</a:t>
            </a:r>
            <a:r>
              <a:rPr lang="en-US" b="1" dirty="0"/>
              <a:t> </a:t>
            </a:r>
            <a:r>
              <a:rPr lang="en-US" b="1" dirty="0" err="1"/>
              <a:t>kiện</a:t>
            </a:r>
            <a:r>
              <a:rPr lang="en-US" b="1" dirty="0"/>
              <a:t>:</a:t>
            </a:r>
          </a:p>
          <a:p>
            <a:pPr marL="457200" lvl="1" indent="0">
              <a:buNone/>
            </a:pPr>
            <a:r>
              <a:rPr lang="en-US" dirty="0"/>
              <a:t>const </a:t>
            </a:r>
            <a:r>
              <a:rPr lang="en-US" dirty="0" err="1"/>
              <a:t>btn</a:t>
            </a:r>
            <a:r>
              <a:rPr lang="en-US" dirty="0"/>
              <a:t> = </a:t>
            </a:r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btn</a:t>
            </a:r>
            <a:r>
              <a:rPr lang="en-US" dirty="0"/>
              <a:t>") as </a:t>
            </a:r>
            <a:r>
              <a:rPr lang="en-US" dirty="0" err="1"/>
              <a:t>HTMLButtonElement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 err="1"/>
              <a:t>btn.addEventListener</a:t>
            </a:r>
            <a:r>
              <a:rPr lang="en-US" dirty="0"/>
              <a:t>("click", () =&gt; {</a:t>
            </a:r>
          </a:p>
          <a:p>
            <a:pPr marL="457200" lvl="1" indent="0">
              <a:buNone/>
            </a:pPr>
            <a:r>
              <a:rPr lang="en-US" dirty="0"/>
              <a:t>console.log("Button clicked");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r>
              <a:rPr lang="en-US" b="1" dirty="0"/>
              <a:t>Event object</a:t>
            </a:r>
          </a:p>
          <a:p>
            <a:pPr marL="457200" lvl="1" indent="0">
              <a:buNone/>
            </a:pPr>
            <a:r>
              <a:rPr lang="en-US" dirty="0" err="1"/>
              <a:t>btn.addEventListener</a:t>
            </a:r>
            <a:r>
              <a:rPr lang="en-US" dirty="0"/>
              <a:t>("click", (event) =&gt; {</a:t>
            </a:r>
          </a:p>
          <a:p>
            <a:pPr marL="457200" lvl="1" indent="0">
              <a:buNone/>
            </a:pPr>
            <a:r>
              <a:rPr lang="en-US" dirty="0"/>
              <a:t>console.log(event);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78D76-DD85-EF53-983F-7866B8B80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64C6C-1D27-D0E5-27EC-6B5C24528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1229EB-4864-5241-ECD9-A43EB768B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XỬ LÝ EVENT VỚI TYPESCRIPT</a:t>
            </a:r>
          </a:p>
        </p:txBody>
      </p:sp>
    </p:spTree>
    <p:extLst>
      <p:ext uri="{BB962C8B-B14F-4D97-AF65-F5344CB8AC3E}">
        <p14:creationId xmlns:p14="http://schemas.microsoft.com/office/powerpoint/2010/main" val="3024419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9BE9-AD1D-B3F6-5D19-4DD714D82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7FE6E4-EC3A-CEDE-97CE-B6D90117A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799498"/>
            <a:ext cx="12126686" cy="5459412"/>
          </a:xfrm>
        </p:spPr>
        <p:txBody>
          <a:bodyPr/>
          <a:lstStyle/>
          <a:p>
            <a:r>
              <a:rPr lang="vi-VN" b="1" dirty="0" err="1"/>
              <a:t>Event</a:t>
            </a:r>
            <a:r>
              <a:rPr lang="vi-VN" b="1" dirty="0"/>
              <a:t> là gì?</a:t>
            </a:r>
          </a:p>
          <a:p>
            <a:pPr lvl="1"/>
            <a:r>
              <a:rPr lang="vi-VN" dirty="0" err="1"/>
              <a:t>Event</a:t>
            </a:r>
            <a:r>
              <a:rPr lang="vi-VN" dirty="0"/>
              <a:t> là hành động của người dùng: </a:t>
            </a:r>
            <a:r>
              <a:rPr lang="vi-VN" dirty="0" err="1"/>
              <a:t>click</a:t>
            </a:r>
            <a:r>
              <a:rPr lang="vi-VN" dirty="0"/>
              <a:t>, </a:t>
            </a:r>
            <a:r>
              <a:rPr lang="vi-VN" dirty="0" err="1"/>
              <a:t>submit</a:t>
            </a:r>
            <a:r>
              <a:rPr lang="vi-VN" dirty="0"/>
              <a:t>, </a:t>
            </a:r>
            <a:r>
              <a:rPr lang="vi-VN" dirty="0" err="1"/>
              <a:t>input</a:t>
            </a:r>
            <a:r>
              <a:rPr lang="vi-VN" dirty="0"/>
              <a:t>...</a:t>
            </a:r>
          </a:p>
          <a:p>
            <a:r>
              <a:rPr lang="en-US" b="1" dirty="0" err="1"/>
              <a:t>Gắn</a:t>
            </a:r>
            <a:r>
              <a:rPr lang="en-US" b="1" dirty="0"/>
              <a:t> </a:t>
            </a:r>
            <a:r>
              <a:rPr lang="en-US" b="1" dirty="0" err="1"/>
              <a:t>sự</a:t>
            </a:r>
            <a:r>
              <a:rPr lang="en-US" b="1" dirty="0"/>
              <a:t> </a:t>
            </a:r>
            <a:r>
              <a:rPr lang="en-US" b="1" dirty="0" err="1"/>
              <a:t>kiện</a:t>
            </a:r>
            <a:r>
              <a:rPr lang="en-US" b="1" dirty="0"/>
              <a:t>:</a:t>
            </a:r>
          </a:p>
          <a:p>
            <a:pPr marL="457200" lvl="1" indent="0">
              <a:buNone/>
            </a:pPr>
            <a:r>
              <a:rPr lang="en-US" dirty="0"/>
              <a:t>const </a:t>
            </a:r>
            <a:r>
              <a:rPr lang="en-US" dirty="0" err="1"/>
              <a:t>btn</a:t>
            </a:r>
            <a:r>
              <a:rPr lang="en-US" dirty="0"/>
              <a:t> = </a:t>
            </a:r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btn</a:t>
            </a:r>
            <a:r>
              <a:rPr lang="en-US" dirty="0"/>
              <a:t>") as </a:t>
            </a:r>
            <a:r>
              <a:rPr lang="en-US" dirty="0" err="1"/>
              <a:t>HTMLButtonElement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 err="1"/>
              <a:t>btn.addEventListener</a:t>
            </a:r>
            <a:r>
              <a:rPr lang="en-US" dirty="0"/>
              <a:t>("click", () =&gt; {</a:t>
            </a:r>
          </a:p>
          <a:p>
            <a:pPr marL="457200" lvl="1" indent="0">
              <a:buNone/>
            </a:pPr>
            <a:r>
              <a:rPr lang="en-US" dirty="0"/>
              <a:t>console.log("Button clicked");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r>
              <a:rPr lang="en-US" b="1" dirty="0"/>
              <a:t>Event object</a:t>
            </a:r>
          </a:p>
          <a:p>
            <a:pPr marL="457200" lvl="1" indent="0">
              <a:buNone/>
            </a:pPr>
            <a:r>
              <a:rPr lang="en-US" dirty="0" err="1"/>
              <a:t>btn.addEventListener</a:t>
            </a:r>
            <a:r>
              <a:rPr lang="en-US" dirty="0"/>
              <a:t>("click", (event) =&gt; {</a:t>
            </a:r>
          </a:p>
          <a:p>
            <a:pPr marL="457200" lvl="1" indent="0">
              <a:buNone/>
            </a:pPr>
            <a:r>
              <a:rPr lang="en-US" dirty="0"/>
              <a:t>console.log(event);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168E66-0DF5-0D49-A8FD-A553E1C40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D281B-8E87-8041-DD2E-72D7B57A7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8B59C4-A816-6613-C1FB-B19A1EFA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XỬ LÝ EVENT VỚI TYPESCRIPT</a:t>
            </a:r>
          </a:p>
        </p:txBody>
      </p:sp>
    </p:spTree>
    <p:extLst>
      <p:ext uri="{BB962C8B-B14F-4D97-AF65-F5344CB8AC3E}">
        <p14:creationId xmlns:p14="http://schemas.microsoft.com/office/powerpoint/2010/main" val="15675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B6DE7-1E9E-3FBA-D53B-902E6ABC2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0A859C-1557-BEE3-726A-902FC985F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799498"/>
            <a:ext cx="12126686" cy="5459412"/>
          </a:xfrm>
        </p:spPr>
        <p:txBody>
          <a:bodyPr/>
          <a:lstStyle/>
          <a:p>
            <a:r>
              <a:rPr lang="en-US" b="1" dirty="0"/>
              <a:t>Lợi </a:t>
            </a:r>
            <a:r>
              <a:rPr lang="en-US" b="1" dirty="0" err="1"/>
              <a:t>ích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TypeScript </a:t>
            </a:r>
            <a:r>
              <a:rPr lang="en-US" b="1" dirty="0" err="1"/>
              <a:t>khi</a:t>
            </a:r>
            <a:r>
              <a:rPr lang="en-US" b="1" dirty="0"/>
              <a:t> </a:t>
            </a: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event</a:t>
            </a:r>
          </a:p>
          <a:p>
            <a:pPr lvl="1"/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event</a:t>
            </a:r>
          </a:p>
          <a:p>
            <a:pPr lvl="1"/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endParaRPr lang="en-US" dirty="0"/>
          </a:p>
          <a:p>
            <a:pPr lvl="1"/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39112-680B-68D9-9C95-ADD40F793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A1E7A-B547-7926-3FDD-7B3D27F97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026C99-5A12-7BFC-4FF9-6A371B0DF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XỬ LÝ EVENT VỚI TYPESCRIPT</a:t>
            </a:r>
          </a:p>
        </p:txBody>
      </p:sp>
    </p:spTree>
    <p:extLst>
      <p:ext uri="{BB962C8B-B14F-4D97-AF65-F5344CB8AC3E}">
        <p14:creationId xmlns:p14="http://schemas.microsoft.com/office/powerpoint/2010/main" val="1749991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1A7655-4D75-1F89-8BDC-7369AC3B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/>
              <a:t>Bài 1 – Hiển thị dữ liệu từ TypeScript ra HTML </a:t>
            </a:r>
            <a:r>
              <a:rPr lang="en-US"/>
              <a:t>(</a:t>
            </a:r>
            <a:r>
              <a:rPr lang="vi-VN"/>
              <a:t>Làm quen với việc dùng TypeScript để chèn nội dung vào HTML.</a:t>
            </a:r>
            <a:r>
              <a:rPr lang="en-US"/>
              <a:t>)</a:t>
            </a:r>
          </a:p>
          <a:p>
            <a:r>
              <a:rPr lang="en-US" b="1"/>
              <a:t>Bài 2  </a:t>
            </a:r>
            <a:r>
              <a:rPr lang="vi-VN" b="1"/>
              <a:t>Lấy dữ liệu từ input và hiển thị ra </a:t>
            </a:r>
            <a:r>
              <a:rPr lang="en-US"/>
              <a:t>(</a:t>
            </a:r>
            <a:r>
              <a:rPr lang="vi-VN"/>
              <a:t>DOM + Event + TypeScript typing</a:t>
            </a:r>
            <a:r>
              <a:rPr lang="en-US"/>
              <a:t>)</a:t>
            </a:r>
          </a:p>
          <a:p>
            <a:r>
              <a:rPr lang="vi-VN" b="1"/>
              <a:t>Bài 3 – Thêm/Xóa phần tử DOM </a:t>
            </a:r>
            <a:r>
              <a:rPr lang="en-US"/>
              <a:t>(</a:t>
            </a:r>
            <a:r>
              <a:rPr lang="vi-VN"/>
              <a:t>Thao tác nâng cao hơn với DOM (CRUD đơn giản).</a:t>
            </a:r>
            <a:endParaRPr lang="en-US"/>
          </a:p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4A036-3208-FC0D-BBFD-6B4151957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6F7EC-172D-A4F0-19CE-F3B032EC4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719EFE-689A-96C6-E866-EB6F350F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SỐ </a:t>
            </a:r>
          </a:p>
        </p:txBody>
      </p:sp>
    </p:spTree>
    <p:extLst>
      <p:ext uri="{BB962C8B-B14F-4D97-AF65-F5344CB8AC3E}">
        <p14:creationId xmlns:p14="http://schemas.microsoft.com/office/powerpoint/2010/main" val="192447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C27823-0D78-724E-B404-AA810B3D4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799499"/>
            <a:ext cx="12126685" cy="5459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dirty="0"/>
              <a:t>Xây dựng một ứng dụng </a:t>
            </a:r>
            <a:r>
              <a:rPr lang="vi-VN" dirty="0" err="1"/>
              <a:t>web</a:t>
            </a:r>
            <a:r>
              <a:rPr lang="vi-VN" dirty="0"/>
              <a:t> đơn giản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:</a:t>
            </a:r>
          </a:p>
          <a:p>
            <a:pPr lvl="1"/>
            <a:r>
              <a:rPr lang="vi-VN" b="1" dirty="0"/>
              <a:t>Hiểu và áp dụng lập trình hướng đối tượng trong </a:t>
            </a:r>
            <a:r>
              <a:rPr lang="vi-VN" b="1" dirty="0" err="1"/>
              <a:t>TypeScript</a:t>
            </a:r>
            <a:endParaRPr lang="en-US" b="1" dirty="0"/>
          </a:p>
          <a:p>
            <a:pPr lvl="1"/>
            <a:r>
              <a:rPr lang="vi-VN" b="1" dirty="0"/>
              <a:t>Viết được </a:t>
            </a:r>
            <a:r>
              <a:rPr lang="vi-VN" b="1" dirty="0" err="1"/>
              <a:t>class</a:t>
            </a:r>
            <a:r>
              <a:rPr lang="vi-VN" b="1" dirty="0"/>
              <a:t>, </a:t>
            </a:r>
            <a:r>
              <a:rPr lang="vi-VN" b="1" dirty="0" err="1"/>
              <a:t>constructor</a:t>
            </a:r>
            <a:r>
              <a:rPr lang="vi-VN" b="1" dirty="0"/>
              <a:t>, </a:t>
            </a:r>
            <a:r>
              <a:rPr lang="vi-VN" b="1" dirty="0" err="1"/>
              <a:t>method</a:t>
            </a:r>
            <a:endParaRPr lang="en-US" b="1" dirty="0"/>
          </a:p>
          <a:p>
            <a:pPr lvl="1"/>
            <a:r>
              <a:rPr lang="vi-VN" b="1" dirty="0"/>
              <a:t>Viết được </a:t>
            </a:r>
            <a:r>
              <a:rPr lang="vi-VN" b="1" dirty="0" err="1"/>
              <a:t>function</a:t>
            </a:r>
            <a:endParaRPr lang="en-US" b="1" dirty="0"/>
          </a:p>
          <a:p>
            <a:pPr lvl="1"/>
            <a:r>
              <a:rPr lang="vi-VN" b="1" dirty="0"/>
              <a:t>Hiển thị dữ liệu ra giao diện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A6F1B-B987-F849-17FB-46B440286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049AD-AD1F-1FDE-7ACF-EFE3C095C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A8524A-869B-64B4-20B8-7DD2A254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KIỂM TRA GIỮA HỌC PHẦN</a:t>
            </a:r>
          </a:p>
        </p:txBody>
      </p:sp>
    </p:spTree>
    <p:extLst>
      <p:ext uri="{BB962C8B-B14F-4D97-AF65-F5344CB8AC3E}">
        <p14:creationId xmlns:p14="http://schemas.microsoft.com/office/powerpoint/2010/main" val="392136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52E6C-C00E-B6E5-8430-C9886574C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8C250D-E28E-C153-9CD8-8CE10460E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895739"/>
            <a:ext cx="11727291" cy="5507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dirty="0"/>
              <a:t>Xây dựng một ứng dụng </a:t>
            </a:r>
            <a:r>
              <a:rPr lang="vi-VN" dirty="0" err="1"/>
              <a:t>web</a:t>
            </a:r>
            <a:r>
              <a:rPr lang="vi-VN" dirty="0"/>
              <a:t> đơn giản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</a:t>
            </a:r>
            <a:r>
              <a:rPr lang="vi-VN" dirty="0"/>
              <a:t> cho phép </a:t>
            </a:r>
            <a:r>
              <a:rPr lang="vi-VN" b="1" dirty="0"/>
              <a:t>nhập thông tin sản phẩm</a:t>
            </a:r>
            <a:r>
              <a:rPr lang="en-US" b="1" dirty="0"/>
              <a:t>:</a:t>
            </a:r>
          </a:p>
          <a:p>
            <a:r>
              <a:rPr lang="en-US" b="1" dirty="0" err="1"/>
              <a:t>Tạo</a:t>
            </a:r>
            <a:r>
              <a:rPr lang="en-US" b="1" dirty="0"/>
              <a:t> class </a:t>
            </a:r>
            <a:r>
              <a:rPr lang="en-US" b="1" dirty="0" err="1"/>
              <a:t>phù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endParaRPr lang="en-US" dirty="0"/>
          </a:p>
          <a:p>
            <a:r>
              <a:rPr lang="en-US" b="1" dirty="0" err="1"/>
              <a:t>Xây</a:t>
            </a:r>
            <a:r>
              <a:rPr lang="en-US" b="1" dirty="0"/>
              <a:t> </a:t>
            </a:r>
            <a:r>
              <a:rPr lang="en-US" b="1" dirty="0" err="1"/>
              <a:t>dựng</a:t>
            </a:r>
            <a:r>
              <a:rPr lang="en-US" b="1" dirty="0"/>
              <a:t> Grid </a:t>
            </a:r>
            <a:r>
              <a:rPr lang="en-US" b="1" dirty="0" err="1"/>
              <a:t>hiển</a:t>
            </a:r>
            <a:r>
              <a:rPr lang="en-US" b="1" dirty="0"/>
              <a:t> </a:t>
            </a:r>
            <a:r>
              <a:rPr lang="en-US" b="1" dirty="0" err="1"/>
              <a:t>thị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endParaRPr lang="en-US" dirty="0"/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fake API(https://dummyjson.com/products)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Show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grid,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19EBA-6149-5A7D-A69C-26EAAC80B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AB70C-F7DC-915C-6C0F-359654B95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C45C1B-7F5A-50A9-905D-1D81A4538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KIỂM TRA GIỮA HỌC PHẦN</a:t>
            </a:r>
          </a:p>
        </p:txBody>
      </p:sp>
    </p:spTree>
    <p:extLst>
      <p:ext uri="{BB962C8B-B14F-4D97-AF65-F5344CB8AC3E}">
        <p14:creationId xmlns:p14="http://schemas.microsoft.com/office/powerpoint/2010/main" val="29276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3AD92-5E87-E375-BEDD-20E8E001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0BA4-9A69-0F54-B570-F9F236F7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4377</TotalTime>
  <Words>905</Words>
  <Application>Microsoft Office PowerPoint</Application>
  <PresentationFormat>Widescreen</PresentationFormat>
  <Paragraphs>141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Courier New</vt:lpstr>
      <vt:lpstr>Google Sans Text</vt:lpstr>
      <vt:lpstr>Nunito</vt:lpstr>
      <vt:lpstr>Times New Roman</vt:lpstr>
      <vt:lpstr>Wingdings</vt:lpstr>
      <vt:lpstr>Blue - v3</vt:lpstr>
      <vt:lpstr>PowerPoint Presentation</vt:lpstr>
      <vt:lpstr>TYPESCRIPT TRONG MÔI TRƯỜNG TRÌNH DUYỆT</vt:lpstr>
      <vt:lpstr>HIỂN THỊ DỮ LIỆU TỪ TYPESCRIPT RA HTML</vt:lpstr>
      <vt:lpstr>TRUY CẬP DOM VỚI TYPESCRIPT</vt:lpstr>
      <vt:lpstr>CASTING DOM TRONG TYPE SCRIPT</vt:lpstr>
      <vt:lpstr>CASTING DOM TRONG TYPE SCRIPT</vt:lpstr>
      <vt:lpstr>XỬ LÝ EVENT VỚI TYPESCRIPT</vt:lpstr>
      <vt:lpstr>XỬ LÝ EVENT VỚI TYPESCRIPT</vt:lpstr>
      <vt:lpstr>XỬ LÝ EVENT VỚI TYPESCRIPT</vt:lpstr>
      <vt:lpstr>BÀI TẬP THỰC HÀNH SỐ </vt:lpstr>
      <vt:lpstr>KIỂM TRA GIỮA HỌC PHẦN</vt:lpstr>
      <vt:lpstr>KIỂM TRA GIỮA HỌC PHẦN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312</cp:revision>
  <dcterms:created xsi:type="dcterms:W3CDTF">2021-12-20T01:48:15Z</dcterms:created>
  <dcterms:modified xsi:type="dcterms:W3CDTF">2025-12-22T03:58:31Z</dcterms:modified>
</cp:coreProperties>
</file>